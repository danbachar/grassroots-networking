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months, one student, inside grassroots_networking. The deliverable is the detection algorithm, validated on a testbed we control; the prevalence measurement follows from the same campaign.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wildcard sockets on port 0, so the port changes on every rebind. The mapped port is only ever learned from ADDR_REFLECT, which needs a session that already works — no use for a first contact. The ten-second announce doubles as the de facto NAT keepalive.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Filtering is the second axis: which inbound traffic is admitted on an existing mapping, endpoint-independent through address-and-port-dependent. Mapping decides whether a port can be predicted at all; filtering decides whether the arriving packet is let through. Port preservation is why the current code sometimes works by accident, and mapping lifetime sets the keepalive interval.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Confirmed in source at grassroots_network.dart:3369. This is the clearest motivation for the project: the system cannot distinguish a public address from a reachable one, and every consequence follows from that.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Reflections from friends at distinct addresses give mapping behavior. Filtering follows from where the dial-backs come from, classified against our own send history: a friend we have a session with, the same friend on a fresh source port, and a friend we have never transmitted to. No friend is ever asked to dial anyone but us, so there is no amplification vector and no relaying for non-friends, which the signaling design forbids anyway.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Contamination is the one that would quietly invalidate a field campaign: it biases in the direction that looks like good news. We publish the label difference between contaminated and clean runs as a result in its own right. The nonce survives the honesty assumption for a different reason: the peers are honest but the network is not, and an off-path party could otherwise inject something resembling a dial-back. Disagreement between witnesses is diagnostic here, not malicious: it usually means the behavior genuinely depends on the source address or port.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correctness claim rests on the bench, where labels are known by construction. The reference server needs two public addresses and two ports per family. Default masquerade reads endpoint-independent and --random-fully reads address-and-port-dependent, so the middle class comes from per-destination SNAT via nftables maps.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SIM buys one carrier-APN-plan cell, not a whole carrier, so budget roughly double the naive count. A residual stratum — tethering, VPN and private relay, fixed wireless, enterprise — is carried unmeasured at its best available weight, which is what lets the weight table sum to the denominator.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milestone carries an exit criterion in the written brief: ninety-five percent agreement with construction labels on the bench, ninety percent for the witness algorithm, and three adversarial properties proven in tests before the campaign begins.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anchor is IPv6-only in its data plane, which excludes the IPv4-only CGNAT population the study targets; that is a fifth decision and it also affects the product. Three unrelated defects found while surveying the transport are listed in the brief.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0" y="1691640"/>
            <a:ext cx="1371600" cy="548640"/>
          </a:xfrm>
          <a:prstGeom prst="line">
            <a:avLst/>
          </a:prstGeom>
          <a:noFill/>
          <a:ln w="12700">
            <a:solidFill>
              <a:srgbClr val="3C4F5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flipH="1">
            <a:off x="9966960" y="2240280"/>
            <a:ext cx="685800" cy="822960"/>
          </a:xfrm>
          <a:prstGeom prst="line">
            <a:avLst/>
          </a:prstGeom>
          <a:noFill/>
          <a:ln w="12700">
            <a:solidFill>
              <a:srgbClr val="3C4F5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966960" y="3063240"/>
            <a:ext cx="1005840" cy="502920"/>
          </a:xfrm>
          <a:prstGeom prst="line">
            <a:avLst/>
          </a:prstGeom>
          <a:noFill/>
          <a:ln w="12700">
            <a:solidFill>
              <a:srgbClr val="3C4F5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01200" y="4251960"/>
            <a:ext cx="960120" cy="594360"/>
          </a:xfrm>
          <a:prstGeom prst="line">
            <a:avLst/>
          </a:prstGeom>
          <a:noFill/>
          <a:ln w="12700">
            <a:solidFill>
              <a:srgbClr val="3C4F5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006840" y="2651760"/>
            <a:ext cx="594360" cy="1600200"/>
          </a:xfrm>
          <a:prstGeom prst="line">
            <a:avLst/>
          </a:prstGeom>
          <a:noFill/>
          <a:ln w="12700">
            <a:solidFill>
              <a:srgbClr val="3C4F5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326880" y="1554480"/>
            <a:ext cx="274320" cy="274320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515600" y="2103120"/>
            <a:ext cx="274320" cy="274320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829800" y="2926080"/>
            <a:ext cx="274320" cy="274320"/>
          </a:xfrm>
          <a:prstGeom prst="ellipse">
            <a:avLst/>
          </a:prstGeom>
          <a:solidFill>
            <a:srgbClr val="C25E28"/>
          </a:solidFill>
          <a:ln w="12700">
            <a:solidFill>
              <a:srgbClr val="C25E2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972800" y="3429000"/>
            <a:ext cx="274320" cy="274320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464040" y="4114800"/>
            <a:ext cx="274320" cy="274320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561320" y="4709160"/>
            <a:ext cx="274320" cy="274320"/>
          </a:xfrm>
          <a:prstGeom prst="ellipse">
            <a:avLst/>
          </a:prstGeom>
          <a:solidFill>
            <a:srgbClr val="C25E28"/>
          </a:solidFill>
          <a:ln w="12700">
            <a:solidFill>
              <a:srgbClr val="C25E2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869680" y="2514600"/>
            <a:ext cx="274320" cy="274320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210312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GRASSROOTS NETWORKING  ·  STUDENT PROJECT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85800" y="2560320"/>
            <a:ext cx="7680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 detection and</a:t>
            </a:r>
            <a:endParaRPr lang="en-US" sz="4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hole punching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685800" y="43434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7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Determining NAT behavior from the social graph, without designated servers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85800" y="585216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 Bachar</a:t>
            </a:r>
            <a:pPr indent="0" marL="0">
              <a:buNone/>
            </a:pPr>
            <a:r>
              <a:rPr lang="en-US" sz="1300" dirty="0">
                <a:solidFill>
                  <a:srgbClr val="6E7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dan.bachar@campus.technion.ac.il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TODAY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804672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current IP path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85800" y="2148840"/>
            <a:ext cx="1965960" cy="914400"/>
          </a:xfrm>
          <a:prstGeom prst="roundRect">
            <a:avLst>
              <a:gd name="adj" fmla="val 6000"/>
            </a:avLst>
          </a:prstGeom>
          <a:solidFill>
            <a:srgbClr val="EEF3F4"/>
          </a:solidFill>
          <a:ln w="6350">
            <a:solidFill>
              <a:srgbClr val="EEF3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95528" y="2148840"/>
            <a:ext cx="17465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 address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2651760" y="2148840"/>
            <a:ext cx="2560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E7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2907792" y="2148840"/>
            <a:ext cx="1965960" cy="914400"/>
          </a:xfrm>
          <a:prstGeom prst="roundRect">
            <a:avLst>
              <a:gd name="adj" fmla="val 6000"/>
            </a:avLst>
          </a:prstGeom>
          <a:solidFill>
            <a:srgbClr val="EEF3F4"/>
          </a:solidFill>
          <a:ln w="6350">
            <a:solidFill>
              <a:srgbClr val="EEF3F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17520" y="2148840"/>
            <a:ext cx="17465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Announce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873752" y="2148840"/>
            <a:ext cx="2560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E7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129784" y="2148840"/>
            <a:ext cx="1965960" cy="914400"/>
          </a:xfrm>
          <a:prstGeom prst="roundRect">
            <a:avLst>
              <a:gd name="adj" fmla="val 6000"/>
            </a:avLst>
          </a:prstGeom>
          <a:solidFill>
            <a:srgbClr val="EEF3F4"/>
          </a:solidFill>
          <a:ln w="6350">
            <a:solidFill>
              <a:srgbClr val="EEF3F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239512" y="2148840"/>
            <a:ext cx="17465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Pick one candidate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095744" y="2148840"/>
            <a:ext cx="2560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E7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351776" y="2148840"/>
            <a:ext cx="1965960" cy="914400"/>
          </a:xfrm>
          <a:prstGeom prst="roundRect">
            <a:avLst>
              <a:gd name="adj" fmla="val 6000"/>
            </a:avLst>
          </a:prstGeom>
          <a:solidFill>
            <a:srgbClr val="EEF3F4"/>
          </a:solidFill>
          <a:ln w="6350">
            <a:solidFill>
              <a:srgbClr val="EEF3F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61504" y="2148840"/>
            <a:ext cx="17465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Punch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9317736" y="2148840"/>
            <a:ext cx="2560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E7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9573768" y="2148840"/>
            <a:ext cx="1965960" cy="914400"/>
          </a:xfrm>
          <a:prstGeom prst="roundRect">
            <a:avLst>
              <a:gd name="adj" fmla="val 6000"/>
            </a:avLst>
          </a:prstGeom>
          <a:solidFill>
            <a:srgbClr val="EEF3F4"/>
          </a:solidFill>
          <a:ln w="6350">
            <a:solidFill>
              <a:srgbClr val="EEF3F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683496" y="2148840"/>
            <a:ext cx="17465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Dial UDX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85800" y="4050792"/>
            <a:ext cx="118872" cy="118872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05840" y="3931920"/>
            <a:ext cx="10469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E4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advertise the discovered public IP with our own local port.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685800" y="4489704"/>
            <a:ext cx="118872" cy="118872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05840" y="4370832"/>
            <a:ext cx="10469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E4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candidate, one attempt, ten-second timeout, no fallback.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685800" y="4928616"/>
            <a:ext cx="118872" cy="118872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05840" y="4809744"/>
            <a:ext cx="10469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E4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timestamps and no failure reason: neither outcome teaches us anything.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MUST DISTINGUISH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804672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 behavior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85800" y="19659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6E7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BEHAVIOR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343400" y="19659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6E7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95160" y="196596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6E7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 ON HOLE PUNCHING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2276856"/>
            <a:ext cx="11064240" cy="768096"/>
          </a:xfrm>
          <a:prstGeom prst="roundRect">
            <a:avLst>
              <a:gd name="adj" fmla="val 7143"/>
            </a:avLst>
          </a:prstGeom>
          <a:solidFill>
            <a:srgbClr val="F6F9F9"/>
          </a:solidFill>
          <a:ln w="6350">
            <a:solidFill>
              <a:srgbClr val="F6F9F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2331720"/>
            <a:ext cx="3474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Endpoint-independent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343400" y="2331720"/>
            <a:ext cx="2468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home routers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995160" y="2331720"/>
            <a:ext cx="4480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E4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external port for every destination. Punching works.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85800" y="3172968"/>
            <a:ext cx="3474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Address-dependent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343400" y="3172968"/>
            <a:ext cx="2468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enterprise NATs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995160" y="3172968"/>
            <a:ext cx="4480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E4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port per destination address. Both sides must punch.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548640" y="3959352"/>
            <a:ext cx="11064240" cy="768096"/>
          </a:xfrm>
          <a:prstGeom prst="roundRect">
            <a:avLst>
              <a:gd name="adj" fmla="val 7143"/>
            </a:avLst>
          </a:prstGeom>
          <a:solidFill>
            <a:srgbClr val="F6F9F9"/>
          </a:solidFill>
          <a:ln w="6350">
            <a:solidFill>
              <a:srgbClr val="F6F9F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4014216"/>
            <a:ext cx="3474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25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Address-and-port-dependent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343400" y="4014216"/>
            <a:ext cx="2468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mobile carriers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995160" y="4014216"/>
            <a:ext cx="4480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E4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port per endpoint. Punching fails without prediction.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685800" y="4855464"/>
            <a:ext cx="3474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25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Carrier-grade NAT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343400" y="4855464"/>
            <a:ext cx="2468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prepaid mobile data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995160" y="4855464"/>
            <a:ext cx="4480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E4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Stacked above all of it. No unsolicited inbound at all.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685800" y="580644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0A5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measure the tuple — mapping, filtering, port preservation, lifetime — never a single type.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62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BOOLEAN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804672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Self-classification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85800" y="2103120"/>
            <a:ext cx="5120640" cy="1371600"/>
          </a:xfrm>
          <a:prstGeom prst="roundRect">
            <a:avLst>
              <a:gd name="adj" fmla="val 4000"/>
            </a:avLst>
          </a:prstGeom>
          <a:solidFill>
            <a:srgbClr val="25323F"/>
          </a:solidFill>
          <a:ln w="6350">
            <a:solidFill>
              <a:srgbClr val="25323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51560" y="233172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isWellConnected = true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051560" y="278892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3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routability test over the advertised string.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172200" y="2103120"/>
            <a:ext cx="5303520" cy="1371600"/>
          </a:xfrm>
          <a:prstGeom prst="roundRect">
            <a:avLst>
              <a:gd name="adj" fmla="val 4000"/>
            </a:avLst>
          </a:prstGeom>
          <a:solidFill>
            <a:srgbClr val="3A2A22"/>
          </a:solidFill>
          <a:ln w="6350">
            <a:solidFill>
              <a:srgbClr val="3A2A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37960" y="2331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9A87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CGNAT handset passes it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537960" y="2743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8C3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never sees its own inner address.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85800" y="4233672"/>
            <a:ext cx="118872" cy="118872"/>
          </a:xfrm>
          <a:prstGeom prst="ellipse">
            <a:avLst/>
          </a:prstGeom>
          <a:solidFill>
            <a:srgbClr val="C25E28"/>
          </a:solidFill>
          <a:ln w="12700">
            <a:solidFill>
              <a:srgbClr val="C25E2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5840" y="4114800"/>
            <a:ext cx="10469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B7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punch is then suppressed for the peers that need it.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685800" y="4672584"/>
            <a:ext cx="118872" cy="118872"/>
          </a:xfrm>
          <a:prstGeom prst="ellipse">
            <a:avLst/>
          </a:prstGeom>
          <a:solidFill>
            <a:srgbClr val="C25E28"/>
          </a:solidFill>
          <a:ln w="12700">
            <a:solidFill>
              <a:srgbClr val="C25E2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05840" y="4553712"/>
            <a:ext cx="10469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B7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device reflects addresses and mediates for its friends.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85800" y="5111496"/>
            <a:ext cx="118872" cy="118872"/>
          </a:xfrm>
          <a:prstGeom prst="ellipse">
            <a:avLst/>
          </a:prstGeom>
          <a:solidFill>
            <a:srgbClr val="C25E28"/>
          </a:solidFill>
          <a:ln w="12700">
            <a:solidFill>
              <a:srgbClr val="C25E2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05840" y="4992624"/>
            <a:ext cx="10469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B7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a public address is not being reachable at it.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IDEA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804672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Witness-based detection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1051560" y="2880360"/>
            <a:ext cx="2286000" cy="1005840"/>
          </a:xfrm>
          <a:prstGeom prst="roundRect">
            <a:avLst>
              <a:gd name="adj" fmla="val 5455"/>
            </a:avLst>
          </a:prstGeom>
          <a:solidFill>
            <a:srgbClr val="EEF3F4"/>
          </a:solidFill>
          <a:ln w="17780">
            <a:solidFill>
              <a:srgbClr val="0E7C8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51560" y="3063240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Probe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051560" y="341071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E7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device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275320" y="1965960"/>
            <a:ext cx="3017520" cy="868680"/>
          </a:xfrm>
          <a:prstGeom prst="roundRect">
            <a:avLst>
              <a:gd name="adj" fmla="val 6316"/>
            </a:avLst>
          </a:prstGeom>
          <a:solidFill>
            <a:srgbClr val="EEF3F4"/>
          </a:solidFill>
          <a:ln w="16510">
            <a:solidFill>
              <a:srgbClr val="0E7C8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412480" y="2093976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Friend A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412480" y="240487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open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 flipV="1">
            <a:off x="3337560" y="2400300"/>
            <a:ext cx="4937760" cy="982980"/>
          </a:xfrm>
          <a:prstGeom prst="line">
            <a:avLst/>
          </a:prstGeom>
          <a:noFill/>
          <a:ln w="17780">
            <a:solidFill>
              <a:srgbClr val="0E7C86"/>
            </a:solidFill>
            <a:prstDash val="solid"/>
            <a:headEnd type="triangle"/>
          </a:ln>
        </p:spPr>
      </p:sp>
      <p:sp>
        <p:nvSpPr>
          <p:cNvPr id="11" name="Shape 9"/>
          <p:cNvSpPr/>
          <p:nvPr/>
        </p:nvSpPr>
        <p:spPr>
          <a:xfrm>
            <a:off x="8275320" y="3063240"/>
            <a:ext cx="3017520" cy="868680"/>
          </a:xfrm>
          <a:prstGeom prst="roundRect">
            <a:avLst>
              <a:gd name="adj" fmla="val 6316"/>
            </a:avLst>
          </a:prstGeom>
          <a:solidFill>
            <a:srgbClr val="EEF3F4"/>
          </a:solidFill>
          <a:ln w="1651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0" y="3191256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Friend B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8412480" y="35021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source port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337560" y="3383280"/>
            <a:ext cx="4937760" cy="114300"/>
          </a:xfrm>
          <a:prstGeom prst="line">
            <a:avLst/>
          </a:prstGeom>
          <a:noFill/>
          <a:ln w="17780">
            <a:solidFill>
              <a:srgbClr val="0E7C86"/>
            </a:solidFill>
            <a:prstDash val="solid"/>
            <a:headEnd type="triangle"/>
          </a:ln>
        </p:spPr>
      </p:sp>
      <p:sp>
        <p:nvSpPr>
          <p:cNvPr id="15" name="Shape 13"/>
          <p:cNvSpPr/>
          <p:nvPr/>
        </p:nvSpPr>
        <p:spPr>
          <a:xfrm>
            <a:off x="8275320" y="4160520"/>
            <a:ext cx="3017520" cy="868680"/>
          </a:xfrm>
          <a:prstGeom prst="roundRect">
            <a:avLst>
              <a:gd name="adj" fmla="val 6316"/>
            </a:avLst>
          </a:prstGeom>
          <a:solidFill>
            <a:srgbClr val="EEF3F4"/>
          </a:solidFill>
          <a:ln w="16510">
            <a:solidFill>
              <a:srgbClr val="C25E2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12480" y="4288536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Friend C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412480" y="45994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25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contacted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3337560" y="3383280"/>
            <a:ext cx="4937760" cy="1211580"/>
          </a:xfrm>
          <a:prstGeom prst="line">
            <a:avLst/>
          </a:prstGeom>
          <a:noFill/>
          <a:ln w="17780">
            <a:solidFill>
              <a:srgbClr val="C25E28"/>
            </a:solidFill>
            <a:prstDash val="solid"/>
            <a:headEnd type="triangle"/>
          </a:ln>
        </p:spPr>
      </p:sp>
      <p:sp>
        <p:nvSpPr>
          <p:cNvPr id="19" name="Text 17"/>
          <p:cNvSpPr/>
          <p:nvPr/>
        </p:nvSpPr>
        <p:spPr>
          <a:xfrm>
            <a:off x="1051560" y="40690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E7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dial-back carries the nonce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85800" y="5376672"/>
            <a:ext cx="118872" cy="118872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05840" y="5257800"/>
            <a:ext cx="10469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3E4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friends. The probe asks each of them directly.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685800" y="5779008"/>
            <a:ext cx="118872" cy="118872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05840" y="5660136"/>
            <a:ext cx="10469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3E4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dial back from different addresses and ports.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685800" y="6181344"/>
            <a:ext cx="118872" cy="118872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05840" y="6062472"/>
            <a:ext cx="10469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3E4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nonce in each reply makes a fabricated dial-back impossible.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HONEST PEERS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804672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things that mislead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85800" y="2103120"/>
            <a:ext cx="5212080" cy="2651760"/>
          </a:xfrm>
          <a:prstGeom prst="roundRect">
            <a:avLst>
              <a:gd name="adj" fmla="val 2069"/>
            </a:avLst>
          </a:prstGeom>
          <a:solidFill>
            <a:srgbClr val="EEF3F4"/>
          </a:solidFill>
          <a:ln w="6350">
            <a:solidFill>
              <a:srgbClr val="EEF3F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51560" y="2377440"/>
            <a:ext cx="365760" cy="365760"/>
          </a:xfrm>
          <a:prstGeom prst="ellipse">
            <a:avLst/>
          </a:prstGeom>
          <a:solidFill>
            <a:srgbClr val="C25E28"/>
          </a:solidFill>
          <a:ln w="12700">
            <a:solidFill>
              <a:srgbClr val="C25E2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51560" y="28803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Contamination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1051560" y="3456432"/>
            <a:ext cx="118872" cy="118872"/>
          </a:xfrm>
          <a:prstGeom prst="ellipse">
            <a:avLst/>
          </a:prstGeom>
          <a:solidFill>
            <a:srgbClr val="C25E28"/>
          </a:solidFill>
          <a:ln w="12700">
            <a:solidFill>
              <a:srgbClr val="C25E2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0" y="3337560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E4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Witnesses are the peers we already transmit to.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1051560" y="3840480"/>
            <a:ext cx="118872" cy="118872"/>
          </a:xfrm>
          <a:prstGeom prst="ellipse">
            <a:avLst/>
          </a:prstGeom>
          <a:solidFill>
            <a:srgbClr val="C25E28"/>
          </a:solidFill>
          <a:ln w="12700">
            <a:solidFill>
              <a:srgbClr val="C25E2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371600" y="3721608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E4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measures our own mapping, not the NAT rule.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1051560" y="4224528"/>
            <a:ext cx="118872" cy="118872"/>
          </a:xfrm>
          <a:prstGeom prst="ellipse">
            <a:avLst/>
          </a:prstGeom>
          <a:solidFill>
            <a:srgbClr val="C25E28"/>
          </a:solidFill>
          <a:ln w="12700">
            <a:solidFill>
              <a:srgbClr val="C25E2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371600" y="4105656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E4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Guard: a per-test send history discards contacted sources.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263640" y="2103120"/>
            <a:ext cx="5212080" cy="2651760"/>
          </a:xfrm>
          <a:prstGeom prst="roundRect">
            <a:avLst>
              <a:gd name="adj" fmla="val 2069"/>
            </a:avLst>
          </a:prstGeom>
          <a:solidFill>
            <a:srgbClr val="EEF3F4"/>
          </a:solidFill>
          <a:ln w="6350">
            <a:solidFill>
              <a:srgbClr val="EEF3F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629400" y="2377440"/>
            <a:ext cx="365760" cy="365760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629400" y="28803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Absent dial-backs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6629400" y="3456432"/>
            <a:ext cx="118872" cy="118872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949440" y="3337560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E4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arriving dial-back is definitive: the path exists.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6629400" y="3840480"/>
            <a:ext cx="118872" cy="118872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949440" y="3721608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E4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absent one is filtering, or simply loss.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6629400" y="4224528"/>
            <a:ext cx="118872" cy="118872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949440" y="4105656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E4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verdicts need retries and k witnesses.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685800" y="512064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0A5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assume peers are honest. Relaxing that assumption is follow-on work.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CLAIM IS ESTABLISHED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804672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Validation in two tiers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85800" y="2286000"/>
            <a:ext cx="10789920" cy="960120"/>
          </a:xfrm>
          <a:prstGeom prst="roundRect">
            <a:avLst>
              <a:gd name="adj" fmla="val 5714"/>
            </a:avLst>
          </a:prstGeom>
          <a:solidFill>
            <a:srgbClr val="EEF3F4"/>
          </a:solidFill>
          <a:ln w="6350">
            <a:solidFill>
              <a:srgbClr val="EEF3F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0120" y="2514600"/>
            <a:ext cx="1737360" cy="502920"/>
          </a:xfrm>
          <a:prstGeom prst="roundRect">
            <a:avLst>
              <a:gd name="adj" fmla="val 9091"/>
            </a:avLst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251460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Bench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2971800" y="2286000"/>
            <a:ext cx="5852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E4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Eight-plus configurations, labeled by construction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915400" y="2286000"/>
            <a:ext cx="2377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i="1" dirty="0">
                <a:solidFill>
                  <a:srgbClr val="6E7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is legitimate here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85800" y="3429000"/>
            <a:ext cx="10789920" cy="960120"/>
          </a:xfrm>
          <a:prstGeom prst="roundRect">
            <a:avLst>
              <a:gd name="adj" fmla="val 5714"/>
            </a:avLst>
          </a:prstGeom>
          <a:solidFill>
            <a:srgbClr val="EEF3F4"/>
          </a:solidFill>
          <a:ln w="6350">
            <a:solidFill>
              <a:srgbClr val="EEF3F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0120" y="3657600"/>
            <a:ext cx="1737360" cy="502920"/>
          </a:xfrm>
          <a:prstGeom prst="roundRect">
            <a:avLst>
              <a:gd name="adj" fmla="val 9091"/>
            </a:avLst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365760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Sweep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2971800" y="3429000"/>
            <a:ext cx="5852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E4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Witness count k against byzantine fraction f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915400" y="3429000"/>
            <a:ext cx="2377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i="1" dirty="0">
                <a:solidFill>
                  <a:srgbClr val="6E7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operate every witness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85800" y="4572000"/>
            <a:ext cx="10789920" cy="960120"/>
          </a:xfrm>
          <a:prstGeom prst="roundRect">
            <a:avLst>
              <a:gd name="adj" fmla="val 5714"/>
            </a:avLst>
          </a:prstGeom>
          <a:solidFill>
            <a:srgbClr val="EEF3F4"/>
          </a:solidFill>
          <a:ln w="6350">
            <a:solidFill>
              <a:srgbClr val="EEF3F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0120" y="4800600"/>
            <a:ext cx="1737360" cy="502920"/>
          </a:xfrm>
          <a:prstGeom prst="roundRect">
            <a:avLst>
              <a:gd name="adj" fmla="val 9091"/>
            </a:avLst>
          </a:prstGeom>
          <a:solidFill>
            <a:srgbClr val="C25E28"/>
          </a:solidFill>
          <a:ln w="12700">
            <a:solidFill>
              <a:srgbClr val="C25E2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0120" y="480060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Campaign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2971800" y="4572000"/>
            <a:ext cx="5852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E4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own handsets and SIMs across every stratum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915400" y="4572000"/>
            <a:ext cx="2377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i="1" dirty="0">
                <a:solidFill>
                  <a:srgbClr val="6E7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agreement, never accuracy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85800" y="562356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0A5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Address-dependent mapping is built deliberately; no netfilter flag produces it.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85800" y="598932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0A5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autoNAT reports reachability only, so classification is validated against the RFC 5780 server.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PREVALENCE COSTS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804672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testbed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85800" y="2404872"/>
            <a:ext cx="118872" cy="118872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2286000"/>
            <a:ext cx="10469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E4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 behavior is a property of the path, not the subscriber.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85800" y="2971800"/>
            <a:ext cx="118872" cy="118872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2852928"/>
            <a:ext cx="10469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E4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stratum is one carrier, APN and PDN type; or one ISP and CGNAT status.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85800" y="3538728"/>
            <a:ext cx="118872" cy="118872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5840" y="3419856"/>
            <a:ext cx="10469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E4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SIMs and two handset stacks per carrier, before assuming homogeneity.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685800" y="4105656"/>
            <a:ext cx="118872" cy="118872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5840" y="3986784"/>
            <a:ext cx="10469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E4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Weights from published subscriber counts, never announced address space.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685800" y="4892040"/>
            <a:ext cx="10789920" cy="914400"/>
          </a:xfrm>
          <a:prstGeom prst="roundRect">
            <a:avLst>
              <a:gd name="adj" fmla="val 6000"/>
            </a:avLst>
          </a:prstGeom>
          <a:solidFill>
            <a:srgbClr val="E7F1F1"/>
          </a:solidFill>
          <a:ln w="6350">
            <a:solidFill>
              <a:srgbClr val="E7F1F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51560" y="50749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0A5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census of strata, not a sample: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3E4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no probabilistic sampling within a stratum, so we report sensitivity ranges and never confidence intervals.</a:t>
            </a:r>
            <a:endParaRPr lang="en-US" sz="14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804672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six-month plan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85800" y="2377440"/>
            <a:ext cx="2286000" cy="914400"/>
          </a:xfrm>
          <a:prstGeom prst="roundRect">
            <a:avLst>
              <a:gd name="adj" fmla="val 6000"/>
            </a:avLst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237744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Months 1–2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337560" y="23774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3E4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Measurand and adversary model; reference server; labeled bench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85800" y="3566160"/>
            <a:ext cx="2286000" cy="914400"/>
          </a:xfrm>
          <a:prstGeom prst="roundRect">
            <a:avLst>
              <a:gd name="adj" fmla="val 6000"/>
            </a:avLst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356616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Months 3–4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337560" y="356616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3E4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algorithm; autoNAT baseline; the k against f sweep</a:t>
            </a:r>
            <a:endParaRPr lang="en-US" sz="1650" dirty="0"/>
          </a:p>
        </p:txBody>
      </p:sp>
      <p:sp>
        <p:nvSpPr>
          <p:cNvPr id="10" name="Shape 8"/>
          <p:cNvSpPr/>
          <p:nvPr/>
        </p:nvSpPr>
        <p:spPr>
          <a:xfrm>
            <a:off x="685800" y="4754880"/>
            <a:ext cx="2286000" cy="914400"/>
          </a:xfrm>
          <a:prstGeom prst="roundRect">
            <a:avLst>
              <a:gd name="adj" fmla="val 6000"/>
            </a:avLst>
          </a:prstGeom>
          <a:solidFill>
            <a:srgbClr val="C25E28"/>
          </a:solidFill>
          <a:ln w="12700">
            <a:solidFill>
              <a:srgbClr val="C25E2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475488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Months 5–6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337560" y="475488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3E4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Strata campaign; prevalence; decision rule; submission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685800" y="580644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25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one: two public addresses, firewall rules, SIMs and handsets. They gate month two.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62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WORK BEGINS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804672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 decisions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85800" y="228600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Primary claim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685800" y="2724912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7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algorithm or the measurement, not both.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263640" y="228600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autoNAT baseline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6263640" y="2724912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7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Android-only sidecar, or our own reimplementation.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85800" y="374904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 server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685800" y="4187952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7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provisions it, and from which address block.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263640" y="374904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Testbed budget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6263640" y="4187952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7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SIM covers one carrier, APN and plan.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85800" y="557784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7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written brief carries the detail: measurand, threat model, milestones, exit criteria.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NAT detection and hole punching</dc:title>
  <dc:subject>PptxGenJS Presentation</dc:subject>
  <dc:creator>Dan Bachar</dc:creator>
  <cp:lastModifiedBy>Dan Bachar</cp:lastModifiedBy>
  <cp:revision>1</cp:revision>
  <dcterms:created xsi:type="dcterms:W3CDTF">2026-08-13T12:21:06Z</dcterms:created>
  <dcterms:modified xsi:type="dcterms:W3CDTF">2026-08-13T12:21:06Z</dcterms:modified>
</cp:coreProperties>
</file>