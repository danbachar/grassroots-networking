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691640"/>
            <a:ext cx="1371600" cy="548640"/>
          </a:xfrm>
          <a:prstGeom prst="line">
            <a:avLst/>
          </a:prstGeom>
          <a:noFill/>
          <a:ln w="12700">
            <a:solidFill>
              <a:srgbClr val="3C4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966960" y="2240280"/>
            <a:ext cx="685800" cy="822960"/>
          </a:xfrm>
          <a:prstGeom prst="line">
            <a:avLst/>
          </a:prstGeom>
          <a:noFill/>
          <a:ln w="12700">
            <a:solidFill>
              <a:srgbClr val="3C4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3063240"/>
            <a:ext cx="1005840" cy="502920"/>
          </a:xfrm>
          <a:prstGeom prst="line">
            <a:avLst/>
          </a:prstGeom>
          <a:noFill/>
          <a:ln w="12700">
            <a:solidFill>
              <a:srgbClr val="3C4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4251960"/>
            <a:ext cx="960120" cy="594360"/>
          </a:xfrm>
          <a:prstGeom prst="line">
            <a:avLst/>
          </a:prstGeom>
          <a:noFill/>
          <a:ln w="12700">
            <a:solidFill>
              <a:srgbClr val="3C4F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06840" y="2651760"/>
            <a:ext cx="594360" cy="1600200"/>
          </a:xfrm>
          <a:prstGeom prst="line">
            <a:avLst/>
          </a:prstGeom>
          <a:noFill/>
          <a:ln w="12700">
            <a:solidFill>
              <a:srgbClr val="3C4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0" y="1554480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2103120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29800" y="2926080"/>
            <a:ext cx="274320" cy="274320"/>
          </a:xfrm>
          <a:prstGeom prst="ellipse">
            <a:avLst/>
          </a:prstGeom>
          <a:solidFill>
            <a:srgbClr val="C25E28"/>
          </a:solidFill>
          <a:ln w="12700">
            <a:solidFill>
              <a:srgbClr val="C25E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0" y="3429000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64040" y="4114800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61320" y="4709160"/>
            <a:ext cx="274320" cy="274320"/>
          </a:xfrm>
          <a:prstGeom prst="ellipse">
            <a:avLst/>
          </a:prstGeom>
          <a:solidFill>
            <a:srgbClr val="C25E28"/>
          </a:solidFill>
          <a:ln w="12700">
            <a:solidFill>
              <a:srgbClr val="C25E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2514600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03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 NETWORKING  ·  STUDENT PROJECT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5603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 Topology and Hole-Punching Survey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85800" y="4343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 approach to classifying NATs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5852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Bachar</a:t>
            </a:r>
            <a:pPr indent="0" marL="0">
              <a:buNone/>
            </a:pPr>
            <a:r>
              <a:rPr lang="en-US" sz="1300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dan.bachar@campus.technion.ac.il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FACILITATE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Well-connected devices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423160" cy="1005840"/>
          </a:xfrm>
          <a:prstGeom prst="roundRect">
            <a:avLst>
              <a:gd name="adj" fmla="val 5455"/>
            </a:avLst>
          </a:prstGeom>
          <a:solidFill>
            <a:srgbClr val="EEF3F4"/>
          </a:solidFill>
          <a:ln w="6350">
            <a:solidFill>
              <a:srgbClr val="EEF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14884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address with a well-connected friend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214884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0" y="2148840"/>
            <a:ext cx="2423160" cy="1005840"/>
          </a:xfrm>
          <a:prstGeom prst="roundRect">
            <a:avLst>
              <a:gd name="adj" fmla="val 5455"/>
            </a:avLst>
          </a:prstGeom>
          <a:solidFill>
            <a:srgbClr val="EEF3F4"/>
          </a:solidFill>
          <a:ln w="6350">
            <a:solidFill>
              <a:srgbClr val="EEF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4448" y="214884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it for the other peer’s address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97880" y="214884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2423160" cy="1005840"/>
          </a:xfrm>
          <a:prstGeom prst="roundRect">
            <a:avLst>
              <a:gd name="adj" fmla="val 5455"/>
            </a:avLst>
          </a:prstGeom>
          <a:solidFill>
            <a:srgbClr val="EEF3F4"/>
          </a:solidFill>
          <a:ln w="6350">
            <a:solidFill>
              <a:srgbClr val="EEF3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214884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tells both sides to punch at once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0" y="214884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52560" y="2148840"/>
            <a:ext cx="2423160" cy="1005840"/>
          </a:xfrm>
          <a:prstGeom prst="roundRect">
            <a:avLst>
              <a:gd name="adj" fmla="val 5455"/>
            </a:avLst>
          </a:prstGeom>
          <a:solidFill>
            <a:srgbClr val="EEF3F4"/>
          </a:solidFill>
          <a:ln w="6350">
            <a:solidFill>
              <a:srgbClr val="EEF3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62288" y="214884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peers talk directly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4050792"/>
            <a:ext cx="118872" cy="1188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931920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Well-connected: has a public address, so anyone can reach it.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85800" y="4489704"/>
            <a:ext cx="118872" cy="1188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370832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facilitates between mutual friends by passing on addresses, as well as coordinating punching.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85800" y="4928616"/>
            <a:ext cx="118872" cy="1188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809744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simple private address regex decides who qualifies: we replace it with an algorithmic test.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MUST DISTINGUISH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 behavior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0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1965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HOLE PUNCHING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26680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4692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6F9F9"/>
          </a:solidFill>
          <a:ln w="6350">
            <a:solidFill>
              <a:srgbClr val="F6F9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3172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Endpoint-independent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formerly: cone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33172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routers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33172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external port for every destination. Punching works.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2331720"/>
            <a:ext cx="1783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EndpointIndependent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46920" y="233172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if filtering is open, else Private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06324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Address-dependent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formerly: no name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306324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NATs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06324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port per destination address. Both sides must punch.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26680" y="3063240"/>
            <a:ext cx="1783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EndpointDependent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46920" y="306324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6F9F9"/>
          </a:solidFill>
          <a:ln w="6350">
            <a:solidFill>
              <a:srgbClr val="F6F9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9476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5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Address-and-port-dependent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formerly: symmetric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379476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carriers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79476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port per endpoint. Punching fails without prediction.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26680" y="3794760"/>
            <a:ext cx="1783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EndpointDependent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46920" y="379476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452628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5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Carrier-grade NAT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0" y="452628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carriers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452628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top of the others. Nothing unsolicited gets in.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26680" y="4526280"/>
            <a:ext cx="1783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name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46920" y="452628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53492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four properties: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Mapping: which external port the NAT assigns.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Filtering: which senders it lets in.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Port preservation: whether it keeps our own port.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Lifetime: how long it keeps an idle mapping.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AutoNAT also reports reachability (Public, Private or Unknown)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ADDRESS RANGE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Self-classification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25323F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10.* | 192.168.* | ...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788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Well-connected if the advertised address is in none of the private or reserved ranges.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210312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3A2A22"/>
          </a:solidFill>
          <a:ln w="6350">
            <a:solidFill>
              <a:srgbClr val="3A2A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phone behind carrier NAT passes 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advertises the carrier’s public address, so it looks reachable.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233672"/>
            <a:ext cx="118872" cy="118872"/>
          </a:xfrm>
          <a:prstGeom prst="ellipse">
            <a:avLst/>
          </a:prstGeom>
          <a:solidFill>
            <a:srgbClr val="C25E28"/>
          </a:solidFill>
          <a:ln w="12700">
            <a:solidFill>
              <a:srgbClr val="C25E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14800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punching is skipped despite CGNAT not allowing unsolicited incoming requests.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4672584"/>
            <a:ext cx="118872" cy="118872"/>
          </a:xfrm>
          <a:prstGeom prst="ellipse">
            <a:avLst/>
          </a:prstGeom>
          <a:solidFill>
            <a:srgbClr val="C25E28"/>
          </a:solidFill>
          <a:ln w="12700">
            <a:solidFill>
              <a:srgbClr val="C25E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553712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is considered well-connected, although nobody can reach it.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5111496"/>
            <a:ext cx="118872" cy="118872"/>
          </a:xfrm>
          <a:prstGeom prst="ellipse">
            <a:avLst/>
          </a:prstGeom>
          <a:solidFill>
            <a:srgbClr val="C25E28"/>
          </a:solidFill>
          <a:ln w="12700">
            <a:solidFill>
              <a:srgbClr val="C25E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992624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address does not mean peer can be reached.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Witness-based detection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176272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210312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A, a well-connected friend we have a link to; B, a linked friend; C, a friend of A with no link to us.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017520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944368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report the address and port they see us at.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858768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785616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to start a punch between us and C. A gives C our address as A saw it. We send nothing.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4700016"/>
            <a:ext cx="384048" cy="384048"/>
          </a:xfrm>
          <a:prstGeom prst="ellipse">
            <a:avLst/>
          </a:prstGeom>
          <a:solidFill>
            <a:srgbClr val="C25E28"/>
          </a:solidFill>
          <a:ln w="12700">
            <a:solidFill>
              <a:srgbClr val="C25E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626864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C’s punch packets, carrying its key, arrive: anyone can reach us. Not after retries: filtering is endpoint-dependent.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5541264"/>
            <a:ext cx="384048" cy="384048"/>
          </a:xfrm>
          <a:prstGeom prst="ellipse">
            <a:avLst/>
          </a:prstGeom>
          <a:solidFill>
            <a:srgbClr val="C25E28"/>
          </a:solidFill>
          <a:ln w="12700">
            <a:solidFill>
              <a:srgbClr val="C25E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41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5468112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saw one port: mapping is endpoint-independent. Two ports: endpoint-dependent.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75320" y="2103120"/>
            <a:ext cx="3200400" cy="82296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 w="16510">
            <a:solidFill>
              <a:srgbClr val="2532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212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25237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under test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75320" y="3154680"/>
            <a:ext cx="3200400" cy="82296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 w="1651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32644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Friend 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0" y="35753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linked, well-connected; reports, signals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75320" y="4206240"/>
            <a:ext cx="3200400" cy="82296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 w="1651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43159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Friend 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4626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linked, another address; reports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75320" y="5257800"/>
            <a:ext cx="3200400" cy="82296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 w="16510">
            <a:solidFill>
              <a:srgbClr val="C25E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5367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Friend C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12480" y="5678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25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link; punches toward us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ROUNDS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procedure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4652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 back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46520" y="2304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filtering: A tells C to punch toward us; we send nothing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2715768"/>
            <a:ext cx="5303520" cy="786384"/>
          </a:xfrm>
          <a:prstGeom prst="roundRect">
            <a:avLst>
              <a:gd name="adj" fmla="val 6977"/>
            </a:avLst>
          </a:prstGeom>
          <a:solidFill>
            <a:srgbClr val="F6F9F9"/>
          </a:solidFill>
          <a:ln w="6350">
            <a:solidFill>
              <a:srgbClr val="F6F9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278892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C’s packets arrive: anyone can reach 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63456" y="278892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5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endpoint-independent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3630168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not, after retries via more friends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63456" y="363016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5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endpoint-dependent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4398264"/>
            <a:ext cx="5303520" cy="786384"/>
          </a:xfrm>
          <a:prstGeom prst="roundRect">
            <a:avLst>
              <a:gd name="adj" fmla="val 6977"/>
            </a:avLst>
          </a:prstGeom>
          <a:solidFill>
            <a:srgbClr val="F6F9F9"/>
          </a:solidFill>
          <a:ln w="6350">
            <a:solidFill>
              <a:srgbClr val="F6F9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4471416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A’s packet always arrives; it proves only the link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63456" y="4471416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5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verdict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85800" y="2304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mapping: A and B report the port they saw us 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715768"/>
            <a:ext cx="5303520" cy="786384"/>
          </a:xfrm>
          <a:prstGeom prst="roundRect">
            <a:avLst>
              <a:gd name="adj" fmla="val 6977"/>
            </a:avLst>
          </a:prstGeom>
          <a:solidFill>
            <a:srgbClr val="F6F9F9"/>
          </a:solidFill>
          <a:ln w="6350">
            <a:solidFill>
              <a:srgbClr val="F6F9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8892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saw the same 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02736" y="278892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endpoint-independent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630168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saw different ports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02736" y="363016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endpoint-dependent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398264"/>
            <a:ext cx="5303520" cy="786384"/>
          </a:xfrm>
          <a:prstGeom prst="roundRect">
            <a:avLst>
              <a:gd name="adj" fmla="val 6977"/>
            </a:avLst>
          </a:prstGeom>
          <a:solidFill>
            <a:srgbClr val="F6F9F9"/>
          </a:solidFill>
          <a:ln w="6350">
            <a:solidFill>
              <a:srgbClr val="F6F9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71416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Address- or port-dependent? One source per friend cannot tell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02736" y="4471416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only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5669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separate independent from dependent, the split autoNAT reports. The finer split needs the oracle.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YES AND A FALSE 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that mislead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5212080" cy="2651760"/>
          </a:xfrm>
          <a:prstGeom prst="roundRect">
            <a:avLst>
              <a:gd name="adj" fmla="val 2069"/>
            </a:avLst>
          </a:prstGeom>
          <a:solidFill>
            <a:srgbClr val="EEF3F4"/>
          </a:solidFill>
          <a:ln w="6350">
            <a:solidFill>
              <a:srgbClr val="EEF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377440"/>
            <a:ext cx="365760" cy="365760"/>
          </a:xfrm>
          <a:prstGeom prst="ellipse">
            <a:avLst/>
          </a:prstGeom>
          <a:solidFill>
            <a:srgbClr val="C25E28"/>
          </a:solidFill>
          <a:ln w="12700">
            <a:solidFill>
              <a:srgbClr val="C25E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yes: contamination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51560" y="3456432"/>
            <a:ext cx="118872" cy="118872"/>
          </a:xfrm>
          <a:prstGeom prst="ellipse">
            <a:avLst/>
          </a:prstGeom>
          <a:solidFill>
            <a:srgbClr val="C25E28"/>
          </a:solidFill>
          <a:ln w="12700">
            <a:solidFill>
              <a:srgbClr val="C25E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3375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ever sent to C, our packets opened the hole.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51560" y="3840480"/>
            <a:ext cx="118872" cy="118872"/>
          </a:xfrm>
          <a:prstGeom prst="ellipse">
            <a:avLst/>
          </a:prstGeom>
          <a:solidFill>
            <a:srgbClr val="C25E28"/>
          </a:solidFill>
          <a:ln w="12700">
            <a:solidFill>
              <a:srgbClr val="C25E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7216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punch sends from both sides. We send nothing.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51560" y="4224528"/>
            <a:ext cx="118872" cy="118872"/>
          </a:xfrm>
          <a:prstGeom prst="ellipse">
            <a:avLst/>
          </a:prstGeom>
          <a:solidFill>
            <a:srgbClr val="C25E28"/>
          </a:solidFill>
          <a:ln w="12700">
            <a:solidFill>
              <a:srgbClr val="C25E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1056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Guard: log where we sent; ignore punches from there.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2103120"/>
            <a:ext cx="5212080" cy="2651760"/>
          </a:xfrm>
          <a:prstGeom prst="roundRect">
            <a:avLst>
              <a:gd name="adj" fmla="val 2069"/>
            </a:avLst>
          </a:prstGeom>
          <a:solidFill>
            <a:srgbClr val="EEF3F4"/>
          </a:solidFill>
          <a:ln w="6350">
            <a:solidFill>
              <a:srgbClr val="EEF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2377440"/>
            <a:ext cx="365760" cy="3657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no: loss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629400" y="3456432"/>
            <a:ext cx="118872" cy="1188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33375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is proof. Absence is not: the packet may be lost.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3840480"/>
            <a:ext cx="118872" cy="1188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37216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 was offline, or A did not pass the request 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629400" y="4224528"/>
            <a:ext cx="118872" cy="1188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41056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Retry, then ask A for another C, before recording no.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MEASURE, AND FROM WHERE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Testbed and hosting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EEF3F4"/>
          </a:solidFill>
          <a:ln w="6350">
            <a:solidFill>
              <a:srgbClr val="EEF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measure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51560" y="3044952"/>
            <a:ext cx="118872" cy="1188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9260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smartphones, on carrier and home paths.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51560" y="3520440"/>
            <a:ext cx="118872" cy="1188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4015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group: one carrier, one kind of plan.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3995928"/>
            <a:ext cx="118872" cy="1188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8770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SIMs and Android plus iOS per carrier.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210312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EEF3F4"/>
          </a:solidFill>
          <a:ln w="6350">
            <a:solidFill>
              <a:srgbClr val="EEF3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institution hosts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629400" y="3044952"/>
            <a:ext cx="118872" cy="118872"/>
          </a:xfrm>
          <a:prstGeom prst="ellipse">
            <a:avLst/>
          </a:prstGeom>
          <a:solidFill>
            <a:srgbClr val="C25E28"/>
          </a:solidFill>
          <a:ln w="12700">
            <a:solidFill>
              <a:srgbClr val="C25E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9260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Oracle: a reference NAT-test server.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29400" y="3520440"/>
            <a:ext cx="118872" cy="118872"/>
          </a:xfrm>
          <a:prstGeom prst="ellipse">
            <a:avLst/>
          </a:prstGeom>
          <a:solidFill>
            <a:srgbClr val="C25E28"/>
          </a:solidFill>
          <a:ln w="12700">
            <a:solidFill>
              <a:srgbClr val="C25E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34015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Witnesses: small hosts, different networks.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3995928"/>
            <a:ext cx="118872" cy="118872"/>
          </a:xfrm>
          <a:prstGeom prst="ellipse">
            <a:avLst/>
          </a:prstGeom>
          <a:solidFill>
            <a:srgbClr val="C25E28"/>
          </a:solidFill>
          <a:ln w="12700">
            <a:solidFill>
              <a:srgbClr val="C25E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38770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Bench: fake NATs built on one Linux machine.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 Topology and Hole-Punching Survey</dc:title>
  <dc:subject>PptxGenJS Presentation</dc:subject>
  <dc:creator>Dan Bachar</dc:creator>
  <cp:lastModifiedBy>Dan Bachar</cp:lastModifiedBy>
  <cp:revision>1</cp:revision>
  <dcterms:created xsi:type="dcterms:W3CDTF">2026-10-08T18:22:47Z</dcterms:created>
  <dcterms:modified xsi:type="dcterms:W3CDTF">2026-10-08T18:22:47Z</dcterms:modified>
</cp:coreProperties>
</file>