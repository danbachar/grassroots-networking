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deliverable is the detection algorithm, validated against an RFC 5780 reference implementation. The prevalence measurement is a supporting result derived from the same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only. The relevant point is that the no-infrastructure property is testable, and has not yet been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constant is taken from the source rather than the design documents. The 10 s announce also serves as the de facto NAT keepalive, as there is no dedicated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in source at grassroots_network.dart:3369-3373. This defect is the clearest motivation for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by how far each blocks a decision. The instrumentation gap also prevents any latency or robustness result from being computed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traced through the current implementation. Note that a successful attempt is equally uninformative, as nothing distinguishes it from a lucky port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contamination guard is the central validity requirement. Without it the results are biased towards permissiveness, which is the direction least likely to be questioned.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measurand and the baseline are separate questions: autoNAT bounds the reachability comparison, and the RFC 5780 server supplies the classification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RQ2 is the most likely source of a surprising result, as witness availability may dominate the accuracy question, which would be the more useful finding for the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claim is the algorithm. Broader testbed coverage, through further carriers and countries, is pursued if time permits; each additional SIM covers one further stratum cell rather than adding generality.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implementation defects listed were found while surveying the transport, and are independent of whether the project proceeds.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A"/>
        </a:solidFill>
      </p:bgPr>
    </p:bg>
    <p:spTree>
      <p:nvGrpSpPr>
        <p:cNvPr id="1" name=""/>
        <p:cNvGrpSpPr/>
        <p:nvPr/>
      </p:nvGrpSpPr>
      <p:grpSpPr>
        <a:xfrm>
          <a:off x="0" y="0"/>
          <a:ext cx="0" cy="0"/>
          <a:chOff x="0" y="0"/>
          <a:chExt cx="0" cy="0"/>
        </a:xfrm>
      </p:grpSpPr>
      <p:sp>
        <p:nvSpPr>
          <p:cNvPr id="2" name="Shape 0"/>
          <p:cNvSpPr/>
          <p:nvPr/>
        </p:nvSpPr>
        <p:spPr>
          <a:xfrm>
            <a:off x="9006840" y="1554480"/>
            <a:ext cx="1371600" cy="548640"/>
          </a:xfrm>
          <a:prstGeom prst="line">
            <a:avLst/>
          </a:prstGeom>
          <a:noFill/>
          <a:ln w="12700">
            <a:solidFill>
              <a:srgbClr val="3C4F5E"/>
            </a:solidFill>
            <a:prstDash val="solid"/>
          </a:ln>
        </p:spPr>
      </p:sp>
      <p:sp>
        <p:nvSpPr>
          <p:cNvPr id="3" name="Shape 1"/>
          <p:cNvSpPr/>
          <p:nvPr/>
        </p:nvSpPr>
        <p:spPr>
          <a:xfrm flipH="1">
            <a:off x="9848088" y="2103120"/>
            <a:ext cx="667512" cy="822960"/>
          </a:xfrm>
          <a:prstGeom prst="line">
            <a:avLst/>
          </a:prstGeom>
          <a:noFill/>
          <a:ln w="12700">
            <a:solidFill>
              <a:srgbClr val="3C4F5E"/>
            </a:solidFill>
            <a:prstDash val="solid"/>
          </a:ln>
        </p:spPr>
      </p:sp>
      <p:sp>
        <p:nvSpPr>
          <p:cNvPr id="4" name="Shape 2"/>
          <p:cNvSpPr/>
          <p:nvPr/>
        </p:nvSpPr>
        <p:spPr>
          <a:xfrm>
            <a:off x="9848088" y="2926080"/>
            <a:ext cx="1033272" cy="521208"/>
          </a:xfrm>
          <a:prstGeom prst="line">
            <a:avLst/>
          </a:prstGeom>
          <a:noFill/>
          <a:ln w="12700">
            <a:solidFill>
              <a:srgbClr val="3C4F5E"/>
            </a:solidFill>
            <a:prstDash val="solid"/>
          </a:ln>
        </p:spPr>
      </p:sp>
      <p:sp>
        <p:nvSpPr>
          <p:cNvPr id="5" name="Shape 3"/>
          <p:cNvSpPr/>
          <p:nvPr/>
        </p:nvSpPr>
        <p:spPr>
          <a:xfrm>
            <a:off x="9464040" y="4114800"/>
            <a:ext cx="978408" cy="612648"/>
          </a:xfrm>
          <a:prstGeom prst="line">
            <a:avLst/>
          </a:prstGeom>
          <a:noFill/>
          <a:ln w="12700">
            <a:solidFill>
              <a:srgbClr val="3C4F5E"/>
            </a:solidFill>
            <a:prstDash val="solid"/>
          </a:ln>
        </p:spPr>
      </p:sp>
      <p:sp>
        <p:nvSpPr>
          <p:cNvPr id="6" name="Shape 4"/>
          <p:cNvSpPr/>
          <p:nvPr/>
        </p:nvSpPr>
        <p:spPr>
          <a:xfrm>
            <a:off x="8869680" y="2532888"/>
            <a:ext cx="594360" cy="1581912"/>
          </a:xfrm>
          <a:prstGeom prst="line">
            <a:avLst/>
          </a:prstGeom>
          <a:noFill/>
          <a:ln w="12700">
            <a:solidFill>
              <a:srgbClr val="3C4F5E"/>
            </a:solidFill>
            <a:prstDash val="solid"/>
          </a:ln>
        </p:spPr>
      </p:sp>
      <p:sp>
        <p:nvSpPr>
          <p:cNvPr id="7" name="Shape 5"/>
          <p:cNvSpPr/>
          <p:nvPr/>
        </p:nvSpPr>
        <p:spPr>
          <a:xfrm>
            <a:off x="9189720" y="1417320"/>
            <a:ext cx="274320" cy="274320"/>
          </a:xfrm>
          <a:prstGeom prst="ellipse">
            <a:avLst/>
          </a:prstGeom>
          <a:solidFill>
            <a:srgbClr val="0E7C86"/>
          </a:solidFill>
          <a:ln w="12700">
            <a:solidFill>
              <a:srgbClr val="0E7C86"/>
            </a:solidFill>
            <a:prstDash val="solid"/>
          </a:ln>
        </p:spPr>
      </p:sp>
      <p:sp>
        <p:nvSpPr>
          <p:cNvPr id="8" name="Shape 6"/>
          <p:cNvSpPr/>
          <p:nvPr/>
        </p:nvSpPr>
        <p:spPr>
          <a:xfrm>
            <a:off x="10378440" y="1965960"/>
            <a:ext cx="274320" cy="274320"/>
          </a:xfrm>
          <a:prstGeom prst="ellipse">
            <a:avLst/>
          </a:prstGeom>
          <a:solidFill>
            <a:srgbClr val="0E7C86"/>
          </a:solidFill>
          <a:ln w="12700">
            <a:solidFill>
              <a:srgbClr val="0E7C86"/>
            </a:solidFill>
            <a:prstDash val="solid"/>
          </a:ln>
        </p:spPr>
      </p:sp>
      <p:sp>
        <p:nvSpPr>
          <p:cNvPr id="9" name="Shape 7"/>
          <p:cNvSpPr/>
          <p:nvPr/>
        </p:nvSpPr>
        <p:spPr>
          <a:xfrm>
            <a:off x="9710928" y="2788920"/>
            <a:ext cx="274320" cy="274320"/>
          </a:xfrm>
          <a:prstGeom prst="ellipse">
            <a:avLst/>
          </a:prstGeom>
          <a:solidFill>
            <a:srgbClr val="C25E28"/>
          </a:solidFill>
          <a:ln w="12700">
            <a:solidFill>
              <a:srgbClr val="C25E28"/>
            </a:solidFill>
            <a:prstDash val="solid"/>
          </a:ln>
        </p:spPr>
      </p:sp>
      <p:sp>
        <p:nvSpPr>
          <p:cNvPr id="10" name="Shape 8"/>
          <p:cNvSpPr/>
          <p:nvPr/>
        </p:nvSpPr>
        <p:spPr>
          <a:xfrm>
            <a:off x="10881360" y="3310128"/>
            <a:ext cx="274320" cy="274320"/>
          </a:xfrm>
          <a:prstGeom prst="ellipse">
            <a:avLst/>
          </a:prstGeom>
          <a:solidFill>
            <a:srgbClr val="0E7C86"/>
          </a:solidFill>
          <a:ln w="12700">
            <a:solidFill>
              <a:srgbClr val="0E7C86"/>
            </a:solidFill>
            <a:prstDash val="solid"/>
          </a:ln>
        </p:spPr>
      </p:sp>
      <p:sp>
        <p:nvSpPr>
          <p:cNvPr id="11" name="Shape 9"/>
          <p:cNvSpPr/>
          <p:nvPr/>
        </p:nvSpPr>
        <p:spPr>
          <a:xfrm>
            <a:off x="9326880" y="3977640"/>
            <a:ext cx="274320" cy="274320"/>
          </a:xfrm>
          <a:prstGeom prst="ellipse">
            <a:avLst/>
          </a:prstGeom>
          <a:solidFill>
            <a:srgbClr val="0E7C86"/>
          </a:solidFill>
          <a:ln w="12700">
            <a:solidFill>
              <a:srgbClr val="0E7C86"/>
            </a:solidFill>
            <a:prstDash val="solid"/>
          </a:ln>
        </p:spPr>
      </p:sp>
      <p:sp>
        <p:nvSpPr>
          <p:cNvPr id="12" name="Shape 10"/>
          <p:cNvSpPr/>
          <p:nvPr/>
        </p:nvSpPr>
        <p:spPr>
          <a:xfrm>
            <a:off x="10442448" y="4590288"/>
            <a:ext cx="274320" cy="274320"/>
          </a:xfrm>
          <a:prstGeom prst="ellipse">
            <a:avLst/>
          </a:prstGeom>
          <a:solidFill>
            <a:srgbClr val="C25E28"/>
          </a:solidFill>
          <a:ln w="12700">
            <a:solidFill>
              <a:srgbClr val="C25E28"/>
            </a:solidFill>
            <a:prstDash val="solid"/>
          </a:ln>
        </p:spPr>
      </p:sp>
      <p:sp>
        <p:nvSpPr>
          <p:cNvPr id="13" name="Shape 11"/>
          <p:cNvSpPr/>
          <p:nvPr/>
        </p:nvSpPr>
        <p:spPr>
          <a:xfrm>
            <a:off x="8732520" y="2395728"/>
            <a:ext cx="274320" cy="274320"/>
          </a:xfrm>
          <a:prstGeom prst="ellipse">
            <a:avLst/>
          </a:prstGeom>
          <a:solidFill>
            <a:srgbClr val="0E7C86"/>
          </a:solidFill>
          <a:ln w="12700">
            <a:solidFill>
              <a:srgbClr val="0E7C86"/>
            </a:solidFill>
            <a:prstDash val="solid"/>
          </a:ln>
        </p:spPr>
      </p:sp>
      <p:sp>
        <p:nvSpPr>
          <p:cNvPr id="14" name="Text 12"/>
          <p:cNvSpPr/>
          <p:nvPr/>
        </p:nvSpPr>
        <p:spPr>
          <a:xfrm>
            <a:off x="548640" y="1600200"/>
            <a:ext cx="786384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STUDENT PROJECT  ·  GRASSROOTS NETWORKING</a:t>
            </a:r>
            <a:endParaRPr lang="en-US" sz="1200" dirty="0"/>
          </a:p>
        </p:txBody>
      </p:sp>
      <p:sp>
        <p:nvSpPr>
          <p:cNvPr id="15" name="Text 13"/>
          <p:cNvSpPr/>
          <p:nvPr/>
        </p:nvSpPr>
        <p:spPr>
          <a:xfrm>
            <a:off x="548640" y="2057400"/>
            <a:ext cx="7863840" cy="1737360"/>
          </a:xfrm>
          <a:prstGeom prst="rect">
            <a:avLst/>
          </a:prstGeom>
          <a:noFill/>
          <a:ln/>
        </p:spPr>
        <p:txBody>
          <a:bodyPr wrap="square" lIns="0" tIns="0" rIns="0" bIns="0" rtlCol="0" anchor="ctr"/>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NAT detection and</a:t>
            </a:r>
            <a:endParaRPr lang="en-US" sz="4600" dirty="0"/>
          </a:p>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hole punching</a:t>
            </a:r>
            <a:endParaRPr lang="en-US" sz="4600" dirty="0"/>
          </a:p>
        </p:txBody>
      </p:sp>
      <p:sp>
        <p:nvSpPr>
          <p:cNvPr id="16" name="Text 14"/>
          <p:cNvSpPr/>
          <p:nvPr/>
        </p:nvSpPr>
        <p:spPr>
          <a:xfrm>
            <a:off x="548640" y="3886200"/>
            <a:ext cx="7680960" cy="457200"/>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Determining NAT behaviour from the social graph, without designated servers</a:t>
            </a:r>
            <a:endParaRPr lang="en-US" sz="1700" dirty="0"/>
          </a:p>
        </p:txBody>
      </p:sp>
      <p:sp>
        <p:nvSpPr>
          <p:cNvPr id="17" name="Text 15"/>
          <p:cNvSpPr/>
          <p:nvPr/>
        </p:nvSpPr>
        <p:spPr>
          <a:xfrm>
            <a:off x="548640" y="5806440"/>
            <a:ext cx="786384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Dan Bachar</a:t>
            </a:r>
            <a:pPr indent="0" marL="0">
              <a:buNone/>
            </a:pPr>
            <a:r>
              <a:rPr lang="en-US" sz="1300" dirty="0">
                <a:solidFill>
                  <a:srgbClr val="6E7F8B"/>
                </a:solidFill>
                <a:latin typeface="Calibri" pitchFamily="34" charset="0"/>
                <a:ea typeface="Calibri" pitchFamily="34" charset="-122"/>
                <a:cs typeface="Calibri" pitchFamily="34" charset="-120"/>
              </a:rPr>
              <a:t>   ·   dan.bachar@campus.technion.ac.il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SYSTEM CONTEXT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Grassroots Networking</a:t>
            </a:r>
            <a:endParaRPr lang="en-US" sz="3400" dirty="0"/>
          </a:p>
        </p:txBody>
      </p:sp>
      <p:sp>
        <p:nvSpPr>
          <p:cNvPr id="4" name="Shape 2"/>
          <p:cNvSpPr/>
          <p:nvPr/>
        </p:nvSpPr>
        <p:spPr>
          <a:xfrm>
            <a:off x="548640" y="2011680"/>
            <a:ext cx="3505200" cy="3063240"/>
          </a:xfrm>
          <a:prstGeom prst="roundRect">
            <a:avLst>
              <a:gd name="adj" fmla="val 1791"/>
            </a:avLst>
          </a:prstGeom>
          <a:solidFill>
            <a:srgbClr val="EEF3F4"/>
          </a:solidFill>
          <a:ln w="6350">
            <a:solidFill>
              <a:srgbClr val="EEF3F4"/>
            </a:solidFill>
            <a:prstDash val="solid"/>
          </a:ln>
        </p:spPr>
      </p:sp>
      <p:sp>
        <p:nvSpPr>
          <p:cNvPr id="5" name="Shape 3"/>
          <p:cNvSpPr/>
          <p:nvPr/>
        </p:nvSpPr>
        <p:spPr>
          <a:xfrm>
            <a:off x="868680" y="2377440"/>
            <a:ext cx="457200" cy="457200"/>
          </a:xfrm>
          <a:prstGeom prst="ellipse">
            <a:avLst/>
          </a:prstGeom>
          <a:solidFill>
            <a:srgbClr val="0E7C86"/>
          </a:solidFill>
          <a:ln w="12700">
            <a:solidFill>
              <a:srgbClr val="0E7C86"/>
            </a:solidFill>
            <a:prstDash val="solid"/>
          </a:ln>
        </p:spPr>
      </p:sp>
      <p:sp>
        <p:nvSpPr>
          <p:cNvPr id="6" name="Text 4"/>
          <p:cNvSpPr/>
          <p:nvPr/>
        </p:nvSpPr>
        <p:spPr>
          <a:xfrm>
            <a:off x="868680" y="3035808"/>
            <a:ext cx="2865120" cy="41148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No infrastructure</a:t>
            </a:r>
            <a:endParaRPr lang="en-US" sz="1900" dirty="0"/>
          </a:p>
        </p:txBody>
      </p:sp>
      <p:sp>
        <p:nvSpPr>
          <p:cNvPr id="7" name="Text 5"/>
          <p:cNvSpPr/>
          <p:nvPr/>
        </p:nvSpPr>
        <p:spPr>
          <a:xfrm>
            <a:off x="868680" y="3493008"/>
            <a:ext cx="2865120" cy="1371600"/>
          </a:xfrm>
          <a:prstGeom prst="rect">
            <a:avLst/>
          </a:prstGeom>
          <a:noFill/>
          <a:ln/>
        </p:spPr>
        <p:txBody>
          <a:bodyPr wrap="square" lIns="0" tIns="0" rIns="0" bIns="0" rtlCol="0" anchor="ctr"/>
          <a:lstStyle/>
          <a:p>
            <a:pPr indent="0" marL="0">
              <a:lnSpc>
                <a:spcPct val="112000"/>
              </a:lnSpc>
              <a:buNone/>
            </a:pPr>
            <a:r>
              <a:rPr lang="en-US" sz="1350" dirty="0">
                <a:solidFill>
                  <a:srgbClr val="3E4C57"/>
                </a:solidFill>
                <a:latin typeface="Calibri" pitchFamily="34" charset="0"/>
                <a:ea typeface="Calibri" pitchFamily="34" charset="-122"/>
                <a:cs typeface="Calibri" pitchFamily="34" charset="-120"/>
              </a:rPr>
              <a:t>Messages are delivered directly from sender to recipient. The system is designed to operate without dedicated servers, so every anchor we add weakens that property.</a:t>
            </a:r>
            <a:endParaRPr lang="en-US" sz="1350" dirty="0"/>
          </a:p>
        </p:txBody>
      </p:sp>
      <p:sp>
        <p:nvSpPr>
          <p:cNvPr id="8" name="Shape 6"/>
          <p:cNvSpPr/>
          <p:nvPr/>
        </p:nvSpPr>
        <p:spPr>
          <a:xfrm>
            <a:off x="4291584" y="2011680"/>
            <a:ext cx="3505200" cy="3063240"/>
          </a:xfrm>
          <a:prstGeom prst="roundRect">
            <a:avLst>
              <a:gd name="adj" fmla="val 1791"/>
            </a:avLst>
          </a:prstGeom>
          <a:solidFill>
            <a:srgbClr val="EEF3F4"/>
          </a:solidFill>
          <a:ln w="6350">
            <a:solidFill>
              <a:srgbClr val="EEF3F4"/>
            </a:solidFill>
            <a:prstDash val="solid"/>
          </a:ln>
        </p:spPr>
      </p:sp>
      <p:sp>
        <p:nvSpPr>
          <p:cNvPr id="9" name="Shape 7"/>
          <p:cNvSpPr/>
          <p:nvPr/>
        </p:nvSpPr>
        <p:spPr>
          <a:xfrm>
            <a:off x="4611624" y="2377440"/>
            <a:ext cx="457200" cy="457200"/>
          </a:xfrm>
          <a:prstGeom prst="ellipse">
            <a:avLst/>
          </a:prstGeom>
          <a:solidFill>
            <a:srgbClr val="0E7C86"/>
          </a:solidFill>
          <a:ln w="12700">
            <a:solidFill>
              <a:srgbClr val="0E7C86"/>
            </a:solidFill>
            <a:prstDash val="solid"/>
          </a:ln>
        </p:spPr>
      </p:sp>
      <p:sp>
        <p:nvSpPr>
          <p:cNvPr id="10" name="Text 8"/>
          <p:cNvSpPr/>
          <p:nvPr/>
        </p:nvSpPr>
        <p:spPr>
          <a:xfrm>
            <a:off x="4611624" y="3035808"/>
            <a:ext cx="2865120" cy="41148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Two transports</a:t>
            </a:r>
            <a:endParaRPr lang="en-US" sz="1900" dirty="0"/>
          </a:p>
        </p:txBody>
      </p:sp>
      <p:sp>
        <p:nvSpPr>
          <p:cNvPr id="11" name="Text 9"/>
          <p:cNvSpPr/>
          <p:nvPr/>
        </p:nvSpPr>
        <p:spPr>
          <a:xfrm>
            <a:off x="4611624" y="3493008"/>
            <a:ext cx="2865120" cy="1371600"/>
          </a:xfrm>
          <a:prstGeom prst="rect">
            <a:avLst/>
          </a:prstGeom>
          <a:noFill/>
          <a:ln/>
        </p:spPr>
        <p:txBody>
          <a:bodyPr wrap="square" lIns="0" tIns="0" rIns="0" bIns="0" rtlCol="0" anchor="ctr"/>
          <a:lstStyle/>
          <a:p>
            <a:pPr indent="0" marL="0">
              <a:lnSpc>
                <a:spcPct val="112000"/>
              </a:lnSpc>
              <a:buNone/>
            </a:pPr>
            <a:r>
              <a:rPr lang="en-US" sz="1350" dirty="0">
                <a:solidFill>
                  <a:srgbClr val="3E4C57"/>
                </a:solidFill>
                <a:latin typeface="Calibri" pitchFamily="34" charset="0"/>
                <a:ea typeface="Calibri" pitchFamily="34" charset="-122"/>
                <a:cs typeface="Calibri" pitchFamily="34" charset="-120"/>
              </a:rPr>
              <a:t>BLE for peers in physical proximity, UDP over UDX for remote peers. Both expose the same interface, and BLE is preferred where both are available.</a:t>
            </a:r>
            <a:endParaRPr lang="en-US" sz="1350" dirty="0"/>
          </a:p>
        </p:txBody>
      </p:sp>
      <p:sp>
        <p:nvSpPr>
          <p:cNvPr id="12" name="Shape 10"/>
          <p:cNvSpPr/>
          <p:nvPr/>
        </p:nvSpPr>
        <p:spPr>
          <a:xfrm>
            <a:off x="8034528" y="2011680"/>
            <a:ext cx="3505200" cy="3063240"/>
          </a:xfrm>
          <a:prstGeom prst="roundRect">
            <a:avLst>
              <a:gd name="adj" fmla="val 1791"/>
            </a:avLst>
          </a:prstGeom>
          <a:solidFill>
            <a:srgbClr val="EEF3F4"/>
          </a:solidFill>
          <a:ln w="6350">
            <a:solidFill>
              <a:srgbClr val="EEF3F4"/>
            </a:solidFill>
            <a:prstDash val="solid"/>
          </a:ln>
        </p:spPr>
      </p:sp>
      <p:sp>
        <p:nvSpPr>
          <p:cNvPr id="13" name="Shape 11"/>
          <p:cNvSpPr/>
          <p:nvPr/>
        </p:nvSpPr>
        <p:spPr>
          <a:xfrm>
            <a:off x="8354568" y="2377440"/>
            <a:ext cx="457200" cy="457200"/>
          </a:xfrm>
          <a:prstGeom prst="ellipse">
            <a:avLst/>
          </a:prstGeom>
          <a:solidFill>
            <a:srgbClr val="0E7C86"/>
          </a:solidFill>
          <a:ln w="12700">
            <a:solidFill>
              <a:srgbClr val="0E7C86"/>
            </a:solidFill>
            <a:prstDash val="solid"/>
          </a:ln>
        </p:spPr>
      </p:sp>
      <p:sp>
        <p:nvSpPr>
          <p:cNvPr id="14" name="Text 12"/>
          <p:cNvSpPr/>
          <p:nvPr/>
        </p:nvSpPr>
        <p:spPr>
          <a:xfrm>
            <a:off x="8354568" y="3035808"/>
            <a:ext cx="2865120" cy="41148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Identity is a key pair</a:t>
            </a:r>
            <a:endParaRPr lang="en-US" sz="1900" dirty="0"/>
          </a:p>
        </p:txBody>
      </p:sp>
      <p:sp>
        <p:nvSpPr>
          <p:cNvPr id="15" name="Text 13"/>
          <p:cNvSpPr/>
          <p:nvPr/>
        </p:nvSpPr>
        <p:spPr>
          <a:xfrm>
            <a:off x="8354568" y="3493008"/>
            <a:ext cx="2865120" cy="1371600"/>
          </a:xfrm>
          <a:prstGeom prst="rect">
            <a:avLst/>
          </a:prstGeom>
          <a:noFill/>
          <a:ln/>
        </p:spPr>
        <p:txBody>
          <a:bodyPr wrap="square" lIns="0" tIns="0" rIns="0" bIns="0" rtlCol="0" anchor="ctr"/>
          <a:lstStyle/>
          <a:p>
            <a:pPr indent="0" marL="0">
              <a:lnSpc>
                <a:spcPct val="112000"/>
              </a:lnSpc>
              <a:buNone/>
            </a:pPr>
            <a:r>
              <a:rPr lang="en-US" sz="1350" dirty="0">
                <a:solidFill>
                  <a:srgbClr val="3E4C57"/>
                </a:solidFill>
                <a:latin typeface="Calibri" pitchFamily="34" charset="0"/>
                <a:ea typeface="Calibri" pitchFamily="34" charset="-122"/>
                <a:cs typeface="Calibri" pitchFamily="34" charset="-120"/>
              </a:rPr>
              <a:t>An Ed25519 public key identifies the peer. Nicknames are cosmetic, and every trust decision reduces to a signature check.</a:t>
            </a:r>
            <a:endParaRPr lang="en-US" sz="1350" dirty="0"/>
          </a:p>
        </p:txBody>
      </p:sp>
      <p:sp>
        <p:nvSpPr>
          <p:cNvPr id="16" name="Text 14"/>
          <p:cNvSpPr/>
          <p:nvPr/>
        </p:nvSpPr>
        <p:spPr>
          <a:xfrm>
            <a:off x="548640" y="5532120"/>
            <a:ext cx="11064240" cy="41148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The Internet relation is the subject of this project. Its NAT behaviour has never been measured.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IMPLEMENTATION TODAY</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The current IP path</a:t>
            </a:r>
            <a:endParaRPr lang="en-US" sz="3400" dirty="0"/>
          </a:p>
        </p:txBody>
      </p:sp>
      <p:sp>
        <p:nvSpPr>
          <p:cNvPr id="4" name="Shape 2"/>
          <p:cNvSpPr/>
          <p:nvPr/>
        </p:nvSpPr>
        <p:spPr>
          <a:xfrm>
            <a:off x="548640" y="2057400"/>
            <a:ext cx="2048256" cy="2103120"/>
          </a:xfrm>
          <a:prstGeom prst="roundRect">
            <a:avLst>
              <a:gd name="adj" fmla="val 2679"/>
            </a:avLst>
          </a:prstGeom>
          <a:solidFill>
            <a:srgbClr val="EEF3F4"/>
          </a:solidFill>
          <a:ln w="6350">
            <a:solidFill>
              <a:srgbClr val="EEF3F4"/>
            </a:solidFill>
            <a:prstDash val="solid"/>
          </a:ln>
        </p:spPr>
      </p:sp>
      <p:sp>
        <p:nvSpPr>
          <p:cNvPr id="5" name="Shape 3"/>
          <p:cNvSpPr/>
          <p:nvPr/>
        </p:nvSpPr>
        <p:spPr>
          <a:xfrm>
            <a:off x="749808" y="2240280"/>
            <a:ext cx="384048" cy="384048"/>
          </a:xfrm>
          <a:prstGeom prst="ellipse">
            <a:avLst/>
          </a:prstGeom>
          <a:solidFill>
            <a:srgbClr val="0E7C86"/>
          </a:solidFill>
          <a:ln w="12700">
            <a:solidFill>
              <a:srgbClr val="0E7C86"/>
            </a:solidFill>
            <a:prstDash val="solid"/>
          </a:ln>
        </p:spPr>
      </p:sp>
      <p:sp>
        <p:nvSpPr>
          <p:cNvPr id="6" name="Text 4"/>
          <p:cNvSpPr/>
          <p:nvPr/>
        </p:nvSpPr>
        <p:spPr>
          <a:xfrm>
            <a:off x="749808"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749808" y="2724912"/>
            <a:ext cx="1645920" cy="54864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Learn my address</a:t>
            </a:r>
            <a:endParaRPr lang="en-US" sz="1450" dirty="0"/>
          </a:p>
        </p:txBody>
      </p:sp>
      <p:sp>
        <p:nvSpPr>
          <p:cNvPr id="8" name="Text 6"/>
          <p:cNvSpPr/>
          <p:nvPr/>
        </p:nvSpPr>
        <p:spPr>
          <a:xfrm>
            <a:off x="749808" y="3273552"/>
            <a:ext cx="1645920" cy="731520"/>
          </a:xfrm>
          <a:prstGeom prst="rect">
            <a:avLst/>
          </a:prstGeom>
          <a:noFill/>
          <a:ln/>
        </p:spPr>
        <p:txBody>
          <a:bodyPr wrap="square" lIns="0" tIns="0" rIns="0" bIns="0" rtlCol="0" anchor="ctr"/>
          <a:lstStyle/>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HTTPS to seeip.org,</a:t>
            </a:r>
            <a:endParaRPr lang="en-US" sz="1150" dirty="0"/>
          </a:p>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cached 5 min</a:t>
            </a:r>
            <a:endParaRPr lang="en-US" sz="1150" dirty="0"/>
          </a:p>
        </p:txBody>
      </p:sp>
      <p:sp>
        <p:nvSpPr>
          <p:cNvPr id="9" name="Text 7"/>
          <p:cNvSpPr/>
          <p:nvPr/>
        </p:nvSpPr>
        <p:spPr>
          <a:xfrm>
            <a:off x="2578608" y="2880360"/>
            <a:ext cx="237744" cy="365760"/>
          </a:xfrm>
          <a:prstGeom prst="rect">
            <a:avLst/>
          </a:prstGeom>
          <a:noFill/>
          <a:ln/>
        </p:spPr>
        <p:txBody>
          <a:bodyPr wrap="square" lIns="0" tIns="0" rIns="0" bIns="0" rtlCol="0" anchor="ctr"/>
          <a:lstStyle/>
          <a:p>
            <a:pPr algn="ctr" indent="0" marL="0">
              <a:buNone/>
            </a:pPr>
            <a:r>
              <a:rPr lang="en-US" sz="1700" b="1" dirty="0">
                <a:solidFill>
                  <a:srgbClr val="6E7F8B"/>
                </a:solidFill>
                <a:latin typeface="Calibri" pitchFamily="34" charset="0"/>
                <a:ea typeface="Calibri" pitchFamily="34" charset="-122"/>
                <a:cs typeface="Calibri" pitchFamily="34" charset="-120"/>
              </a:rPr>
              <a:t>→</a:t>
            </a:r>
            <a:endParaRPr lang="en-US" sz="1700" dirty="0"/>
          </a:p>
        </p:txBody>
      </p:sp>
      <p:sp>
        <p:nvSpPr>
          <p:cNvPr id="10" name="Shape 8"/>
          <p:cNvSpPr/>
          <p:nvPr/>
        </p:nvSpPr>
        <p:spPr>
          <a:xfrm>
            <a:off x="2798064" y="2057400"/>
            <a:ext cx="2048256" cy="2103120"/>
          </a:xfrm>
          <a:prstGeom prst="roundRect">
            <a:avLst>
              <a:gd name="adj" fmla="val 2679"/>
            </a:avLst>
          </a:prstGeom>
          <a:solidFill>
            <a:srgbClr val="EEF3F4"/>
          </a:solidFill>
          <a:ln w="6350">
            <a:solidFill>
              <a:srgbClr val="EEF3F4"/>
            </a:solidFill>
            <a:prstDash val="solid"/>
          </a:ln>
        </p:spPr>
      </p:sp>
      <p:sp>
        <p:nvSpPr>
          <p:cNvPr id="11" name="Shape 9"/>
          <p:cNvSpPr/>
          <p:nvPr/>
        </p:nvSpPr>
        <p:spPr>
          <a:xfrm>
            <a:off x="2999232" y="2240280"/>
            <a:ext cx="384048" cy="384048"/>
          </a:xfrm>
          <a:prstGeom prst="ellipse">
            <a:avLst/>
          </a:prstGeom>
          <a:solidFill>
            <a:srgbClr val="0E7C86"/>
          </a:solidFill>
          <a:ln w="12700">
            <a:solidFill>
              <a:srgbClr val="0E7C86"/>
            </a:solidFill>
            <a:prstDash val="solid"/>
          </a:ln>
        </p:spPr>
      </p:sp>
      <p:sp>
        <p:nvSpPr>
          <p:cNvPr id="12" name="Text 10"/>
          <p:cNvSpPr/>
          <p:nvPr/>
        </p:nvSpPr>
        <p:spPr>
          <a:xfrm>
            <a:off x="2999232"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2999232" y="2724912"/>
            <a:ext cx="1645920" cy="54864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Advertise</a:t>
            </a:r>
            <a:endParaRPr lang="en-US" sz="1450" dirty="0"/>
          </a:p>
        </p:txBody>
      </p:sp>
      <p:sp>
        <p:nvSpPr>
          <p:cNvPr id="14" name="Text 12"/>
          <p:cNvSpPr/>
          <p:nvPr/>
        </p:nvSpPr>
        <p:spPr>
          <a:xfrm>
            <a:off x="2999232" y="3273552"/>
            <a:ext cx="1645920" cy="731520"/>
          </a:xfrm>
          <a:prstGeom prst="rect">
            <a:avLst/>
          </a:prstGeom>
          <a:noFill/>
          <a:ln/>
        </p:spPr>
        <p:txBody>
          <a:bodyPr wrap="square" lIns="0" tIns="0" rIns="0" bIns="0" rtlCol="0" anchor="ctr"/>
          <a:lstStyle/>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ANNOUNCE every 10 s,</a:t>
            </a:r>
            <a:endParaRPr lang="en-US" sz="1150" dirty="0"/>
          </a:p>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signed, with candidates</a:t>
            </a:r>
            <a:endParaRPr lang="en-US" sz="1150" dirty="0"/>
          </a:p>
        </p:txBody>
      </p:sp>
      <p:sp>
        <p:nvSpPr>
          <p:cNvPr id="15" name="Text 13"/>
          <p:cNvSpPr/>
          <p:nvPr/>
        </p:nvSpPr>
        <p:spPr>
          <a:xfrm>
            <a:off x="4828032" y="2880360"/>
            <a:ext cx="237744" cy="365760"/>
          </a:xfrm>
          <a:prstGeom prst="rect">
            <a:avLst/>
          </a:prstGeom>
          <a:noFill/>
          <a:ln/>
        </p:spPr>
        <p:txBody>
          <a:bodyPr wrap="square" lIns="0" tIns="0" rIns="0" bIns="0" rtlCol="0" anchor="ctr"/>
          <a:lstStyle/>
          <a:p>
            <a:pPr algn="ctr" indent="0" marL="0">
              <a:buNone/>
            </a:pPr>
            <a:r>
              <a:rPr lang="en-US" sz="1700" b="1" dirty="0">
                <a:solidFill>
                  <a:srgbClr val="6E7F8B"/>
                </a:solidFill>
                <a:latin typeface="Calibri" pitchFamily="34" charset="0"/>
                <a:ea typeface="Calibri" pitchFamily="34" charset="-122"/>
                <a:cs typeface="Calibri" pitchFamily="34" charset="-120"/>
              </a:rPr>
              <a:t>→</a:t>
            </a:r>
            <a:endParaRPr lang="en-US" sz="1700" dirty="0"/>
          </a:p>
        </p:txBody>
      </p:sp>
      <p:sp>
        <p:nvSpPr>
          <p:cNvPr id="16" name="Shape 14"/>
          <p:cNvSpPr/>
          <p:nvPr/>
        </p:nvSpPr>
        <p:spPr>
          <a:xfrm>
            <a:off x="5047488" y="2057400"/>
            <a:ext cx="2048256" cy="2103120"/>
          </a:xfrm>
          <a:prstGeom prst="roundRect">
            <a:avLst>
              <a:gd name="adj" fmla="val 2679"/>
            </a:avLst>
          </a:prstGeom>
          <a:solidFill>
            <a:srgbClr val="EEF3F4"/>
          </a:solidFill>
          <a:ln w="6350">
            <a:solidFill>
              <a:srgbClr val="EEF3F4"/>
            </a:solidFill>
            <a:prstDash val="solid"/>
          </a:ln>
        </p:spPr>
      </p:sp>
      <p:sp>
        <p:nvSpPr>
          <p:cNvPr id="17" name="Shape 15"/>
          <p:cNvSpPr/>
          <p:nvPr/>
        </p:nvSpPr>
        <p:spPr>
          <a:xfrm>
            <a:off x="5248656" y="2240280"/>
            <a:ext cx="384048" cy="384048"/>
          </a:xfrm>
          <a:prstGeom prst="ellipse">
            <a:avLst/>
          </a:prstGeom>
          <a:solidFill>
            <a:srgbClr val="0E7C86"/>
          </a:solidFill>
          <a:ln w="12700">
            <a:solidFill>
              <a:srgbClr val="0E7C86"/>
            </a:solidFill>
            <a:prstDash val="solid"/>
          </a:ln>
        </p:spPr>
      </p:sp>
      <p:sp>
        <p:nvSpPr>
          <p:cNvPr id="18" name="Text 16"/>
          <p:cNvSpPr/>
          <p:nvPr/>
        </p:nvSpPr>
        <p:spPr>
          <a:xfrm>
            <a:off x="5248656"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5248656" y="2724912"/>
            <a:ext cx="1645920" cy="54864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Pick one target</a:t>
            </a:r>
            <a:endParaRPr lang="en-US" sz="1450" dirty="0"/>
          </a:p>
        </p:txBody>
      </p:sp>
      <p:sp>
        <p:nvSpPr>
          <p:cNvPr id="20" name="Text 18"/>
          <p:cNvSpPr/>
          <p:nvPr/>
        </p:nvSpPr>
        <p:spPr>
          <a:xfrm>
            <a:off x="5248656" y="3273552"/>
            <a:ext cx="1645920" cy="731520"/>
          </a:xfrm>
          <a:prstGeom prst="rect">
            <a:avLst/>
          </a:prstGeom>
          <a:noFill/>
          <a:ln/>
        </p:spPr>
        <p:txBody>
          <a:bodyPr wrap="square" lIns="0" tIns="0" rIns="0" bIns="0" rtlCol="0" anchor="ctr"/>
          <a:lstStyle/>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link-local &gt; IPv6 &gt; IPv4,</a:t>
            </a:r>
            <a:endParaRPr lang="en-US" sz="1150" dirty="0"/>
          </a:p>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exactly one pair</a:t>
            </a:r>
            <a:endParaRPr lang="en-US" sz="1150" dirty="0"/>
          </a:p>
        </p:txBody>
      </p:sp>
      <p:sp>
        <p:nvSpPr>
          <p:cNvPr id="21" name="Text 19"/>
          <p:cNvSpPr/>
          <p:nvPr/>
        </p:nvSpPr>
        <p:spPr>
          <a:xfrm>
            <a:off x="7077456" y="2880360"/>
            <a:ext cx="237744" cy="365760"/>
          </a:xfrm>
          <a:prstGeom prst="rect">
            <a:avLst/>
          </a:prstGeom>
          <a:noFill/>
          <a:ln/>
        </p:spPr>
        <p:txBody>
          <a:bodyPr wrap="square" lIns="0" tIns="0" rIns="0" bIns="0" rtlCol="0" anchor="ctr"/>
          <a:lstStyle/>
          <a:p>
            <a:pPr algn="ctr" indent="0" marL="0">
              <a:buNone/>
            </a:pPr>
            <a:r>
              <a:rPr lang="en-US" sz="1700" b="1" dirty="0">
                <a:solidFill>
                  <a:srgbClr val="6E7F8B"/>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7296912" y="2057400"/>
            <a:ext cx="2048256" cy="2103120"/>
          </a:xfrm>
          <a:prstGeom prst="roundRect">
            <a:avLst>
              <a:gd name="adj" fmla="val 2679"/>
            </a:avLst>
          </a:prstGeom>
          <a:solidFill>
            <a:srgbClr val="EEF3F4"/>
          </a:solidFill>
          <a:ln w="6350">
            <a:solidFill>
              <a:srgbClr val="EEF3F4"/>
            </a:solidFill>
            <a:prstDash val="solid"/>
          </a:ln>
        </p:spPr>
      </p:sp>
      <p:sp>
        <p:nvSpPr>
          <p:cNvPr id="23" name="Shape 21"/>
          <p:cNvSpPr/>
          <p:nvPr/>
        </p:nvSpPr>
        <p:spPr>
          <a:xfrm>
            <a:off x="7498080" y="2240280"/>
            <a:ext cx="384048" cy="384048"/>
          </a:xfrm>
          <a:prstGeom prst="ellipse">
            <a:avLst/>
          </a:prstGeom>
          <a:solidFill>
            <a:srgbClr val="0E7C86"/>
          </a:solidFill>
          <a:ln w="12700">
            <a:solidFill>
              <a:srgbClr val="0E7C86"/>
            </a:solidFill>
            <a:prstDash val="solid"/>
          </a:ln>
        </p:spPr>
      </p:sp>
      <p:sp>
        <p:nvSpPr>
          <p:cNvPr id="24" name="Text 22"/>
          <p:cNvSpPr/>
          <p:nvPr/>
        </p:nvSpPr>
        <p:spPr>
          <a:xfrm>
            <a:off x="7498080"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7498080" y="2724912"/>
            <a:ext cx="1645920" cy="54864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Punch</a:t>
            </a:r>
            <a:endParaRPr lang="en-US" sz="1450" dirty="0"/>
          </a:p>
        </p:txBody>
      </p:sp>
      <p:sp>
        <p:nvSpPr>
          <p:cNvPr id="26" name="Text 24"/>
          <p:cNvSpPr/>
          <p:nvPr/>
        </p:nvSpPr>
        <p:spPr>
          <a:xfrm>
            <a:off x="7498080" y="3273552"/>
            <a:ext cx="1645920" cy="731520"/>
          </a:xfrm>
          <a:prstGeom prst="rect">
            <a:avLst/>
          </a:prstGeom>
          <a:noFill/>
          <a:ln/>
        </p:spPr>
        <p:txBody>
          <a:bodyPr wrap="square" lIns="0" tIns="0" rIns="0" bIns="0" rtlCol="0" anchor="ctr"/>
          <a:lstStyle/>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36-byte packet,</a:t>
            </a:r>
            <a:endParaRPr lang="en-US" sz="1150" dirty="0"/>
          </a:p>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2 s at 200 ms ≈ 10 sent</a:t>
            </a:r>
            <a:endParaRPr lang="en-US" sz="1150" dirty="0"/>
          </a:p>
        </p:txBody>
      </p:sp>
      <p:sp>
        <p:nvSpPr>
          <p:cNvPr id="27" name="Text 25"/>
          <p:cNvSpPr/>
          <p:nvPr/>
        </p:nvSpPr>
        <p:spPr>
          <a:xfrm>
            <a:off x="9326880" y="2880360"/>
            <a:ext cx="237744" cy="365760"/>
          </a:xfrm>
          <a:prstGeom prst="rect">
            <a:avLst/>
          </a:prstGeom>
          <a:noFill/>
          <a:ln/>
        </p:spPr>
        <p:txBody>
          <a:bodyPr wrap="square" lIns="0" tIns="0" rIns="0" bIns="0" rtlCol="0" anchor="ctr"/>
          <a:lstStyle/>
          <a:p>
            <a:pPr algn="ctr" indent="0" marL="0">
              <a:buNone/>
            </a:pPr>
            <a:r>
              <a:rPr lang="en-US" sz="1700" b="1" dirty="0">
                <a:solidFill>
                  <a:srgbClr val="6E7F8B"/>
                </a:solidFill>
                <a:latin typeface="Calibri" pitchFamily="34" charset="0"/>
                <a:ea typeface="Calibri" pitchFamily="34" charset="-122"/>
                <a:cs typeface="Calibri" pitchFamily="34" charset="-120"/>
              </a:rPr>
              <a:t>→</a:t>
            </a:r>
            <a:endParaRPr lang="en-US" sz="1700" dirty="0"/>
          </a:p>
        </p:txBody>
      </p:sp>
      <p:sp>
        <p:nvSpPr>
          <p:cNvPr id="28" name="Shape 26"/>
          <p:cNvSpPr/>
          <p:nvPr/>
        </p:nvSpPr>
        <p:spPr>
          <a:xfrm>
            <a:off x="9546336" y="2057400"/>
            <a:ext cx="2048256" cy="2103120"/>
          </a:xfrm>
          <a:prstGeom prst="roundRect">
            <a:avLst>
              <a:gd name="adj" fmla="val 2679"/>
            </a:avLst>
          </a:prstGeom>
          <a:solidFill>
            <a:srgbClr val="EEF3F4"/>
          </a:solidFill>
          <a:ln w="6350">
            <a:solidFill>
              <a:srgbClr val="EEF3F4"/>
            </a:solidFill>
            <a:prstDash val="solid"/>
          </a:ln>
        </p:spPr>
      </p:sp>
      <p:sp>
        <p:nvSpPr>
          <p:cNvPr id="29" name="Shape 27"/>
          <p:cNvSpPr/>
          <p:nvPr/>
        </p:nvSpPr>
        <p:spPr>
          <a:xfrm>
            <a:off x="9747504" y="2240280"/>
            <a:ext cx="384048" cy="384048"/>
          </a:xfrm>
          <a:prstGeom prst="ellipse">
            <a:avLst/>
          </a:prstGeom>
          <a:solidFill>
            <a:srgbClr val="0E7C86"/>
          </a:solidFill>
          <a:ln w="12700">
            <a:solidFill>
              <a:srgbClr val="0E7C86"/>
            </a:solidFill>
            <a:prstDash val="solid"/>
          </a:ln>
        </p:spPr>
      </p:sp>
      <p:sp>
        <p:nvSpPr>
          <p:cNvPr id="30" name="Text 28"/>
          <p:cNvSpPr/>
          <p:nvPr/>
        </p:nvSpPr>
        <p:spPr>
          <a:xfrm>
            <a:off x="9747504"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9747504" y="2724912"/>
            <a:ext cx="1645920" cy="548640"/>
          </a:xfrm>
          <a:prstGeom prst="rect">
            <a:avLst/>
          </a:prstGeom>
          <a:noFill/>
          <a:ln/>
        </p:spPr>
        <p:txBody>
          <a:bodyPr wrap="square" lIns="0" tIns="0" rIns="0" bIns="0" rtlCol="0" anchor="ctr"/>
          <a:lstStyle/>
          <a:p>
            <a:pPr indent="0" marL="0">
              <a:buNone/>
            </a:pPr>
            <a:r>
              <a:rPr lang="en-US" sz="1450" b="1" dirty="0">
                <a:solidFill>
                  <a:srgbClr val="16202A"/>
                </a:solidFill>
                <a:latin typeface="Cambria" pitchFamily="34" charset="0"/>
                <a:ea typeface="Cambria" pitchFamily="34" charset="-122"/>
                <a:cs typeface="Cambria" pitchFamily="34" charset="-120"/>
              </a:rPr>
              <a:t>Dial UDX</a:t>
            </a:r>
            <a:endParaRPr lang="en-US" sz="1450" dirty="0"/>
          </a:p>
        </p:txBody>
      </p:sp>
      <p:sp>
        <p:nvSpPr>
          <p:cNvPr id="32" name="Text 30"/>
          <p:cNvSpPr/>
          <p:nvPr/>
        </p:nvSpPr>
        <p:spPr>
          <a:xfrm>
            <a:off x="9747504" y="3273552"/>
            <a:ext cx="1645920" cy="731520"/>
          </a:xfrm>
          <a:prstGeom prst="rect">
            <a:avLst/>
          </a:prstGeom>
          <a:noFill/>
          <a:ln/>
        </p:spPr>
        <p:txBody>
          <a:bodyPr wrap="square" lIns="0" tIns="0" rIns="0" bIns="0" rtlCol="0" anchor="ctr"/>
          <a:lstStyle/>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one attempt,</a:t>
            </a:r>
            <a:endParaRPr lang="en-US" sz="1150" dirty="0"/>
          </a:p>
          <a:p>
            <a:pPr indent="0" marL="0">
              <a:lnSpc>
                <a:spcPct val="105000"/>
              </a:lnSpc>
              <a:buNone/>
            </a:pPr>
            <a:r>
              <a:rPr lang="en-US" sz="1150" dirty="0">
                <a:solidFill>
                  <a:srgbClr val="4A5A66"/>
                </a:solidFill>
                <a:latin typeface="Calibri" pitchFamily="34" charset="0"/>
                <a:ea typeface="Calibri" pitchFamily="34" charset="-122"/>
                <a:cs typeface="Calibri" pitchFamily="34" charset="-120"/>
              </a:rPr>
              <a:t>10 s timeout</a:t>
            </a:r>
            <a:endParaRPr lang="en-US" sz="1150" dirty="0"/>
          </a:p>
        </p:txBody>
      </p:sp>
      <p:sp>
        <p:nvSpPr>
          <p:cNvPr id="33" name="Shape 31"/>
          <p:cNvSpPr/>
          <p:nvPr/>
        </p:nvSpPr>
        <p:spPr>
          <a:xfrm>
            <a:off x="548640" y="4572000"/>
            <a:ext cx="11064240" cy="1417320"/>
          </a:xfrm>
          <a:prstGeom prst="roundRect">
            <a:avLst>
              <a:gd name="adj" fmla="val 3871"/>
            </a:avLst>
          </a:prstGeom>
          <a:solidFill>
            <a:srgbClr val="FBF0E8"/>
          </a:solidFill>
          <a:ln w="6350">
            <a:solidFill>
              <a:srgbClr val="FBF0E8"/>
            </a:solidFill>
            <a:prstDash val="solid"/>
          </a:ln>
        </p:spPr>
      </p:sp>
      <p:sp>
        <p:nvSpPr>
          <p:cNvPr id="34" name="Text 32"/>
          <p:cNvSpPr/>
          <p:nvPr/>
        </p:nvSpPr>
        <p:spPr>
          <a:xfrm>
            <a:off x="868680" y="4754880"/>
            <a:ext cx="3840480" cy="320040"/>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Not implemented</a:t>
            </a:r>
            <a:endParaRPr lang="en-US" sz="1500" dirty="0"/>
          </a:p>
        </p:txBody>
      </p:sp>
      <p:sp>
        <p:nvSpPr>
          <p:cNvPr id="35" name="Text 33"/>
          <p:cNvSpPr/>
          <p:nvPr/>
        </p:nvSpPr>
        <p:spPr>
          <a:xfrm>
            <a:off x="868680" y="5102352"/>
            <a:ext cx="10424160" cy="256032"/>
          </a:xfrm>
          <a:prstGeom prst="rect">
            <a:avLst/>
          </a:prstGeom>
          <a:noFill/>
          <a:ln/>
        </p:spPr>
        <p:txBody>
          <a:bodyPr wrap="square" lIns="0" tIns="0" rIns="0" bIns="0" rtlCol="0" anchor="ctr"/>
          <a:lstStyle/>
          <a:p>
            <a:pPr indent="0" marL="0">
              <a:buNone/>
            </a:pPr>
            <a:r>
              <a:rPr lang="en-US" sz="1250" b="1" dirty="0">
                <a:solidFill>
                  <a:srgbClr val="4A3529"/>
                </a:solidFill>
                <a:latin typeface="Calibri" pitchFamily="34" charset="0"/>
                <a:ea typeface="Calibri" pitchFamily="34" charset="-122"/>
                <a:cs typeface="Calibri" pitchFamily="34" charset="-120"/>
              </a:rPr>
              <a:t>Mapped-port discovery. </a:t>
            </a:r>
            <a:pPr indent="0" marL="0">
              <a:buNone/>
            </a:pPr>
            <a:r>
              <a:rPr lang="en-US" sz="1250" dirty="0">
                <a:solidFill>
                  <a:srgbClr val="4A3529"/>
                </a:solidFill>
                <a:latin typeface="Calibri" pitchFamily="34" charset="0"/>
                <a:ea typeface="Calibri" pitchFamily="34" charset="-122"/>
                <a:cs typeface="Calibri" pitchFamily="34" charset="-120"/>
              </a:rPr>
              <a:t>We advertise the discovered public IP paired with our own </a:t>
            </a:r>
            <a:pPr indent="0" marL="0">
              <a:buNone/>
            </a:pPr>
            <a:r>
              <a:rPr lang="en-US" sz="1250" i="1" dirty="0">
                <a:solidFill>
                  <a:srgbClr val="4A3529"/>
                </a:solidFill>
                <a:latin typeface="Calibri" pitchFamily="34" charset="0"/>
                <a:ea typeface="Calibri" pitchFamily="34" charset="-122"/>
                <a:cs typeface="Calibri" pitchFamily="34" charset="-120"/>
              </a:rPr>
              <a:t>local</a:t>
            </a:r>
            <a:pPr indent="0" marL="0">
              <a:buNone/>
            </a:pPr>
            <a:r>
              <a:rPr lang="en-US" sz="1250" dirty="0">
                <a:solidFill>
                  <a:srgbClr val="4A3529"/>
                </a:solidFill>
                <a:latin typeface="Calibri" pitchFamily="34" charset="0"/>
                <a:ea typeface="Calibri" pitchFamily="34" charset="-122"/>
                <a:cs typeface="Calibri" pitchFamily="34" charset="-120"/>
              </a:rPr>
              <a:t> port.</a:t>
            </a:r>
            <a:endParaRPr lang="en-US" sz="1250" dirty="0"/>
          </a:p>
        </p:txBody>
      </p:sp>
      <p:sp>
        <p:nvSpPr>
          <p:cNvPr id="36" name="Text 34"/>
          <p:cNvSpPr/>
          <p:nvPr/>
        </p:nvSpPr>
        <p:spPr>
          <a:xfrm>
            <a:off x="868680" y="5376672"/>
            <a:ext cx="10424160" cy="256032"/>
          </a:xfrm>
          <a:prstGeom prst="rect">
            <a:avLst/>
          </a:prstGeom>
          <a:noFill/>
          <a:ln/>
        </p:spPr>
        <p:txBody>
          <a:bodyPr wrap="square" lIns="0" tIns="0" rIns="0" bIns="0" rtlCol="0" anchor="ctr"/>
          <a:lstStyle/>
          <a:p>
            <a:pPr indent="0" marL="0">
              <a:buNone/>
            </a:pPr>
            <a:r>
              <a:rPr lang="en-US" sz="1250" b="1" dirty="0">
                <a:solidFill>
                  <a:srgbClr val="4A3529"/>
                </a:solidFill>
                <a:latin typeface="Calibri" pitchFamily="34" charset="0"/>
                <a:ea typeface="Calibri" pitchFamily="34" charset="-122"/>
                <a:cs typeface="Calibri" pitchFamily="34" charset="-120"/>
              </a:rPr>
              <a:t>Punch verification. </a:t>
            </a:r>
            <a:pPr indent="0" marL="0">
              <a:buNone/>
            </a:pPr>
            <a:r>
              <a:rPr lang="en-US" sz="1250" dirty="0">
                <a:solidFill>
                  <a:srgbClr val="4A3529"/>
                </a:solidFill>
                <a:latin typeface="Calibri" pitchFamily="34" charset="0"/>
                <a:ea typeface="Calibri" pitchFamily="34" charset="-122"/>
                <a:cs typeface="Calibri" pitchFamily="34" charset="-120"/>
              </a:rPr>
              <a:t>The closed-loop mode has no production caller and cannot run, since the multiplexer owns socket reads.</a:t>
            </a:r>
            <a:endParaRPr lang="en-US" sz="1250" dirty="0"/>
          </a:p>
        </p:txBody>
      </p:sp>
      <p:sp>
        <p:nvSpPr>
          <p:cNvPr id="37" name="Text 35"/>
          <p:cNvSpPr/>
          <p:nvPr/>
        </p:nvSpPr>
        <p:spPr>
          <a:xfrm>
            <a:off x="868680" y="5650992"/>
            <a:ext cx="10424160" cy="256032"/>
          </a:xfrm>
          <a:prstGeom prst="rect">
            <a:avLst/>
          </a:prstGeom>
          <a:noFill/>
          <a:ln/>
        </p:spPr>
        <p:txBody>
          <a:bodyPr wrap="square" lIns="0" tIns="0" rIns="0" bIns="0" rtlCol="0" anchor="ctr"/>
          <a:lstStyle/>
          <a:p>
            <a:pPr indent="0" marL="0">
              <a:buNone/>
            </a:pPr>
            <a:r>
              <a:rPr lang="en-US" sz="1250" b="1" dirty="0">
                <a:solidFill>
                  <a:srgbClr val="4A3529"/>
                </a:solidFill>
                <a:latin typeface="Calibri" pitchFamily="34" charset="0"/>
                <a:ea typeface="Calibri" pitchFamily="34" charset="-122"/>
                <a:cs typeface="Calibri" pitchFamily="34" charset="-120"/>
              </a:rPr>
              <a:t>Instrumentation. </a:t>
            </a:r>
            <a:pPr indent="0" marL="0">
              <a:buNone/>
            </a:pPr>
            <a:r>
              <a:rPr lang="en-US" sz="1250" dirty="0">
                <a:solidFill>
                  <a:srgbClr val="4A3529"/>
                </a:solidFill>
                <a:latin typeface="Calibri" pitchFamily="34" charset="0"/>
                <a:ea typeface="Calibri" pitchFamily="34" charset="-122"/>
                <a:cs typeface="Calibri" pitchFamily="34" charset="-120"/>
              </a:rPr>
              <a:t>No timestamps and no attempt identifier, and the reducer discards the failure reason.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ISWELLCONNECTED</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Self-classification</a:t>
            </a:r>
            <a:endParaRPr lang="en-US" sz="3400" dirty="0"/>
          </a:p>
        </p:txBody>
      </p:sp>
      <p:sp>
        <p:nvSpPr>
          <p:cNvPr id="4" name="Text 2"/>
          <p:cNvSpPr/>
          <p:nvPr/>
        </p:nvSpPr>
        <p:spPr>
          <a:xfrm>
            <a:off x="548640" y="1783080"/>
            <a:ext cx="11064240" cy="658368"/>
          </a:xfrm>
          <a:prstGeom prst="rect">
            <a:avLst/>
          </a:prstGeom>
          <a:noFill/>
          <a:ln/>
        </p:spPr>
        <p:txBody>
          <a:bodyPr wrap="square" lIns="0" tIns="0" rIns="0" bIns="0" rtlCol="0" anchor="ctr"/>
          <a:lstStyle/>
          <a:p>
            <a:pPr indent="0" marL="0">
              <a:lnSpc>
                <a:spcPct val="110000"/>
              </a:lnSpc>
              <a:buNone/>
            </a:pPr>
            <a:r>
              <a:rPr lang="en-US" sz="1500" dirty="0">
                <a:solidFill>
                  <a:srgbClr val="B7C4CC"/>
                </a:solidFill>
                <a:latin typeface="Calibri" pitchFamily="34" charset="0"/>
                <a:ea typeface="Calibri" pitchFamily="34" charset="-122"/>
                <a:cs typeface="Calibri" pitchFamily="34" charset="-120"/>
              </a:rPr>
              <a:t>A handset behind a carrier NAT requests its address from the reflection service and receives the carrier’s outer public IP, as it never observes its own 100.64 inner address. It therefore advertises a globally routable address, and is classified accordingly by itself and by its peers:</a:t>
            </a:r>
            <a:endParaRPr lang="en-US" sz="1500" dirty="0"/>
          </a:p>
        </p:txBody>
      </p:sp>
      <p:sp>
        <p:nvSpPr>
          <p:cNvPr id="5" name="Shape 3"/>
          <p:cNvSpPr/>
          <p:nvPr/>
        </p:nvSpPr>
        <p:spPr>
          <a:xfrm>
            <a:off x="548640" y="2606040"/>
            <a:ext cx="5486400" cy="1371600"/>
          </a:xfrm>
          <a:prstGeom prst="roundRect">
            <a:avLst>
              <a:gd name="adj" fmla="val 4000"/>
            </a:avLst>
          </a:prstGeom>
          <a:solidFill>
            <a:srgbClr val="25323F"/>
          </a:solidFill>
          <a:ln w="6350">
            <a:solidFill>
              <a:srgbClr val="25323F"/>
            </a:solidFill>
            <a:prstDash val="solid"/>
          </a:ln>
        </p:spPr>
      </p:sp>
      <p:sp>
        <p:nvSpPr>
          <p:cNvPr id="6" name="Text 4"/>
          <p:cNvSpPr/>
          <p:nvPr/>
        </p:nvSpPr>
        <p:spPr>
          <a:xfrm>
            <a:off x="914400" y="2852928"/>
            <a:ext cx="4754880" cy="365760"/>
          </a:xfrm>
          <a:prstGeom prst="rect">
            <a:avLst/>
          </a:prstGeom>
          <a:noFill/>
          <a:ln/>
        </p:spPr>
        <p:txBody>
          <a:bodyPr wrap="square" lIns="0" tIns="0" rIns="0" bIns="0" rtlCol="0" anchor="ctr"/>
          <a:lstStyle/>
          <a:p>
            <a:pPr indent="0" marL="0">
              <a:buNone/>
            </a:pPr>
            <a:r>
              <a:rPr lang="en-US" sz="1900" b="1" dirty="0">
                <a:solidFill>
                  <a:srgbClr val="FFFFFF"/>
                </a:solidFill>
                <a:latin typeface="Courier New" pitchFamily="34" charset="0"/>
                <a:ea typeface="Courier New" pitchFamily="34" charset="-122"/>
                <a:cs typeface="Courier New" pitchFamily="34" charset="-120"/>
              </a:rPr>
              <a:t>isWellConnected = true</a:t>
            </a:r>
            <a:endParaRPr lang="en-US" sz="1900" dirty="0"/>
          </a:p>
        </p:txBody>
      </p:sp>
      <p:sp>
        <p:nvSpPr>
          <p:cNvPr id="7" name="Text 5"/>
          <p:cNvSpPr/>
          <p:nvPr/>
        </p:nvSpPr>
        <p:spPr>
          <a:xfrm>
            <a:off x="914400" y="3291840"/>
            <a:ext cx="4754880" cy="320040"/>
          </a:xfrm>
          <a:prstGeom prst="rect">
            <a:avLst/>
          </a:prstGeom>
          <a:noFill/>
          <a:ln/>
        </p:spPr>
        <p:txBody>
          <a:bodyPr wrap="square" lIns="0" tIns="0" rIns="0" bIns="0" rtlCol="0" anchor="ctr"/>
          <a:lstStyle/>
          <a:p>
            <a:pPr indent="0" marL="0">
              <a:buNone/>
            </a:pPr>
            <a:r>
              <a:rPr lang="en-US" sz="1300" dirty="0">
                <a:solidFill>
                  <a:srgbClr val="93A4AE"/>
                </a:solidFill>
                <a:latin typeface="Calibri" pitchFamily="34" charset="0"/>
                <a:ea typeface="Calibri" pitchFamily="34" charset="-122"/>
                <a:cs typeface="Calibri" pitchFamily="34" charset="-120"/>
              </a:rPr>
              <a:t>Reported to the user as well-connected.</a:t>
            </a:r>
            <a:endParaRPr lang="en-US" sz="1300" dirty="0"/>
          </a:p>
        </p:txBody>
      </p:sp>
      <p:sp>
        <p:nvSpPr>
          <p:cNvPr id="8" name="Shape 6"/>
          <p:cNvSpPr/>
          <p:nvPr/>
        </p:nvSpPr>
        <p:spPr>
          <a:xfrm>
            <a:off x="6355080" y="2606040"/>
            <a:ext cx="5257800" cy="1371600"/>
          </a:xfrm>
          <a:prstGeom prst="roundRect">
            <a:avLst>
              <a:gd name="adj" fmla="val 4000"/>
            </a:avLst>
          </a:prstGeom>
          <a:solidFill>
            <a:srgbClr val="3A2A22"/>
          </a:solidFill>
          <a:ln w="6350">
            <a:solidFill>
              <a:srgbClr val="3A2A22"/>
            </a:solidFill>
            <a:prstDash val="solid"/>
          </a:ln>
        </p:spPr>
      </p:sp>
      <p:sp>
        <p:nvSpPr>
          <p:cNvPr id="9" name="Text 7"/>
          <p:cNvSpPr/>
          <p:nvPr/>
        </p:nvSpPr>
        <p:spPr>
          <a:xfrm>
            <a:off x="6720840" y="2788920"/>
            <a:ext cx="4572000" cy="292608"/>
          </a:xfrm>
          <a:prstGeom prst="rect">
            <a:avLst/>
          </a:prstGeom>
          <a:noFill/>
          <a:ln/>
        </p:spPr>
        <p:txBody>
          <a:bodyPr wrap="square" lIns="0" tIns="0" rIns="0" bIns="0" rtlCol="0" anchor="ctr"/>
          <a:lstStyle/>
          <a:p>
            <a:pPr indent="0" marL="0">
              <a:buNone/>
            </a:pPr>
            <a:r>
              <a:rPr lang="en-US" sz="1500" b="1" dirty="0">
                <a:solidFill>
                  <a:srgbClr val="E9A876"/>
                </a:solidFill>
                <a:latin typeface="Cambria" pitchFamily="34" charset="0"/>
                <a:ea typeface="Cambria" pitchFamily="34" charset="-122"/>
                <a:cs typeface="Cambria" pitchFamily="34" charset="-120"/>
              </a:rPr>
              <a:t>Two errors</a:t>
            </a:r>
            <a:endParaRPr lang="en-US" sz="1500" dirty="0"/>
          </a:p>
        </p:txBody>
      </p:sp>
      <p:sp>
        <p:nvSpPr>
          <p:cNvPr id="10" name="Text 8"/>
          <p:cNvSpPr/>
          <p:nvPr/>
        </p:nvSpPr>
        <p:spPr>
          <a:xfrm>
            <a:off x="6720840" y="3127248"/>
            <a:ext cx="4572000" cy="640080"/>
          </a:xfrm>
          <a:prstGeom prst="rect">
            <a:avLst/>
          </a:prstGeom>
          <a:noFill/>
          <a:ln/>
        </p:spPr>
        <p:txBody>
          <a:bodyPr wrap="square" lIns="0" tIns="0" rIns="0" bIns="0" rtlCol="0" anchor="ctr"/>
          <a:lstStyle/>
          <a:p>
            <a:pPr indent="0" marL="0">
              <a:lnSpc>
                <a:spcPct val="105000"/>
              </a:lnSpc>
              <a:buNone/>
            </a:pPr>
            <a:r>
              <a:rPr lang="en-US" sz="1300" dirty="0">
                <a:solidFill>
                  <a:srgbClr val="D8C3B4"/>
                </a:solidFill>
                <a:latin typeface="Calibri" pitchFamily="34" charset="0"/>
                <a:ea typeface="Calibri" pitchFamily="34" charset="-122"/>
                <a:cs typeface="Calibri" pitchFamily="34" charset="-120"/>
              </a:rPr>
              <a:t>The advertised port is the local port rather than the mapped one, and the carrier NAT does not accept unsolicited inbound traffic at all.</a:t>
            </a:r>
            <a:endParaRPr lang="en-US" sz="1300" dirty="0"/>
          </a:p>
        </p:txBody>
      </p:sp>
      <p:sp>
        <p:nvSpPr>
          <p:cNvPr id="11" name="Text 9"/>
          <p:cNvSpPr/>
          <p:nvPr/>
        </p:nvSpPr>
        <p:spPr>
          <a:xfrm>
            <a:off x="548640" y="4251960"/>
            <a:ext cx="1106424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Consequences</a:t>
            </a:r>
            <a:endParaRPr lang="en-US" sz="1600" dirty="0"/>
          </a:p>
        </p:txBody>
      </p:sp>
      <p:sp>
        <p:nvSpPr>
          <p:cNvPr id="12" name="Shape 10"/>
          <p:cNvSpPr/>
          <p:nvPr/>
        </p:nvSpPr>
        <p:spPr>
          <a:xfrm>
            <a:off x="594360" y="4764024"/>
            <a:ext cx="146304" cy="146304"/>
          </a:xfrm>
          <a:prstGeom prst="ellipse">
            <a:avLst/>
          </a:prstGeom>
          <a:solidFill>
            <a:srgbClr val="C25E28"/>
          </a:solidFill>
          <a:ln w="12700">
            <a:solidFill>
              <a:srgbClr val="C25E28"/>
            </a:solidFill>
            <a:prstDash val="solid"/>
          </a:ln>
        </p:spPr>
      </p:sp>
      <p:sp>
        <p:nvSpPr>
          <p:cNvPr id="13" name="Text 11"/>
          <p:cNvSpPr/>
          <p:nvPr/>
        </p:nvSpPr>
        <p:spPr>
          <a:xfrm>
            <a:off x="932688" y="4681728"/>
            <a:ext cx="10607040" cy="365760"/>
          </a:xfrm>
          <a:prstGeom prst="rect">
            <a:avLst/>
          </a:prstGeom>
          <a:noFill/>
          <a:ln/>
        </p:spPr>
        <p:txBody>
          <a:bodyPr wrap="square" lIns="0" tIns="0" rIns="0" bIns="0" rtlCol="0" anchor="ctr"/>
          <a:lstStyle/>
          <a:p>
            <a:pPr indent="0" marL="0">
              <a:buNone/>
            </a:pPr>
            <a:r>
              <a:rPr lang="en-US" sz="1350" dirty="0">
                <a:solidFill>
                  <a:srgbClr val="C3CFD6"/>
                </a:solidFill>
                <a:latin typeface="Calibri" pitchFamily="34" charset="0"/>
                <a:ea typeface="Calibri" pitchFamily="34" charset="-122"/>
                <a:cs typeface="Calibri" pitchFamily="34" charset="-120"/>
              </a:rPr>
              <a:t>The pre-connect punch is suppressed for peers that appear public, and is therefore skipped for the peers that require it.</a:t>
            </a:r>
            <a:endParaRPr lang="en-US" sz="1350" dirty="0"/>
          </a:p>
        </p:txBody>
      </p:sp>
      <p:sp>
        <p:nvSpPr>
          <p:cNvPr id="14" name="Shape 12"/>
          <p:cNvSpPr/>
          <p:nvPr/>
        </p:nvSpPr>
        <p:spPr>
          <a:xfrm>
            <a:off x="594360" y="5166360"/>
            <a:ext cx="146304" cy="146304"/>
          </a:xfrm>
          <a:prstGeom prst="ellipse">
            <a:avLst/>
          </a:prstGeom>
          <a:solidFill>
            <a:srgbClr val="C25E28"/>
          </a:solidFill>
          <a:ln w="12700">
            <a:solidFill>
              <a:srgbClr val="C25E28"/>
            </a:solidFill>
            <a:prstDash val="solid"/>
          </a:ln>
        </p:spPr>
      </p:sp>
      <p:sp>
        <p:nvSpPr>
          <p:cNvPr id="15" name="Text 13"/>
          <p:cNvSpPr/>
          <p:nvPr/>
        </p:nvSpPr>
        <p:spPr>
          <a:xfrm>
            <a:off x="932688" y="5084064"/>
            <a:ext cx="10607040" cy="365760"/>
          </a:xfrm>
          <a:prstGeom prst="rect">
            <a:avLst/>
          </a:prstGeom>
          <a:noFill/>
          <a:ln/>
        </p:spPr>
        <p:txBody>
          <a:bodyPr wrap="square" lIns="0" tIns="0" rIns="0" bIns="0" rtlCol="0" anchor="ctr"/>
          <a:lstStyle/>
          <a:p>
            <a:pPr indent="0" marL="0">
              <a:buNone/>
            </a:pPr>
            <a:r>
              <a:rPr lang="en-US" sz="1350" dirty="0">
                <a:solidFill>
                  <a:srgbClr val="C3CFD6"/>
                </a:solidFill>
                <a:latin typeface="Calibri" pitchFamily="34" charset="0"/>
                <a:ea typeface="Calibri" pitchFamily="34" charset="-122"/>
                <a:cs typeface="Calibri" pitchFamily="34" charset="-120"/>
              </a:rPr>
              <a:t>The device begins acting as an address reflector and rendezvous facilitator for its friends.</a:t>
            </a:r>
            <a:endParaRPr lang="en-US" sz="1350" dirty="0"/>
          </a:p>
        </p:txBody>
      </p:sp>
      <p:sp>
        <p:nvSpPr>
          <p:cNvPr id="16" name="Shape 14"/>
          <p:cNvSpPr/>
          <p:nvPr/>
        </p:nvSpPr>
        <p:spPr>
          <a:xfrm>
            <a:off x="594360" y="5568696"/>
            <a:ext cx="146304" cy="146304"/>
          </a:xfrm>
          <a:prstGeom prst="ellipse">
            <a:avLst/>
          </a:prstGeom>
          <a:solidFill>
            <a:srgbClr val="C25E28"/>
          </a:solidFill>
          <a:ln w="12700">
            <a:solidFill>
              <a:srgbClr val="C25E28"/>
            </a:solidFill>
            <a:prstDash val="solid"/>
          </a:ln>
        </p:spPr>
      </p:sp>
      <p:sp>
        <p:nvSpPr>
          <p:cNvPr id="17" name="Text 15"/>
          <p:cNvSpPr/>
          <p:nvPr/>
        </p:nvSpPr>
        <p:spPr>
          <a:xfrm>
            <a:off x="932688" y="5486400"/>
            <a:ext cx="10607040" cy="365760"/>
          </a:xfrm>
          <a:prstGeom prst="rect">
            <a:avLst/>
          </a:prstGeom>
          <a:noFill/>
          <a:ln/>
        </p:spPr>
        <p:txBody>
          <a:bodyPr wrap="square" lIns="0" tIns="0" rIns="0" bIns="0" rtlCol="0" anchor="ctr"/>
          <a:lstStyle/>
          <a:p>
            <a:pPr indent="0" marL="0">
              <a:buNone/>
            </a:pPr>
            <a:r>
              <a:rPr lang="en-US" sz="1350" dirty="0">
                <a:solidFill>
                  <a:srgbClr val="C3CFD6"/>
                </a:solidFill>
                <a:latin typeface="Calibri" pitchFamily="34" charset="0"/>
                <a:ea typeface="Calibri" pitchFamily="34" charset="-122"/>
                <a:cs typeface="Calibri" pitchFamily="34" charset="-120"/>
              </a:rPr>
              <a:t>Nothing distinguishes having a public address from being reachable at it.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WHAT WE CANNOT DETERMINE</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Gaps in the current implementation</a:t>
            </a:r>
            <a:endParaRPr lang="en-US" sz="3400" dirty="0"/>
          </a:p>
        </p:txBody>
      </p:sp>
      <p:sp>
        <p:nvSpPr>
          <p:cNvPr id="4" name="Shape 2"/>
          <p:cNvSpPr/>
          <p:nvPr/>
        </p:nvSpPr>
        <p:spPr>
          <a:xfrm>
            <a:off x="548640" y="1965960"/>
            <a:ext cx="5440680" cy="1600200"/>
          </a:xfrm>
          <a:prstGeom prst="roundRect">
            <a:avLst>
              <a:gd name="adj" fmla="val 3429"/>
            </a:avLst>
          </a:prstGeom>
          <a:solidFill>
            <a:srgbClr val="EEF3F4"/>
          </a:solidFill>
          <a:ln w="6350">
            <a:solidFill>
              <a:srgbClr val="EEF3F4"/>
            </a:solidFill>
            <a:prstDash val="solid"/>
          </a:ln>
        </p:spPr>
      </p:sp>
      <p:sp>
        <p:nvSpPr>
          <p:cNvPr id="5" name="Shape 3"/>
          <p:cNvSpPr/>
          <p:nvPr/>
        </p:nvSpPr>
        <p:spPr>
          <a:xfrm>
            <a:off x="841248" y="2350008"/>
            <a:ext cx="310896" cy="310896"/>
          </a:xfrm>
          <a:prstGeom prst="ellipse">
            <a:avLst/>
          </a:prstGeom>
          <a:solidFill>
            <a:srgbClr val="C25E28"/>
          </a:solidFill>
          <a:ln w="12700">
            <a:solidFill>
              <a:srgbClr val="C25E28"/>
            </a:solidFill>
            <a:prstDash val="solid"/>
          </a:ln>
        </p:spPr>
      </p:sp>
      <p:sp>
        <p:nvSpPr>
          <p:cNvPr id="6" name="Text 4"/>
          <p:cNvSpPr/>
          <p:nvPr/>
        </p:nvSpPr>
        <p:spPr>
          <a:xfrm>
            <a:off x="1325880" y="2313432"/>
            <a:ext cx="4343400" cy="365760"/>
          </a:xfrm>
          <a:prstGeom prst="rect">
            <a:avLst/>
          </a:prstGeom>
          <a:noFill/>
          <a:ln/>
        </p:spPr>
        <p:txBody>
          <a:bodyPr wrap="square" lIns="0" tIns="0" rIns="0" bIns="0" rtlCol="0" anchor="ctr"/>
          <a:lstStyle/>
          <a:p>
            <a:pPr indent="0" marL="0">
              <a:buNone/>
            </a:pPr>
            <a:r>
              <a:rPr lang="en-US" sz="1700" b="1" dirty="0">
                <a:solidFill>
                  <a:srgbClr val="16202A"/>
                </a:solidFill>
                <a:latin typeface="Cambria" pitchFamily="34" charset="0"/>
                <a:ea typeface="Cambria" pitchFamily="34" charset="-122"/>
                <a:cs typeface="Cambria" pitchFamily="34" charset="-120"/>
              </a:rPr>
              <a:t>No NAT classification</a:t>
            </a:r>
            <a:endParaRPr lang="en-US" sz="1700" dirty="0"/>
          </a:p>
        </p:txBody>
      </p:sp>
      <p:sp>
        <p:nvSpPr>
          <p:cNvPr id="7" name="Text 5"/>
          <p:cNvSpPr/>
          <p:nvPr/>
        </p:nvSpPr>
        <p:spPr>
          <a:xfrm>
            <a:off x="1325880" y="2715768"/>
            <a:ext cx="4343400" cy="685800"/>
          </a:xfrm>
          <a:prstGeom prst="rect">
            <a:avLst/>
          </a:prstGeom>
          <a:noFill/>
          <a:ln/>
        </p:spPr>
        <p:txBody>
          <a:bodyPr wrap="square" lIns="0" tIns="0" rIns="0" bIns="0" rtlCol="0" anchor="ctr"/>
          <a:lstStyle/>
          <a:p>
            <a:pPr indent="0" marL="0">
              <a:lnSpc>
                <a:spcPct val="108000"/>
              </a:lnSpc>
              <a:buNone/>
            </a:pPr>
            <a:r>
              <a:rPr lang="en-US" sz="1250" dirty="0">
                <a:solidFill>
                  <a:srgbClr val="4A5A66"/>
                </a:solidFill>
                <a:latin typeface="Calibri" pitchFamily="34" charset="0"/>
                <a:ea typeface="Calibri" pitchFamily="34" charset="-122"/>
                <a:cs typeface="Calibri" pitchFamily="34" charset="-120"/>
              </a:rPr>
              <a:t>No code determines mapping or filtering behaviour; a routability check over the advertised string stands in for it.</a:t>
            </a:r>
            <a:endParaRPr lang="en-US" sz="1250" dirty="0"/>
          </a:p>
        </p:txBody>
      </p:sp>
      <p:sp>
        <p:nvSpPr>
          <p:cNvPr id="8" name="Shape 6"/>
          <p:cNvSpPr/>
          <p:nvPr/>
        </p:nvSpPr>
        <p:spPr>
          <a:xfrm>
            <a:off x="6172200" y="1965960"/>
            <a:ext cx="5440680" cy="1600200"/>
          </a:xfrm>
          <a:prstGeom prst="roundRect">
            <a:avLst>
              <a:gd name="adj" fmla="val 3429"/>
            </a:avLst>
          </a:prstGeom>
          <a:solidFill>
            <a:srgbClr val="EEF3F4"/>
          </a:solidFill>
          <a:ln w="6350">
            <a:solidFill>
              <a:srgbClr val="EEF3F4"/>
            </a:solidFill>
            <a:prstDash val="solid"/>
          </a:ln>
        </p:spPr>
      </p:sp>
      <p:sp>
        <p:nvSpPr>
          <p:cNvPr id="9" name="Shape 7"/>
          <p:cNvSpPr/>
          <p:nvPr/>
        </p:nvSpPr>
        <p:spPr>
          <a:xfrm>
            <a:off x="6464808" y="2350008"/>
            <a:ext cx="310896" cy="310896"/>
          </a:xfrm>
          <a:prstGeom prst="ellipse">
            <a:avLst/>
          </a:prstGeom>
          <a:solidFill>
            <a:srgbClr val="C25E28"/>
          </a:solidFill>
          <a:ln w="12700">
            <a:solidFill>
              <a:srgbClr val="C25E28"/>
            </a:solidFill>
            <a:prstDash val="solid"/>
          </a:ln>
        </p:spPr>
      </p:sp>
      <p:sp>
        <p:nvSpPr>
          <p:cNvPr id="10" name="Text 8"/>
          <p:cNvSpPr/>
          <p:nvPr/>
        </p:nvSpPr>
        <p:spPr>
          <a:xfrm>
            <a:off x="6949440" y="2313432"/>
            <a:ext cx="4343400" cy="365760"/>
          </a:xfrm>
          <a:prstGeom prst="rect">
            <a:avLst/>
          </a:prstGeom>
          <a:noFill/>
          <a:ln/>
        </p:spPr>
        <p:txBody>
          <a:bodyPr wrap="square" lIns="0" tIns="0" rIns="0" bIns="0" rtlCol="0" anchor="ctr"/>
          <a:lstStyle/>
          <a:p>
            <a:pPr indent="0" marL="0">
              <a:buNone/>
            </a:pPr>
            <a:r>
              <a:rPr lang="en-US" sz="1700" b="1" dirty="0">
                <a:solidFill>
                  <a:srgbClr val="16202A"/>
                </a:solidFill>
                <a:latin typeface="Cambria" pitchFamily="34" charset="0"/>
                <a:ea typeface="Cambria" pitchFamily="34" charset="-122"/>
                <a:cs typeface="Cambria" pitchFamily="34" charset="-120"/>
              </a:rPr>
              <a:t>No mapped-port discovery</a:t>
            </a:r>
            <a:endParaRPr lang="en-US" sz="1700" dirty="0"/>
          </a:p>
        </p:txBody>
      </p:sp>
      <p:sp>
        <p:nvSpPr>
          <p:cNvPr id="11" name="Text 9"/>
          <p:cNvSpPr/>
          <p:nvPr/>
        </p:nvSpPr>
        <p:spPr>
          <a:xfrm>
            <a:off x="6949440" y="2715768"/>
            <a:ext cx="4343400" cy="685800"/>
          </a:xfrm>
          <a:prstGeom prst="rect">
            <a:avLst/>
          </a:prstGeom>
          <a:noFill/>
          <a:ln/>
        </p:spPr>
        <p:txBody>
          <a:bodyPr wrap="square" lIns="0" tIns="0" rIns="0" bIns="0" rtlCol="0" anchor="ctr"/>
          <a:lstStyle/>
          <a:p>
            <a:pPr indent="0" marL="0">
              <a:lnSpc>
                <a:spcPct val="108000"/>
              </a:lnSpc>
              <a:buNone/>
            </a:pPr>
            <a:r>
              <a:rPr lang="en-US" sz="1250" dirty="0">
                <a:solidFill>
                  <a:srgbClr val="4A5A66"/>
                </a:solidFill>
                <a:latin typeface="Calibri" pitchFamily="34" charset="0"/>
                <a:ea typeface="Calibri" pitchFamily="34" charset="-122"/>
                <a:cs typeface="Calibri" pitchFamily="34" charset="-120"/>
              </a:rPr>
              <a:t>The mapped port arrives only from a peer already connected, which is of no use for a first contact.</a:t>
            </a:r>
            <a:endParaRPr lang="en-US" sz="1250" dirty="0"/>
          </a:p>
        </p:txBody>
      </p:sp>
      <p:sp>
        <p:nvSpPr>
          <p:cNvPr id="12" name="Shape 10"/>
          <p:cNvSpPr/>
          <p:nvPr/>
        </p:nvSpPr>
        <p:spPr>
          <a:xfrm>
            <a:off x="548640" y="3794760"/>
            <a:ext cx="5440680" cy="1600200"/>
          </a:xfrm>
          <a:prstGeom prst="roundRect">
            <a:avLst>
              <a:gd name="adj" fmla="val 3429"/>
            </a:avLst>
          </a:prstGeom>
          <a:solidFill>
            <a:srgbClr val="EEF3F4"/>
          </a:solidFill>
          <a:ln w="6350">
            <a:solidFill>
              <a:srgbClr val="EEF3F4"/>
            </a:solidFill>
            <a:prstDash val="solid"/>
          </a:ln>
        </p:spPr>
      </p:sp>
      <p:sp>
        <p:nvSpPr>
          <p:cNvPr id="13" name="Shape 11"/>
          <p:cNvSpPr/>
          <p:nvPr/>
        </p:nvSpPr>
        <p:spPr>
          <a:xfrm>
            <a:off x="841248" y="4178808"/>
            <a:ext cx="310896" cy="310896"/>
          </a:xfrm>
          <a:prstGeom prst="ellipse">
            <a:avLst/>
          </a:prstGeom>
          <a:solidFill>
            <a:srgbClr val="C25E28"/>
          </a:solidFill>
          <a:ln w="12700">
            <a:solidFill>
              <a:srgbClr val="C25E28"/>
            </a:solidFill>
            <a:prstDash val="solid"/>
          </a:ln>
        </p:spPr>
      </p:sp>
      <p:sp>
        <p:nvSpPr>
          <p:cNvPr id="14" name="Text 12"/>
          <p:cNvSpPr/>
          <p:nvPr/>
        </p:nvSpPr>
        <p:spPr>
          <a:xfrm>
            <a:off x="1325880" y="4142232"/>
            <a:ext cx="4343400" cy="365760"/>
          </a:xfrm>
          <a:prstGeom prst="rect">
            <a:avLst/>
          </a:prstGeom>
          <a:noFill/>
          <a:ln/>
        </p:spPr>
        <p:txBody>
          <a:bodyPr wrap="square" lIns="0" tIns="0" rIns="0" bIns="0" rtlCol="0" anchor="ctr"/>
          <a:lstStyle/>
          <a:p>
            <a:pPr indent="0" marL="0">
              <a:buNone/>
            </a:pPr>
            <a:r>
              <a:rPr lang="en-US" sz="1700" b="1" dirty="0">
                <a:solidFill>
                  <a:srgbClr val="16202A"/>
                </a:solidFill>
                <a:latin typeface="Cambria" pitchFamily="34" charset="0"/>
                <a:ea typeface="Cambria" pitchFamily="34" charset="-122"/>
                <a:cs typeface="Cambria" pitchFamily="34" charset="-120"/>
              </a:rPr>
              <a:t>No dial-back, no witnesses</a:t>
            </a:r>
            <a:endParaRPr lang="en-US" sz="1700" dirty="0"/>
          </a:p>
        </p:txBody>
      </p:sp>
      <p:sp>
        <p:nvSpPr>
          <p:cNvPr id="15" name="Text 13"/>
          <p:cNvSpPr/>
          <p:nvPr/>
        </p:nvSpPr>
        <p:spPr>
          <a:xfrm>
            <a:off x="1325880" y="4544568"/>
            <a:ext cx="4343400" cy="685800"/>
          </a:xfrm>
          <a:prstGeom prst="rect">
            <a:avLst/>
          </a:prstGeom>
          <a:noFill/>
          <a:ln/>
        </p:spPr>
        <p:txBody>
          <a:bodyPr wrap="square" lIns="0" tIns="0" rIns="0" bIns="0" rtlCol="0" anchor="ctr"/>
          <a:lstStyle/>
          <a:p>
            <a:pPr indent="0" marL="0">
              <a:lnSpc>
                <a:spcPct val="108000"/>
              </a:lnSpc>
              <a:buNone/>
            </a:pPr>
            <a:r>
              <a:rPr lang="en-US" sz="1250" dirty="0">
                <a:solidFill>
                  <a:srgbClr val="4A5A66"/>
                </a:solidFill>
                <a:latin typeface="Calibri" pitchFamily="34" charset="0"/>
                <a:ea typeface="Calibri" pitchFamily="34" charset="-122"/>
                <a:cs typeface="Calibri" pitchFamily="34" charset="-120"/>
              </a:rPr>
              <a:t>Reachability from outside is asserted from an address prefix and never tested.</a:t>
            </a:r>
            <a:endParaRPr lang="en-US" sz="1250" dirty="0"/>
          </a:p>
        </p:txBody>
      </p:sp>
      <p:sp>
        <p:nvSpPr>
          <p:cNvPr id="16" name="Shape 14"/>
          <p:cNvSpPr/>
          <p:nvPr/>
        </p:nvSpPr>
        <p:spPr>
          <a:xfrm>
            <a:off x="6172200" y="3794760"/>
            <a:ext cx="5440680" cy="1600200"/>
          </a:xfrm>
          <a:prstGeom prst="roundRect">
            <a:avLst>
              <a:gd name="adj" fmla="val 3429"/>
            </a:avLst>
          </a:prstGeom>
          <a:solidFill>
            <a:srgbClr val="EEF3F4"/>
          </a:solidFill>
          <a:ln w="6350">
            <a:solidFill>
              <a:srgbClr val="EEF3F4"/>
            </a:solidFill>
            <a:prstDash val="solid"/>
          </a:ln>
        </p:spPr>
      </p:sp>
      <p:sp>
        <p:nvSpPr>
          <p:cNvPr id="17" name="Shape 15"/>
          <p:cNvSpPr/>
          <p:nvPr/>
        </p:nvSpPr>
        <p:spPr>
          <a:xfrm>
            <a:off x="6464808" y="4178808"/>
            <a:ext cx="310896" cy="310896"/>
          </a:xfrm>
          <a:prstGeom prst="ellipse">
            <a:avLst/>
          </a:prstGeom>
          <a:solidFill>
            <a:srgbClr val="C25E28"/>
          </a:solidFill>
          <a:ln w="12700">
            <a:solidFill>
              <a:srgbClr val="C25E28"/>
            </a:solidFill>
            <a:prstDash val="solid"/>
          </a:ln>
        </p:spPr>
      </p:sp>
      <p:sp>
        <p:nvSpPr>
          <p:cNvPr id="18" name="Text 16"/>
          <p:cNvSpPr/>
          <p:nvPr/>
        </p:nvSpPr>
        <p:spPr>
          <a:xfrm>
            <a:off x="6949440" y="4142232"/>
            <a:ext cx="4343400" cy="365760"/>
          </a:xfrm>
          <a:prstGeom prst="rect">
            <a:avLst/>
          </a:prstGeom>
          <a:noFill/>
          <a:ln/>
        </p:spPr>
        <p:txBody>
          <a:bodyPr wrap="square" lIns="0" tIns="0" rIns="0" bIns="0" rtlCol="0" anchor="ctr"/>
          <a:lstStyle/>
          <a:p>
            <a:pPr indent="0" marL="0">
              <a:buNone/>
            </a:pPr>
            <a:r>
              <a:rPr lang="en-US" sz="1700" b="1" dirty="0">
                <a:solidFill>
                  <a:srgbClr val="16202A"/>
                </a:solidFill>
                <a:latin typeface="Cambria" pitchFamily="34" charset="0"/>
                <a:ea typeface="Cambria" pitchFamily="34" charset="-122"/>
                <a:cs typeface="Cambria" pitchFamily="34" charset="-120"/>
              </a:rPr>
              <a:t>No instrumentation</a:t>
            </a:r>
            <a:endParaRPr lang="en-US" sz="1700" dirty="0"/>
          </a:p>
        </p:txBody>
      </p:sp>
      <p:sp>
        <p:nvSpPr>
          <p:cNvPr id="19" name="Text 17"/>
          <p:cNvSpPr/>
          <p:nvPr/>
        </p:nvSpPr>
        <p:spPr>
          <a:xfrm>
            <a:off x="6949440" y="4544568"/>
            <a:ext cx="4343400" cy="685800"/>
          </a:xfrm>
          <a:prstGeom prst="rect">
            <a:avLst/>
          </a:prstGeom>
          <a:noFill/>
          <a:ln/>
        </p:spPr>
        <p:txBody>
          <a:bodyPr wrap="square" lIns="0" tIns="0" rIns="0" bIns="0" rtlCol="0" anchor="ctr"/>
          <a:lstStyle/>
          <a:p>
            <a:pPr indent="0" marL="0">
              <a:lnSpc>
                <a:spcPct val="108000"/>
              </a:lnSpc>
              <a:buNone/>
            </a:pPr>
            <a:r>
              <a:rPr lang="en-US" sz="1250" dirty="0">
                <a:solidFill>
                  <a:srgbClr val="4A5A66"/>
                </a:solidFill>
                <a:latin typeface="Calibri" pitchFamily="34" charset="0"/>
                <a:ea typeface="Calibri" pitchFamily="34" charset="-122"/>
                <a:cs typeface="Calibri" pitchFamily="34" charset="-120"/>
              </a:rPr>
              <a:t>Punch outcomes are a four-value enumeration without timestamps, and the failure reason is discarded.</a:t>
            </a:r>
            <a:endParaRPr lang="en-US" sz="1250" dirty="0"/>
          </a:p>
        </p:txBody>
      </p:sp>
      <p:sp>
        <p:nvSpPr>
          <p:cNvPr id="20" name="Text 18"/>
          <p:cNvSpPr/>
          <p:nvPr/>
        </p:nvSpPr>
        <p:spPr>
          <a:xfrm>
            <a:off x="548640" y="5806440"/>
            <a:ext cx="11064240" cy="548640"/>
          </a:xfrm>
          <a:prstGeom prst="rect">
            <a:avLst/>
          </a:prstGeom>
          <a:noFill/>
          <a:ln/>
        </p:spPr>
        <p:txBody>
          <a:bodyPr wrap="square" lIns="0" tIns="0" rIns="0" bIns="0" rtlCol="0" anchor="ctr"/>
          <a:lstStyle/>
          <a:p>
            <a:pPr indent="0" marL="0">
              <a:lnSpc>
                <a:spcPct val="110000"/>
              </a:lnSpc>
              <a:buNone/>
            </a:pPr>
            <a:r>
              <a:rPr lang="en-US" sz="1500" i="1" dirty="0">
                <a:solidFill>
                  <a:srgbClr val="0A5A62"/>
                </a:solidFill>
                <a:latin typeface="Calibri" pitchFamily="34" charset="0"/>
                <a:ea typeface="Calibri" pitchFamily="34" charset="-122"/>
                <a:cs typeface="Calibri" pitchFamily="34" charset="-120"/>
              </a:rPr>
              <a:t>Every constant in the transport — the 2 s punch, the 10 s handshake, the 15 s backoff, the 60 s retry — was chosen by intuition rather than derived from measurement.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CGNAT HANDSET TO HOME NAT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Failure walkthrough</a:t>
            </a:r>
            <a:endParaRPr lang="en-US" sz="3400" dirty="0"/>
          </a:p>
        </p:txBody>
      </p:sp>
      <p:sp>
        <p:nvSpPr>
          <p:cNvPr id="4" name="Shape 2"/>
          <p:cNvSpPr/>
          <p:nvPr/>
        </p:nvSpPr>
        <p:spPr>
          <a:xfrm>
            <a:off x="548640" y="1737360"/>
            <a:ext cx="3200400" cy="914400"/>
          </a:xfrm>
          <a:prstGeom prst="roundRect">
            <a:avLst>
              <a:gd name="adj" fmla="val 6000"/>
            </a:avLst>
          </a:prstGeom>
          <a:solidFill>
            <a:srgbClr val="EEF3F4"/>
          </a:solidFill>
          <a:ln w="6350">
            <a:solidFill>
              <a:srgbClr val="EEF3F4"/>
            </a:solidFill>
            <a:prstDash val="solid"/>
          </a:ln>
        </p:spPr>
      </p:sp>
      <p:sp>
        <p:nvSpPr>
          <p:cNvPr id="5" name="Text 3"/>
          <p:cNvSpPr/>
          <p:nvPr/>
        </p:nvSpPr>
        <p:spPr>
          <a:xfrm>
            <a:off x="822960" y="1847088"/>
            <a:ext cx="2651760" cy="256032"/>
          </a:xfrm>
          <a:prstGeom prst="rect">
            <a:avLst/>
          </a:prstGeom>
          <a:noFill/>
          <a:ln/>
        </p:spPr>
        <p:txBody>
          <a:bodyPr wrap="square" lIns="0" tIns="0" rIns="0" bIns="0" rtlCol="0" anchor="ctr"/>
          <a:lstStyle/>
          <a:p>
            <a:pPr indent="0" marL="0">
              <a:buNone/>
            </a:pPr>
            <a:r>
              <a:rPr lang="en-US" sz="1100" b="1" spc="150" kern="0" dirty="0">
                <a:solidFill>
                  <a:srgbClr val="0E7C86"/>
                </a:solidFill>
                <a:latin typeface="Calibri" pitchFamily="34" charset="0"/>
                <a:ea typeface="Calibri" pitchFamily="34" charset="-122"/>
                <a:cs typeface="Calibri" pitchFamily="34" charset="-120"/>
              </a:rPr>
              <a:t>MAYA</a:t>
            </a:r>
            <a:endParaRPr lang="en-US" sz="1100" dirty="0"/>
          </a:p>
        </p:txBody>
      </p:sp>
      <p:sp>
        <p:nvSpPr>
          <p:cNvPr id="6" name="Text 4"/>
          <p:cNvSpPr/>
          <p:nvPr/>
        </p:nvSpPr>
        <p:spPr>
          <a:xfrm>
            <a:off x="822960" y="2103120"/>
            <a:ext cx="2743200" cy="502920"/>
          </a:xfrm>
          <a:prstGeom prst="rect">
            <a:avLst/>
          </a:prstGeom>
          <a:noFill/>
          <a:ln/>
        </p:spPr>
        <p:txBody>
          <a:bodyPr wrap="square" lIns="0" tIns="0" rIns="0" bIns="0" rtlCol="0" anchor="ctr"/>
          <a:lstStyle/>
          <a:p>
            <a:pPr indent="0" marL="0">
              <a:buNone/>
            </a:pPr>
            <a:r>
              <a:rPr lang="en-US" sz="1250" dirty="0">
                <a:solidFill>
                  <a:srgbClr val="4A5A66"/>
                </a:solidFill>
                <a:latin typeface="Calibri" pitchFamily="34" charset="0"/>
                <a:ea typeface="Calibri" pitchFamily="34" charset="-122"/>
                <a:cs typeface="Calibri" pitchFamily="34" charset="-120"/>
              </a:rPr>
              <a:t>Android, cellular only,</a:t>
            </a:r>
            <a:endParaRPr lang="en-US" sz="1250" dirty="0"/>
          </a:p>
          <a:p>
            <a:pPr indent="0" marL="0">
              <a:buNone/>
            </a:pPr>
            <a:r>
              <a:rPr lang="en-US" sz="1250" dirty="0">
                <a:solidFill>
                  <a:srgbClr val="4A5A66"/>
                </a:solidFill>
                <a:latin typeface="Calibri" pitchFamily="34" charset="0"/>
                <a:ea typeface="Calibri" pitchFamily="34" charset="-122"/>
                <a:cs typeface="Calibri" pitchFamily="34" charset="-120"/>
              </a:rPr>
              <a:t>carrier CGNAT, IPv4 only</a:t>
            </a:r>
            <a:endParaRPr lang="en-US" sz="1250" dirty="0"/>
          </a:p>
        </p:txBody>
      </p:sp>
      <p:sp>
        <p:nvSpPr>
          <p:cNvPr id="7" name="Text 5"/>
          <p:cNvSpPr/>
          <p:nvPr/>
        </p:nvSpPr>
        <p:spPr>
          <a:xfrm>
            <a:off x="3858768" y="2011680"/>
            <a:ext cx="457200" cy="365760"/>
          </a:xfrm>
          <a:prstGeom prst="rect">
            <a:avLst/>
          </a:prstGeom>
          <a:noFill/>
          <a:ln/>
        </p:spPr>
        <p:txBody>
          <a:bodyPr wrap="square" lIns="0" tIns="0" rIns="0" bIns="0" rtlCol="0" anchor="ctr"/>
          <a:lstStyle/>
          <a:p>
            <a:pPr algn="ctr" indent="0" marL="0">
              <a:buNone/>
            </a:pPr>
            <a:r>
              <a:rPr lang="en-US" sz="2000" b="1" dirty="0">
                <a:solidFill>
                  <a:srgbClr val="C25E28"/>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4434840" y="1737360"/>
            <a:ext cx="3200400" cy="914400"/>
          </a:xfrm>
          <a:prstGeom prst="roundRect">
            <a:avLst>
              <a:gd name="adj" fmla="val 6000"/>
            </a:avLst>
          </a:prstGeom>
          <a:solidFill>
            <a:srgbClr val="EEF3F4"/>
          </a:solidFill>
          <a:ln w="6350">
            <a:solidFill>
              <a:srgbClr val="EEF3F4"/>
            </a:solidFill>
            <a:prstDash val="solid"/>
          </a:ln>
        </p:spPr>
      </p:sp>
      <p:sp>
        <p:nvSpPr>
          <p:cNvPr id="9" name="Text 7"/>
          <p:cNvSpPr/>
          <p:nvPr/>
        </p:nvSpPr>
        <p:spPr>
          <a:xfrm>
            <a:off x="4709160" y="1847088"/>
            <a:ext cx="2651760" cy="256032"/>
          </a:xfrm>
          <a:prstGeom prst="rect">
            <a:avLst/>
          </a:prstGeom>
          <a:noFill/>
          <a:ln/>
        </p:spPr>
        <p:txBody>
          <a:bodyPr wrap="square" lIns="0" tIns="0" rIns="0" bIns="0" rtlCol="0" anchor="ctr"/>
          <a:lstStyle/>
          <a:p>
            <a:pPr indent="0" marL="0">
              <a:buNone/>
            </a:pPr>
            <a:r>
              <a:rPr lang="en-US" sz="1100" b="1" spc="150" kern="0" dirty="0">
                <a:solidFill>
                  <a:srgbClr val="0E7C86"/>
                </a:solidFill>
                <a:latin typeface="Calibri" pitchFamily="34" charset="0"/>
                <a:ea typeface="Calibri" pitchFamily="34" charset="-122"/>
                <a:cs typeface="Calibri" pitchFamily="34" charset="-120"/>
              </a:rPr>
              <a:t>NOAM</a:t>
            </a:r>
            <a:endParaRPr lang="en-US" sz="1100" dirty="0"/>
          </a:p>
        </p:txBody>
      </p:sp>
      <p:sp>
        <p:nvSpPr>
          <p:cNvPr id="10" name="Text 8"/>
          <p:cNvSpPr/>
          <p:nvPr/>
        </p:nvSpPr>
        <p:spPr>
          <a:xfrm>
            <a:off x="4709160" y="2103120"/>
            <a:ext cx="2743200" cy="502920"/>
          </a:xfrm>
          <a:prstGeom prst="rect">
            <a:avLst/>
          </a:prstGeom>
          <a:noFill/>
          <a:ln/>
        </p:spPr>
        <p:txBody>
          <a:bodyPr wrap="square" lIns="0" tIns="0" rIns="0" bIns="0" rtlCol="0" anchor="ctr"/>
          <a:lstStyle/>
          <a:p>
            <a:pPr indent="0" marL="0">
              <a:buNone/>
            </a:pPr>
            <a:r>
              <a:rPr lang="en-US" sz="1250" dirty="0">
                <a:solidFill>
                  <a:srgbClr val="4A5A66"/>
                </a:solidFill>
                <a:latin typeface="Calibri" pitchFamily="34" charset="0"/>
                <a:ea typeface="Calibri" pitchFamily="34" charset="-122"/>
                <a:cs typeface="Calibri" pitchFamily="34" charset="-120"/>
              </a:rPr>
              <a:t>Home Wi-Fi, port-restricted</a:t>
            </a:r>
            <a:endParaRPr lang="en-US" sz="1250" dirty="0"/>
          </a:p>
          <a:p>
            <a:pPr indent="0" marL="0">
              <a:buNone/>
            </a:pPr>
            <a:r>
              <a:rPr lang="en-US" sz="1250" dirty="0">
                <a:solidFill>
                  <a:srgbClr val="4A5A66"/>
                </a:solidFill>
                <a:latin typeface="Calibri" pitchFamily="34" charset="0"/>
                <a:ea typeface="Calibri" pitchFamily="34" charset="-122"/>
                <a:cs typeface="Calibri" pitchFamily="34" charset="-120"/>
              </a:rPr>
              <a:t>NAT, IPv4 + working IPv6</a:t>
            </a:r>
            <a:endParaRPr lang="en-US" sz="1250" dirty="0"/>
          </a:p>
        </p:txBody>
      </p:sp>
      <p:sp>
        <p:nvSpPr>
          <p:cNvPr id="11" name="Shape 9"/>
          <p:cNvSpPr/>
          <p:nvPr/>
        </p:nvSpPr>
        <p:spPr>
          <a:xfrm>
            <a:off x="7955280" y="1737360"/>
            <a:ext cx="3657600" cy="914400"/>
          </a:xfrm>
          <a:prstGeom prst="roundRect">
            <a:avLst>
              <a:gd name="adj" fmla="val 6000"/>
            </a:avLst>
          </a:prstGeom>
          <a:solidFill>
            <a:srgbClr val="FBF0E8"/>
          </a:solidFill>
          <a:ln w="6350">
            <a:solidFill>
              <a:srgbClr val="FBF0E8"/>
            </a:solidFill>
            <a:prstDash val="solid"/>
          </a:ln>
        </p:spPr>
      </p:sp>
      <p:sp>
        <p:nvSpPr>
          <p:cNvPr id="12" name="Text 10"/>
          <p:cNvSpPr/>
          <p:nvPr/>
        </p:nvSpPr>
        <p:spPr>
          <a:xfrm>
            <a:off x="8229600" y="1938528"/>
            <a:ext cx="3200400" cy="548640"/>
          </a:xfrm>
          <a:prstGeom prst="rect">
            <a:avLst/>
          </a:prstGeom>
          <a:noFill/>
          <a:ln/>
        </p:spPr>
        <p:txBody>
          <a:bodyPr wrap="square" lIns="0" tIns="0" rIns="0" bIns="0" rtlCol="0" anchor="ctr"/>
          <a:lstStyle/>
          <a:p>
            <a:pPr indent="0" marL="0">
              <a:buNone/>
            </a:pPr>
            <a:r>
              <a:rPr lang="en-US" sz="1250" i="1" dirty="0">
                <a:solidFill>
                  <a:srgbClr val="7A4A28"/>
                </a:solidFill>
                <a:latin typeface="Calibri" pitchFamily="34" charset="0"/>
                <a:ea typeface="Calibri" pitchFamily="34" charset="-122"/>
                <a:cs typeface="Calibri" pitchFamily="34" charset="-120"/>
              </a:rPr>
              <a:t>Accepted friends, paired</a:t>
            </a:r>
            <a:endParaRPr lang="en-US" sz="1250" dirty="0"/>
          </a:p>
          <a:p>
            <a:pPr indent="0" marL="0">
              <a:buNone/>
            </a:pPr>
            <a:r>
              <a:rPr lang="en-US" sz="1250" i="1" dirty="0">
                <a:solidFill>
                  <a:srgbClr val="7A4A28"/>
                </a:solidFill>
                <a:latin typeface="Calibri" pitchFamily="34" charset="0"/>
                <a:ea typeface="Calibri" pitchFamily="34" charset="-122"/>
                <a:cs typeface="Calibri" pitchFamily="34" charset="-120"/>
              </a:rPr>
              <a:t>over BLE, now apart.</a:t>
            </a:r>
            <a:endParaRPr lang="en-US" sz="1250" dirty="0"/>
          </a:p>
        </p:txBody>
      </p:sp>
      <p:sp>
        <p:nvSpPr>
          <p:cNvPr id="13" name="Shape 11"/>
          <p:cNvSpPr/>
          <p:nvPr/>
        </p:nvSpPr>
        <p:spPr>
          <a:xfrm>
            <a:off x="566928" y="2862072"/>
            <a:ext cx="384048" cy="384048"/>
          </a:xfrm>
          <a:prstGeom prst="ellipse">
            <a:avLst/>
          </a:prstGeom>
          <a:solidFill>
            <a:srgbClr val="0E7C86"/>
          </a:solidFill>
          <a:ln w="12700">
            <a:solidFill>
              <a:srgbClr val="0E7C86"/>
            </a:solidFill>
            <a:prstDash val="solid"/>
          </a:ln>
        </p:spPr>
      </p:sp>
      <p:sp>
        <p:nvSpPr>
          <p:cNvPr id="14" name="Text 12"/>
          <p:cNvSpPr/>
          <p:nvPr/>
        </p:nvSpPr>
        <p:spPr>
          <a:xfrm>
            <a:off x="566928" y="28620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5" name="Text 13"/>
          <p:cNvSpPr/>
          <p:nvPr/>
        </p:nvSpPr>
        <p:spPr>
          <a:xfrm>
            <a:off x="1078992" y="2880360"/>
            <a:ext cx="10424160" cy="438912"/>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Maya advertises her carrier’s public IP + her own local port. Both sides compute “well-connected”.</a:t>
            </a:r>
            <a:endParaRPr lang="en-US" sz="1300" dirty="0"/>
          </a:p>
        </p:txBody>
      </p:sp>
      <p:sp>
        <p:nvSpPr>
          <p:cNvPr id="16" name="Shape 14"/>
          <p:cNvSpPr/>
          <p:nvPr/>
        </p:nvSpPr>
        <p:spPr>
          <a:xfrm>
            <a:off x="566928" y="3364992"/>
            <a:ext cx="384048" cy="384048"/>
          </a:xfrm>
          <a:prstGeom prst="ellipse">
            <a:avLst/>
          </a:prstGeom>
          <a:solidFill>
            <a:srgbClr val="C25E28"/>
          </a:solidFill>
          <a:ln w="12700">
            <a:solidFill>
              <a:srgbClr val="C25E28"/>
            </a:solidFill>
            <a:prstDash val="solid"/>
          </a:ln>
        </p:spPr>
      </p:sp>
      <p:sp>
        <p:nvSpPr>
          <p:cNvPr id="17" name="Text 15"/>
          <p:cNvSpPr/>
          <p:nvPr/>
        </p:nvSpPr>
        <p:spPr>
          <a:xfrm>
            <a:off x="566928" y="3364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p:nvPr/>
        </p:nvSpPr>
        <p:spPr>
          <a:xfrm>
            <a:off x="1078992" y="3383280"/>
            <a:ext cx="10424160" cy="438912"/>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She tries to add the anchor. Its firewall rule is IPv6-only; the add times out. She now has no way to ever learn her mapped port.</a:t>
            </a:r>
            <a:endParaRPr lang="en-US" sz="1300" dirty="0"/>
          </a:p>
        </p:txBody>
      </p:sp>
      <p:sp>
        <p:nvSpPr>
          <p:cNvPr id="19" name="Shape 17"/>
          <p:cNvSpPr/>
          <p:nvPr/>
        </p:nvSpPr>
        <p:spPr>
          <a:xfrm>
            <a:off x="566928" y="3867912"/>
            <a:ext cx="384048" cy="384048"/>
          </a:xfrm>
          <a:prstGeom prst="ellipse">
            <a:avLst/>
          </a:prstGeom>
          <a:solidFill>
            <a:srgbClr val="C25E28"/>
          </a:solidFill>
          <a:ln w="12700">
            <a:solidFill>
              <a:srgbClr val="C25E28"/>
            </a:solidFill>
            <a:prstDash val="solid"/>
          </a:ln>
        </p:spPr>
      </p:sp>
      <p:sp>
        <p:nvSpPr>
          <p:cNvPr id="20" name="Text 18"/>
          <p:cNvSpPr/>
          <p:nvPr/>
        </p:nvSpPr>
        <p:spPr>
          <a:xfrm>
            <a:off x="566928" y="38679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p:nvPr/>
        </p:nvSpPr>
        <p:spPr>
          <a:xfrm>
            <a:off x="1078992" y="3886200"/>
            <a:ext cx="10424160" cy="438912"/>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She dials. Candidate selection prefers Noam’s IPv6 because her IPv6 socket is bound — though she has no IPv6 transit. One attempt, 10 s, no fallback to IPv4.</a:t>
            </a:r>
            <a:endParaRPr lang="en-US" sz="1300" dirty="0"/>
          </a:p>
        </p:txBody>
      </p:sp>
      <p:sp>
        <p:nvSpPr>
          <p:cNvPr id="22" name="Shape 20"/>
          <p:cNvSpPr/>
          <p:nvPr/>
        </p:nvSpPr>
        <p:spPr>
          <a:xfrm>
            <a:off x="566928" y="4370832"/>
            <a:ext cx="384048" cy="384048"/>
          </a:xfrm>
          <a:prstGeom prst="ellipse">
            <a:avLst/>
          </a:prstGeom>
          <a:solidFill>
            <a:srgbClr val="C25E28"/>
          </a:solidFill>
          <a:ln w="12700">
            <a:solidFill>
              <a:srgbClr val="C25E28"/>
            </a:solidFill>
            <a:prstDash val="solid"/>
          </a:ln>
        </p:spPr>
      </p:sp>
      <p:sp>
        <p:nvSpPr>
          <p:cNvPr id="23" name="Text 21"/>
          <p:cNvSpPr/>
          <p:nvPr/>
        </p:nvSpPr>
        <p:spPr>
          <a:xfrm>
            <a:off x="566928" y="43708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p:nvPr/>
        </p:nvSpPr>
        <p:spPr>
          <a:xfrm>
            <a:off x="1078992" y="4389120"/>
            <a:ext cx="10424160" cy="438912"/>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The punch is suppressed on both sides: each sees the other as public. Had it fired, it would have targeted the local ports anyway.</a:t>
            </a:r>
            <a:endParaRPr lang="en-US" sz="1300" dirty="0"/>
          </a:p>
        </p:txBody>
      </p:sp>
      <p:sp>
        <p:nvSpPr>
          <p:cNvPr id="25" name="Shape 23"/>
          <p:cNvSpPr/>
          <p:nvPr/>
        </p:nvSpPr>
        <p:spPr>
          <a:xfrm>
            <a:off x="566928" y="4873752"/>
            <a:ext cx="384048" cy="384048"/>
          </a:xfrm>
          <a:prstGeom prst="ellipse">
            <a:avLst/>
          </a:prstGeom>
          <a:solidFill>
            <a:srgbClr val="C25E28"/>
          </a:solidFill>
          <a:ln w="12700">
            <a:solidFill>
              <a:srgbClr val="C25E28"/>
            </a:solidFill>
            <a:prstDash val="solid"/>
          </a:ln>
        </p:spPr>
      </p:sp>
      <p:sp>
        <p:nvSpPr>
          <p:cNvPr id="26" name="Text 24"/>
          <p:cNvSpPr/>
          <p:nvPr/>
        </p:nvSpPr>
        <p:spPr>
          <a:xfrm>
            <a:off x="566928"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1078992" y="4892040"/>
            <a:ext cx="10424160" cy="438912"/>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Mediation needs a mutual friend who has Noam live right now, same address family. If the carrier maps a different port per destination, every datagram hits a closed pinhole.</a:t>
            </a:r>
            <a:endParaRPr lang="en-US" sz="1300" dirty="0"/>
          </a:p>
        </p:txBody>
      </p:sp>
      <p:sp>
        <p:nvSpPr>
          <p:cNvPr id="28" name="Shape 26"/>
          <p:cNvSpPr/>
          <p:nvPr/>
        </p:nvSpPr>
        <p:spPr>
          <a:xfrm>
            <a:off x="566928" y="5376672"/>
            <a:ext cx="384048" cy="384048"/>
          </a:xfrm>
          <a:prstGeom prst="ellipse">
            <a:avLst/>
          </a:prstGeom>
          <a:solidFill>
            <a:srgbClr val="C25E28"/>
          </a:solidFill>
          <a:ln w="12700">
            <a:solidFill>
              <a:srgbClr val="C25E28"/>
            </a:solidFill>
            <a:prstDash val="solid"/>
          </a:ln>
        </p:spPr>
      </p:sp>
      <p:sp>
        <p:nvSpPr>
          <p:cNvPr id="29" name="Text 27"/>
          <p:cNvSpPr/>
          <p:nvPr/>
        </p:nvSpPr>
        <p:spPr>
          <a:xfrm>
            <a:off x="566928" y="53766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0" name="Text 28"/>
          <p:cNvSpPr/>
          <p:nvPr/>
        </p:nvSpPr>
        <p:spPr>
          <a:xfrm>
            <a:off x="1078992" y="5394960"/>
            <a:ext cx="10424160" cy="438912"/>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Nothing is recorded. “Wrong port”, “filtered”, “no route” and “peer offline” are indistinguishable in the logs.</a:t>
            </a:r>
            <a:endParaRPr lang="en-US" sz="1300" dirty="0"/>
          </a:p>
        </p:txBody>
      </p:sp>
      <p:sp>
        <p:nvSpPr>
          <p:cNvPr id="31" name="Text 29"/>
          <p:cNvSpPr/>
          <p:nvPr/>
        </p:nvSpPr>
        <p:spPr>
          <a:xfrm>
            <a:off x="548640" y="5943600"/>
            <a:ext cx="11064240" cy="457200"/>
          </a:xfrm>
          <a:prstGeom prst="rect">
            <a:avLst/>
          </a:prstGeom>
          <a:noFill/>
          <a:ln/>
        </p:spPr>
        <p:txBody>
          <a:bodyPr wrap="square" lIns="0" tIns="0" rIns="0" bIns="0" rtlCol="0" anchor="ctr"/>
          <a:lstStyle/>
          <a:p>
            <a:pPr indent="0" marL="0">
              <a:buNone/>
            </a:pPr>
            <a:r>
              <a:rPr lang="en-US" sz="1350" i="1" dirty="0">
                <a:solidFill>
                  <a:srgbClr val="0A5A62"/>
                </a:solidFill>
                <a:latin typeface="Calibri" pitchFamily="34" charset="0"/>
                <a:ea typeface="Calibri" pitchFamily="34" charset="-122"/>
                <a:cs typeface="Calibri" pitchFamily="34" charset="-120"/>
              </a:rPr>
              <a:t>And when it works, it works blindly: on a port-preserving NAT the guess happens to be right, the first dial succeeds, and we learn nothing.</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RELAYED DIAL-BACK</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Witness-based detection</a:t>
            </a:r>
            <a:endParaRPr lang="en-US" sz="3400" dirty="0"/>
          </a:p>
        </p:txBody>
      </p:sp>
      <p:sp>
        <p:nvSpPr>
          <p:cNvPr id="4" name="Text 2"/>
          <p:cNvSpPr/>
          <p:nvPr/>
        </p:nvSpPr>
        <p:spPr>
          <a:xfrm>
            <a:off x="548640" y="1691640"/>
            <a:ext cx="11064240" cy="640080"/>
          </a:xfrm>
          <a:prstGeom prst="rect">
            <a:avLst/>
          </a:prstGeom>
          <a:noFill/>
          <a:ln/>
        </p:spPr>
        <p:txBody>
          <a:bodyPr wrap="square" lIns="0" tIns="0" rIns="0" bIns="0" rtlCol="0" anchor="ctr"/>
          <a:lstStyle/>
          <a:p>
            <a:pPr indent="0" marL="0">
              <a:lnSpc>
                <a:spcPct val="110000"/>
              </a:lnSpc>
              <a:buNone/>
            </a:pPr>
            <a:r>
              <a:rPr lang="en-US" sz="1450" dirty="0">
                <a:solidFill>
                  <a:srgbClr val="3E4C57"/>
                </a:solidFill>
                <a:latin typeface="Calibri" pitchFamily="34" charset="0"/>
                <a:ea typeface="Calibri" pitchFamily="34" charset="-122"/>
                <a:cs typeface="Calibri" pitchFamily="34" charset="-120"/>
              </a:rPr>
              <a:t>autoNAT depends in practice on a small set of well-known dial-back nodes, whereas GN already maintains a social graph of authenticated friends. Filtering behaviour is the harder half, as it requires an inbound packet from an endpoint the probe has never contacted, which no single witness can produce for itself.</a:t>
            </a:r>
            <a:endParaRPr lang="en-US" sz="1450" dirty="0"/>
          </a:p>
        </p:txBody>
      </p:sp>
      <p:sp>
        <p:nvSpPr>
          <p:cNvPr id="5" name="Shape 3"/>
          <p:cNvSpPr/>
          <p:nvPr/>
        </p:nvSpPr>
        <p:spPr>
          <a:xfrm>
            <a:off x="548640" y="3154680"/>
            <a:ext cx="1920240" cy="868680"/>
          </a:xfrm>
          <a:prstGeom prst="roundRect">
            <a:avLst>
              <a:gd name="adj" fmla="val 6316"/>
            </a:avLst>
          </a:prstGeom>
          <a:solidFill>
            <a:srgbClr val="EEF3F4"/>
          </a:solidFill>
          <a:ln w="15875">
            <a:solidFill>
              <a:srgbClr val="0E7C86"/>
            </a:solidFill>
            <a:prstDash val="solid"/>
          </a:ln>
        </p:spPr>
      </p:sp>
      <p:sp>
        <p:nvSpPr>
          <p:cNvPr id="6" name="Text 4"/>
          <p:cNvSpPr/>
          <p:nvPr/>
        </p:nvSpPr>
        <p:spPr>
          <a:xfrm>
            <a:off x="640080" y="3300984"/>
            <a:ext cx="1737360" cy="292608"/>
          </a:xfrm>
          <a:prstGeom prst="rect">
            <a:avLst/>
          </a:prstGeom>
          <a:noFill/>
          <a:ln/>
        </p:spPr>
        <p:txBody>
          <a:bodyPr wrap="square" lIns="0" tIns="0" rIns="0" bIns="0" rtlCol="0" anchor="ctr"/>
          <a:lstStyle/>
          <a:p>
            <a:pPr algn="ctr" indent="0" marL="0">
              <a:buNone/>
            </a:pPr>
            <a:r>
              <a:rPr lang="en-US" sz="1500" b="1" dirty="0">
                <a:solidFill>
                  <a:srgbClr val="16202A"/>
                </a:solidFill>
                <a:latin typeface="Cambria" pitchFamily="34" charset="0"/>
                <a:ea typeface="Cambria" pitchFamily="34" charset="-122"/>
                <a:cs typeface="Cambria" pitchFamily="34" charset="-120"/>
              </a:rPr>
              <a:t>Probe</a:t>
            </a:r>
            <a:endParaRPr lang="en-US" sz="1500" dirty="0"/>
          </a:p>
        </p:txBody>
      </p:sp>
      <p:sp>
        <p:nvSpPr>
          <p:cNvPr id="7" name="Text 5"/>
          <p:cNvSpPr/>
          <p:nvPr/>
        </p:nvSpPr>
        <p:spPr>
          <a:xfrm>
            <a:off x="640080" y="3611880"/>
            <a:ext cx="1737360" cy="274320"/>
          </a:xfrm>
          <a:prstGeom prst="rect">
            <a:avLst/>
          </a:prstGeom>
          <a:noFill/>
          <a:ln/>
        </p:spPr>
        <p:txBody>
          <a:bodyPr wrap="square" lIns="0" tIns="0" rIns="0" bIns="0" rtlCol="0" anchor="ctr"/>
          <a:lstStyle/>
          <a:p>
            <a:pPr algn="ctr" indent="0" marL="0">
              <a:buNone/>
            </a:pPr>
            <a:r>
              <a:rPr lang="en-US" sz="1100" dirty="0">
                <a:solidFill>
                  <a:srgbClr val="6E7F8B"/>
                </a:solidFill>
                <a:latin typeface="Calibri" pitchFamily="34" charset="0"/>
                <a:ea typeface="Calibri" pitchFamily="34" charset="-122"/>
                <a:cs typeface="Calibri" pitchFamily="34" charset="-120"/>
              </a:rPr>
              <a:t>the device</a:t>
            </a:r>
            <a:endParaRPr lang="en-US" sz="1100" dirty="0"/>
          </a:p>
        </p:txBody>
      </p:sp>
      <p:sp>
        <p:nvSpPr>
          <p:cNvPr id="8" name="Shape 6"/>
          <p:cNvSpPr/>
          <p:nvPr/>
        </p:nvSpPr>
        <p:spPr>
          <a:xfrm>
            <a:off x="4206240" y="3154680"/>
            <a:ext cx="1920240" cy="868680"/>
          </a:xfrm>
          <a:prstGeom prst="roundRect">
            <a:avLst>
              <a:gd name="adj" fmla="val 6316"/>
            </a:avLst>
          </a:prstGeom>
          <a:solidFill>
            <a:srgbClr val="EEF3F4"/>
          </a:solidFill>
          <a:ln w="15875">
            <a:solidFill>
              <a:srgbClr val="0E7C86"/>
            </a:solidFill>
            <a:prstDash val="solid"/>
          </a:ln>
        </p:spPr>
      </p:sp>
      <p:sp>
        <p:nvSpPr>
          <p:cNvPr id="9" name="Text 7"/>
          <p:cNvSpPr/>
          <p:nvPr/>
        </p:nvSpPr>
        <p:spPr>
          <a:xfrm>
            <a:off x="4297680" y="3300984"/>
            <a:ext cx="1737360" cy="292608"/>
          </a:xfrm>
          <a:prstGeom prst="rect">
            <a:avLst/>
          </a:prstGeom>
          <a:noFill/>
          <a:ln/>
        </p:spPr>
        <p:txBody>
          <a:bodyPr wrap="square" lIns="0" tIns="0" rIns="0" bIns="0" rtlCol="0" anchor="ctr"/>
          <a:lstStyle/>
          <a:p>
            <a:pPr algn="ctr" indent="0" marL="0">
              <a:buNone/>
            </a:pPr>
            <a:r>
              <a:rPr lang="en-US" sz="1500" b="1" dirty="0">
                <a:solidFill>
                  <a:srgbClr val="16202A"/>
                </a:solidFill>
                <a:latin typeface="Cambria" pitchFamily="34" charset="0"/>
                <a:ea typeface="Cambria" pitchFamily="34" charset="-122"/>
                <a:cs typeface="Cambria" pitchFamily="34" charset="-120"/>
              </a:rPr>
              <a:t>Witness 1</a:t>
            </a:r>
            <a:endParaRPr lang="en-US" sz="1500" dirty="0"/>
          </a:p>
        </p:txBody>
      </p:sp>
      <p:sp>
        <p:nvSpPr>
          <p:cNvPr id="10" name="Text 8"/>
          <p:cNvSpPr/>
          <p:nvPr/>
        </p:nvSpPr>
        <p:spPr>
          <a:xfrm>
            <a:off x="4297680" y="3611880"/>
            <a:ext cx="1737360" cy="274320"/>
          </a:xfrm>
          <a:prstGeom prst="rect">
            <a:avLst/>
          </a:prstGeom>
          <a:noFill/>
          <a:ln/>
        </p:spPr>
        <p:txBody>
          <a:bodyPr wrap="square" lIns="0" tIns="0" rIns="0" bIns="0" rtlCol="0" anchor="ctr"/>
          <a:lstStyle/>
          <a:p>
            <a:pPr algn="ctr" indent="0" marL="0">
              <a:buNone/>
            </a:pPr>
            <a:r>
              <a:rPr lang="en-US" sz="1100" dirty="0">
                <a:solidFill>
                  <a:srgbClr val="6E7F8B"/>
                </a:solidFill>
                <a:latin typeface="Calibri" pitchFamily="34" charset="0"/>
                <a:ea typeface="Calibri" pitchFamily="34" charset="-122"/>
                <a:cs typeface="Calibri" pitchFamily="34" charset="-120"/>
              </a:rPr>
              <a:t>a friend</a:t>
            </a:r>
            <a:endParaRPr lang="en-US" sz="1100" dirty="0"/>
          </a:p>
        </p:txBody>
      </p:sp>
      <p:sp>
        <p:nvSpPr>
          <p:cNvPr id="11" name="Shape 9"/>
          <p:cNvSpPr/>
          <p:nvPr/>
        </p:nvSpPr>
        <p:spPr>
          <a:xfrm>
            <a:off x="7863840" y="3154680"/>
            <a:ext cx="1920240" cy="868680"/>
          </a:xfrm>
          <a:prstGeom prst="roundRect">
            <a:avLst>
              <a:gd name="adj" fmla="val 6316"/>
            </a:avLst>
          </a:prstGeom>
          <a:solidFill>
            <a:srgbClr val="EEF3F4"/>
          </a:solidFill>
          <a:ln w="15875">
            <a:solidFill>
              <a:srgbClr val="C25E28"/>
            </a:solidFill>
            <a:prstDash val="solid"/>
          </a:ln>
        </p:spPr>
      </p:sp>
      <p:sp>
        <p:nvSpPr>
          <p:cNvPr id="12" name="Text 10"/>
          <p:cNvSpPr/>
          <p:nvPr/>
        </p:nvSpPr>
        <p:spPr>
          <a:xfrm>
            <a:off x="7955280" y="3300984"/>
            <a:ext cx="1737360" cy="292608"/>
          </a:xfrm>
          <a:prstGeom prst="rect">
            <a:avLst/>
          </a:prstGeom>
          <a:noFill/>
          <a:ln/>
        </p:spPr>
        <p:txBody>
          <a:bodyPr wrap="square" lIns="0" tIns="0" rIns="0" bIns="0" rtlCol="0" anchor="ctr"/>
          <a:lstStyle/>
          <a:p>
            <a:pPr algn="ctr" indent="0" marL="0">
              <a:buNone/>
            </a:pPr>
            <a:r>
              <a:rPr lang="en-US" sz="1500" b="1" dirty="0">
                <a:solidFill>
                  <a:srgbClr val="16202A"/>
                </a:solidFill>
                <a:latin typeface="Cambria" pitchFamily="34" charset="0"/>
                <a:ea typeface="Cambria" pitchFamily="34" charset="-122"/>
                <a:cs typeface="Cambria" pitchFamily="34" charset="-120"/>
              </a:rPr>
              <a:t>Witness 2</a:t>
            </a:r>
            <a:endParaRPr lang="en-US" sz="1500" dirty="0"/>
          </a:p>
        </p:txBody>
      </p:sp>
      <p:sp>
        <p:nvSpPr>
          <p:cNvPr id="13" name="Text 11"/>
          <p:cNvSpPr/>
          <p:nvPr/>
        </p:nvSpPr>
        <p:spPr>
          <a:xfrm>
            <a:off x="7955280" y="3611880"/>
            <a:ext cx="1737360" cy="274320"/>
          </a:xfrm>
          <a:prstGeom prst="rect">
            <a:avLst/>
          </a:prstGeom>
          <a:noFill/>
          <a:ln/>
        </p:spPr>
        <p:txBody>
          <a:bodyPr wrap="square" lIns="0" tIns="0" rIns="0" bIns="0" rtlCol="0" anchor="ctr"/>
          <a:lstStyle/>
          <a:p>
            <a:pPr algn="ctr" indent="0" marL="0">
              <a:buNone/>
            </a:pPr>
            <a:r>
              <a:rPr lang="en-US" sz="1100" dirty="0">
                <a:solidFill>
                  <a:srgbClr val="6E7F8B"/>
                </a:solidFill>
                <a:latin typeface="Calibri" pitchFamily="34" charset="0"/>
                <a:ea typeface="Calibri" pitchFamily="34" charset="-122"/>
                <a:cs typeface="Calibri" pitchFamily="34" charset="-120"/>
              </a:rPr>
              <a:t>not contacted</a:t>
            </a:r>
            <a:endParaRPr lang="en-US" sz="1100" dirty="0"/>
          </a:p>
        </p:txBody>
      </p:sp>
      <p:sp>
        <p:nvSpPr>
          <p:cNvPr id="14" name="Shape 12"/>
          <p:cNvSpPr/>
          <p:nvPr/>
        </p:nvSpPr>
        <p:spPr>
          <a:xfrm>
            <a:off x="2514600" y="3566160"/>
            <a:ext cx="1645920" cy="0"/>
          </a:xfrm>
          <a:prstGeom prst="line">
            <a:avLst/>
          </a:prstGeom>
          <a:noFill/>
          <a:ln w="19050">
            <a:solidFill>
              <a:srgbClr val="0E7C86"/>
            </a:solidFill>
            <a:prstDash val="solid"/>
            <a:tailEnd type="triangle"/>
          </a:ln>
        </p:spPr>
      </p:sp>
      <p:sp>
        <p:nvSpPr>
          <p:cNvPr id="15" name="Text 13"/>
          <p:cNvSpPr/>
          <p:nvPr/>
        </p:nvSpPr>
        <p:spPr>
          <a:xfrm>
            <a:off x="2514600" y="3182112"/>
            <a:ext cx="1645920" cy="310896"/>
          </a:xfrm>
          <a:prstGeom prst="rect">
            <a:avLst/>
          </a:prstGeom>
          <a:noFill/>
          <a:ln/>
        </p:spPr>
        <p:txBody>
          <a:bodyPr wrap="square" lIns="0" tIns="0" rIns="0" bIns="0" rtlCol="0" anchor="ctr"/>
          <a:lstStyle/>
          <a:p>
            <a:pPr algn="ctr" indent="0" marL="0">
              <a:buNone/>
            </a:pPr>
            <a:r>
              <a:rPr lang="en-US" sz="1150" dirty="0">
                <a:solidFill>
                  <a:srgbClr val="0E7C86"/>
                </a:solidFill>
                <a:latin typeface="Calibri" pitchFamily="34" charset="0"/>
                <a:ea typeface="Calibri" pitchFamily="34" charset="-122"/>
                <a:cs typeface="Calibri" pitchFamily="34" charset="-120"/>
              </a:rPr>
              <a:t>nonce, mapped address</a:t>
            </a:r>
            <a:endParaRPr lang="en-US" sz="1150" dirty="0"/>
          </a:p>
        </p:txBody>
      </p:sp>
      <p:sp>
        <p:nvSpPr>
          <p:cNvPr id="16" name="Shape 14"/>
          <p:cNvSpPr/>
          <p:nvPr/>
        </p:nvSpPr>
        <p:spPr>
          <a:xfrm>
            <a:off x="6172200" y="3566160"/>
            <a:ext cx="1645920" cy="0"/>
          </a:xfrm>
          <a:prstGeom prst="line">
            <a:avLst/>
          </a:prstGeom>
          <a:noFill/>
          <a:ln w="19050">
            <a:solidFill>
              <a:srgbClr val="0E7C86"/>
            </a:solidFill>
            <a:prstDash val="solid"/>
            <a:tailEnd type="triangle"/>
          </a:ln>
        </p:spPr>
      </p:sp>
      <p:sp>
        <p:nvSpPr>
          <p:cNvPr id="17" name="Text 15"/>
          <p:cNvSpPr/>
          <p:nvPr/>
        </p:nvSpPr>
        <p:spPr>
          <a:xfrm>
            <a:off x="6172200" y="3182112"/>
            <a:ext cx="1645920" cy="310896"/>
          </a:xfrm>
          <a:prstGeom prst="rect">
            <a:avLst/>
          </a:prstGeom>
          <a:noFill/>
          <a:ln/>
        </p:spPr>
        <p:txBody>
          <a:bodyPr wrap="square" lIns="0" tIns="0" rIns="0" bIns="0" rtlCol="0" anchor="ctr"/>
          <a:lstStyle/>
          <a:p>
            <a:pPr algn="ctr" indent="0" marL="0">
              <a:buNone/>
            </a:pPr>
            <a:r>
              <a:rPr lang="en-US" sz="1150" dirty="0">
                <a:solidFill>
                  <a:srgbClr val="0E7C86"/>
                </a:solidFill>
                <a:latin typeface="Calibri" pitchFamily="34" charset="0"/>
                <a:ea typeface="Calibri" pitchFamily="34" charset="-122"/>
                <a:cs typeface="Calibri" pitchFamily="34" charset="-120"/>
              </a:rPr>
              <a:t>relay the dial-back</a:t>
            </a:r>
            <a:endParaRPr lang="en-US" sz="1150" dirty="0"/>
          </a:p>
        </p:txBody>
      </p:sp>
      <p:sp>
        <p:nvSpPr>
          <p:cNvPr id="18" name="Shape 16"/>
          <p:cNvSpPr/>
          <p:nvPr/>
        </p:nvSpPr>
        <p:spPr>
          <a:xfrm>
            <a:off x="1508760" y="4023360"/>
            <a:ext cx="0" cy="566928"/>
          </a:xfrm>
          <a:prstGeom prst="line">
            <a:avLst/>
          </a:prstGeom>
          <a:noFill/>
          <a:ln w="19050">
            <a:solidFill>
              <a:srgbClr val="C25E28"/>
            </a:solidFill>
            <a:prstDash val="solid"/>
          </a:ln>
        </p:spPr>
      </p:sp>
      <p:sp>
        <p:nvSpPr>
          <p:cNvPr id="19" name="Shape 17"/>
          <p:cNvSpPr/>
          <p:nvPr/>
        </p:nvSpPr>
        <p:spPr>
          <a:xfrm>
            <a:off x="1508760" y="4590288"/>
            <a:ext cx="7315200" cy="0"/>
          </a:xfrm>
          <a:prstGeom prst="line">
            <a:avLst/>
          </a:prstGeom>
          <a:noFill/>
          <a:ln w="19050">
            <a:solidFill>
              <a:srgbClr val="C25E28"/>
            </a:solidFill>
            <a:prstDash val="solid"/>
            <a:headEnd type="triangle"/>
          </a:ln>
        </p:spPr>
      </p:sp>
      <p:sp>
        <p:nvSpPr>
          <p:cNvPr id="20" name="Shape 18"/>
          <p:cNvSpPr/>
          <p:nvPr/>
        </p:nvSpPr>
        <p:spPr>
          <a:xfrm>
            <a:off x="8823960" y="4023360"/>
            <a:ext cx="0" cy="566928"/>
          </a:xfrm>
          <a:prstGeom prst="line">
            <a:avLst/>
          </a:prstGeom>
          <a:noFill/>
          <a:ln w="19050">
            <a:solidFill>
              <a:srgbClr val="C25E28"/>
            </a:solidFill>
            <a:prstDash val="solid"/>
          </a:ln>
        </p:spPr>
      </p:sp>
      <p:sp>
        <p:nvSpPr>
          <p:cNvPr id="21" name="Text 19"/>
          <p:cNvSpPr/>
          <p:nvPr/>
        </p:nvSpPr>
        <p:spPr>
          <a:xfrm>
            <a:off x="1508760" y="4636008"/>
            <a:ext cx="7315200" cy="274320"/>
          </a:xfrm>
          <a:prstGeom prst="rect">
            <a:avLst/>
          </a:prstGeom>
          <a:noFill/>
          <a:ln/>
        </p:spPr>
        <p:txBody>
          <a:bodyPr wrap="square" lIns="0" tIns="0" rIns="0" bIns="0" rtlCol="0" anchor="ctr"/>
          <a:lstStyle/>
          <a:p>
            <a:pPr algn="ctr" indent="0" marL="0">
              <a:buNone/>
            </a:pPr>
            <a:r>
              <a:rPr lang="en-US" sz="1150" dirty="0">
                <a:solidFill>
                  <a:srgbClr val="C25E28"/>
                </a:solidFill>
                <a:latin typeface="Calibri" pitchFamily="34" charset="0"/>
                <a:ea typeface="Calibri" pitchFamily="34" charset="-122"/>
                <a:cs typeface="Calibri" pitchFamily="34" charset="-120"/>
              </a:rPr>
              <a:t>dial-back carrying the nonce, from an endpoint the probe has not contacted</a:t>
            </a:r>
            <a:endParaRPr lang="en-US" sz="1150" dirty="0"/>
          </a:p>
        </p:txBody>
      </p:sp>
      <p:sp>
        <p:nvSpPr>
          <p:cNvPr id="22" name="Shape 20"/>
          <p:cNvSpPr/>
          <p:nvPr/>
        </p:nvSpPr>
        <p:spPr>
          <a:xfrm>
            <a:off x="9966960" y="3017520"/>
            <a:ext cx="1645920" cy="1920240"/>
          </a:xfrm>
          <a:prstGeom prst="roundRect">
            <a:avLst>
              <a:gd name="adj" fmla="val 3333"/>
            </a:avLst>
          </a:prstGeom>
          <a:solidFill>
            <a:srgbClr val="E7F1F1"/>
          </a:solidFill>
          <a:ln w="6350">
            <a:solidFill>
              <a:srgbClr val="E7F1F1"/>
            </a:solidFill>
            <a:prstDash val="solid"/>
          </a:ln>
        </p:spPr>
      </p:sp>
      <p:sp>
        <p:nvSpPr>
          <p:cNvPr id="23" name="Text 21"/>
          <p:cNvSpPr/>
          <p:nvPr/>
        </p:nvSpPr>
        <p:spPr>
          <a:xfrm>
            <a:off x="10149840" y="3154680"/>
            <a:ext cx="1371600" cy="274320"/>
          </a:xfrm>
          <a:prstGeom prst="rect">
            <a:avLst/>
          </a:prstGeom>
          <a:noFill/>
          <a:ln/>
        </p:spPr>
        <p:txBody>
          <a:bodyPr wrap="square" lIns="0" tIns="0" rIns="0" bIns="0" rtlCol="0" anchor="ctr"/>
          <a:lstStyle/>
          <a:p>
            <a:pPr indent="0" marL="0">
              <a:buNone/>
            </a:pPr>
            <a:r>
              <a:rPr lang="en-US" sz="1300" b="1" dirty="0">
                <a:solidFill>
                  <a:srgbClr val="0A5A62"/>
                </a:solidFill>
                <a:latin typeface="Cambria" pitchFamily="34" charset="0"/>
                <a:ea typeface="Cambria" pitchFamily="34" charset="-122"/>
                <a:cs typeface="Cambria" pitchFamily="34" charset="-120"/>
              </a:rPr>
              <a:t>Three arms</a:t>
            </a:r>
            <a:endParaRPr lang="en-US" sz="1300" dirty="0"/>
          </a:p>
        </p:txBody>
      </p:sp>
      <p:sp>
        <p:nvSpPr>
          <p:cNvPr id="24" name="Text 22"/>
          <p:cNvSpPr/>
          <p:nvPr/>
        </p:nvSpPr>
        <p:spPr>
          <a:xfrm>
            <a:off x="10149840" y="3483864"/>
            <a:ext cx="1371600" cy="109728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3E4C57"/>
                </a:solidFill>
                <a:latin typeface="Calibri" pitchFamily="34" charset="0"/>
                <a:ea typeface="Calibri" pitchFamily="34" charset="-122"/>
                <a:cs typeface="Calibri" pitchFamily="34" charset="-120"/>
              </a:rPr>
              <a:t>same IP, known port</a:t>
            </a:r>
            <a:endParaRPr lang="en-US" sz="1050" dirty="0"/>
          </a:p>
          <a:p>
            <a:pPr marL="342900" indent="-342900">
              <a:spcAft>
                <a:spcPts val="400"/>
              </a:spcAft>
              <a:buSzPct val="100000"/>
              <a:buChar char="•"/>
            </a:pPr>
            <a:r>
              <a:rPr lang="en-US" sz="1050" dirty="0">
                <a:solidFill>
                  <a:srgbClr val="3E4C57"/>
                </a:solidFill>
                <a:latin typeface="Calibri" pitchFamily="34" charset="0"/>
                <a:ea typeface="Calibri" pitchFamily="34" charset="-122"/>
                <a:cs typeface="Calibri" pitchFamily="34" charset="-120"/>
              </a:rPr>
              <a:t>same IP, new port</a:t>
            </a:r>
            <a:endParaRPr lang="en-US" sz="1050" dirty="0"/>
          </a:p>
          <a:p>
            <a:pPr marL="342900" indent="-342900">
              <a:spcAft>
                <a:spcPts val="400"/>
              </a:spcAft>
              <a:buSzPct val="100000"/>
              <a:buChar char="•"/>
            </a:pPr>
            <a:r>
              <a:rPr lang="en-US" sz="1050" dirty="0">
                <a:solidFill>
                  <a:srgbClr val="3E4C57"/>
                </a:solidFill>
                <a:latin typeface="Calibri" pitchFamily="34" charset="0"/>
                <a:ea typeface="Calibri" pitchFamily="34" charset="-122"/>
                <a:cs typeface="Calibri" pitchFamily="34" charset="-120"/>
              </a:rPr>
              <a:t>new IP entirely</a:t>
            </a:r>
            <a:endParaRPr lang="en-US" sz="1050" dirty="0"/>
          </a:p>
        </p:txBody>
      </p:sp>
      <p:sp>
        <p:nvSpPr>
          <p:cNvPr id="25" name="Text 23"/>
          <p:cNvSpPr/>
          <p:nvPr/>
        </p:nvSpPr>
        <p:spPr>
          <a:xfrm>
            <a:off x="10149840" y="4617720"/>
            <a:ext cx="1371600" cy="274320"/>
          </a:xfrm>
          <a:prstGeom prst="rect">
            <a:avLst/>
          </a:prstGeom>
          <a:noFill/>
          <a:ln/>
        </p:spPr>
        <p:txBody>
          <a:bodyPr wrap="square" lIns="0" tIns="0" rIns="0" bIns="0" rtlCol="0" anchor="ctr"/>
          <a:lstStyle/>
          <a:p>
            <a:pPr indent="0" marL="0">
              <a:buNone/>
            </a:pPr>
            <a:r>
              <a:rPr lang="en-US" sz="1050" i="1" dirty="0">
                <a:solidFill>
                  <a:srgbClr val="0A5A62"/>
                </a:solidFill>
                <a:latin typeface="Calibri" pitchFamily="34" charset="0"/>
                <a:ea typeface="Calibri" pitchFamily="34" charset="-122"/>
                <a:cs typeface="Calibri" pitchFamily="34" charset="-120"/>
              </a:rPr>
              <a:t>→ EIF / ADF / APDF</a:t>
            </a:r>
            <a:endParaRPr lang="en-US" sz="1050" dirty="0"/>
          </a:p>
        </p:txBody>
      </p:sp>
      <p:sp>
        <p:nvSpPr>
          <p:cNvPr id="26" name="Text 24"/>
          <p:cNvSpPr/>
          <p:nvPr/>
        </p:nvSpPr>
        <p:spPr>
          <a:xfrm>
            <a:off x="548640" y="5623560"/>
            <a:ext cx="11064240" cy="685800"/>
          </a:xfrm>
          <a:prstGeom prst="rect">
            <a:avLst/>
          </a:prstGeom>
          <a:noFill/>
          <a:ln/>
        </p:spPr>
        <p:txBody>
          <a:bodyPr wrap="square" lIns="0" tIns="0" rIns="0" bIns="0" rtlCol="0" anchor="ctr"/>
          <a:lstStyle/>
          <a:p>
            <a:pPr indent="0" marL="0">
              <a:lnSpc>
                <a:spcPct val="108000"/>
              </a:lnSpc>
              <a:buNone/>
            </a:pPr>
            <a:r>
              <a:rPr lang="en-US" sz="1300" b="1" dirty="0">
                <a:solidFill>
                  <a:srgbClr val="C25E28"/>
                </a:solidFill>
                <a:latin typeface="Calibri" pitchFamily="34" charset="0"/>
                <a:ea typeface="Calibri" pitchFamily="34" charset="-122"/>
                <a:cs typeface="Calibri" pitchFamily="34" charset="-120"/>
              </a:rPr>
              <a:t>Contamination: </a:t>
            </a:r>
            <a:pPr indent="0" marL="0">
              <a:lnSpc>
                <a:spcPct val="108000"/>
              </a:lnSpc>
              <a:buNone/>
            </a:pPr>
            <a:r>
              <a:rPr lang="en-US" sz="1300" dirty="0">
                <a:solidFill>
                  <a:srgbClr val="3E4C57"/>
                </a:solidFill>
                <a:latin typeface="Calibri" pitchFamily="34" charset="0"/>
                <a:ea typeface="Calibri" pitchFamily="34" charset="-122"/>
                <a:cs typeface="Calibri" pitchFamily="34" charset="-120"/>
              </a:rPr>
              <a:t>witnesses are by construction the peers the device already transmits to, through the 10 s ANNOUNCE and roughly ten punch datagrams per attempt. A dial-back from a previously contacted endpoint traverses a mapping the probe </a:t>
            </a:r>
            <a:pPr indent="0" marL="0">
              <a:lnSpc>
                <a:spcPct val="108000"/>
              </a:lnSpc>
              <a:buNone/>
            </a:pPr>
            <a:r>
              <a:rPr lang="en-US" sz="1300" i="1" dirty="0">
                <a:solidFill>
                  <a:srgbClr val="3E4C57"/>
                </a:solidFill>
                <a:latin typeface="Calibri" pitchFamily="34" charset="0"/>
                <a:ea typeface="Calibri" pitchFamily="34" charset="-122"/>
                <a:cs typeface="Calibri" pitchFamily="34" charset="-120"/>
              </a:rPr>
              <a:t>itself</a:t>
            </a:r>
            <a:pPr indent="0" marL="0">
              <a:lnSpc>
                <a:spcPct val="108000"/>
              </a:lnSpc>
              <a:buNone/>
            </a:pPr>
            <a:r>
              <a:rPr lang="en-US" sz="1300" dirty="0">
                <a:solidFill>
                  <a:srgbClr val="3E4C57"/>
                </a:solidFill>
                <a:latin typeface="Calibri" pitchFamily="34" charset="0"/>
                <a:ea typeface="Calibri" pitchFamily="34" charset="-122"/>
                <a:cs typeface="Calibri" pitchFamily="34" charset="-120"/>
              </a:rPr>
              <a:t> opened, and biases the result towards reporting NATs as more permissive than they are. A per-test send history is required.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WHAT WE MEASURE, AND AGAINST WHAT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Measurand and baseline</a:t>
            </a:r>
            <a:endParaRPr lang="en-US" sz="3400" dirty="0"/>
          </a:p>
        </p:txBody>
      </p:sp>
      <p:sp>
        <p:nvSpPr>
          <p:cNvPr id="4" name="Shape 2"/>
          <p:cNvSpPr/>
          <p:nvPr/>
        </p:nvSpPr>
        <p:spPr>
          <a:xfrm>
            <a:off x="548640" y="1874520"/>
            <a:ext cx="5440680" cy="3840480"/>
          </a:xfrm>
          <a:prstGeom prst="roundRect">
            <a:avLst>
              <a:gd name="adj" fmla="val 1429"/>
            </a:avLst>
          </a:prstGeom>
          <a:solidFill>
            <a:srgbClr val="EEF3F4"/>
          </a:solidFill>
          <a:ln w="6350">
            <a:solidFill>
              <a:srgbClr val="EEF3F4"/>
            </a:solidFill>
            <a:prstDash val="solid"/>
          </a:ln>
        </p:spPr>
      </p:sp>
      <p:sp>
        <p:nvSpPr>
          <p:cNvPr id="5" name="Text 3"/>
          <p:cNvSpPr/>
          <p:nvPr/>
        </p:nvSpPr>
        <p:spPr>
          <a:xfrm>
            <a:off x="914400" y="2148840"/>
            <a:ext cx="4709160" cy="64008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The measurand is a tuple</a:t>
            </a:r>
            <a:endParaRPr lang="en-US" sz="2000" dirty="0"/>
          </a:p>
        </p:txBody>
      </p:sp>
      <p:sp>
        <p:nvSpPr>
          <p:cNvPr id="6" name="Text 4"/>
          <p:cNvSpPr/>
          <p:nvPr/>
        </p:nvSpPr>
        <p:spPr>
          <a:xfrm>
            <a:off x="914400" y="2852928"/>
            <a:ext cx="4709160" cy="822960"/>
          </a:xfrm>
          <a:prstGeom prst="rect">
            <a:avLst/>
          </a:prstGeom>
          <a:noFill/>
          <a:ln/>
        </p:spPr>
        <p:txBody>
          <a:bodyPr wrap="square" lIns="0" tIns="0" rIns="0" bIns="0" rtlCol="0" anchor="ctr"/>
          <a:lstStyle/>
          <a:p>
            <a:pPr indent="0" marL="0">
              <a:lnSpc>
                <a:spcPct val="110000"/>
              </a:lnSpc>
              <a:buNone/>
            </a:pPr>
            <a:r>
              <a:rPr lang="en-US" sz="1300" dirty="0">
                <a:solidFill>
                  <a:srgbClr val="3E4C57"/>
                </a:solidFill>
                <a:latin typeface="Calibri" pitchFamily="34" charset="0"/>
                <a:ea typeface="Calibri" pitchFamily="34" charset="-122"/>
                <a:cs typeface="Calibri" pitchFamily="34" charset="-120"/>
              </a:rPr>
              <a:t>Mapping behaviour × filtering behaviour × port preservation × mapping lifetime, with CGNAT status and IPv6 availability recorded alongside.</a:t>
            </a:r>
            <a:endParaRPr lang="en-US" sz="1300" dirty="0"/>
          </a:p>
        </p:txBody>
      </p:sp>
      <p:sp>
        <p:nvSpPr>
          <p:cNvPr id="7" name="Text 5"/>
          <p:cNvSpPr/>
          <p:nvPr/>
        </p:nvSpPr>
        <p:spPr>
          <a:xfrm>
            <a:off x="914400" y="3749040"/>
            <a:ext cx="4709160" cy="868680"/>
          </a:xfrm>
          <a:prstGeom prst="rect">
            <a:avLst/>
          </a:prstGeom>
          <a:noFill/>
          <a:ln/>
        </p:spPr>
        <p:txBody>
          <a:bodyPr wrap="square" lIns="0" tIns="0" rIns="0" bIns="0" rtlCol="0" anchor="ctr"/>
          <a:lstStyle/>
          <a:p>
            <a:pPr indent="0" marL="0">
              <a:lnSpc>
                <a:spcPct val="110000"/>
              </a:lnSpc>
              <a:buNone/>
            </a:pPr>
            <a:r>
              <a:rPr lang="en-US" sz="1300" dirty="0">
                <a:solidFill>
                  <a:srgbClr val="C25E28"/>
                </a:solidFill>
                <a:latin typeface="Calibri" pitchFamily="34" charset="0"/>
                <a:ea typeface="Calibri" pitchFamily="34" charset="-122"/>
                <a:cs typeface="Calibri" pitchFamily="34" charset="-120"/>
              </a:rPr>
              <a:t>Reported per address family and per translation path: NAT44, NAT64 with 464XLAT, or native IPv6, where mapping and port preservation are not applicable rather than absent.</a:t>
            </a:r>
            <a:endParaRPr lang="en-US" sz="1300" dirty="0"/>
          </a:p>
        </p:txBody>
      </p:sp>
      <p:sp>
        <p:nvSpPr>
          <p:cNvPr id="8" name="Shape 6"/>
          <p:cNvSpPr/>
          <p:nvPr/>
        </p:nvSpPr>
        <p:spPr>
          <a:xfrm>
            <a:off x="914400" y="4754880"/>
            <a:ext cx="4709160" cy="731520"/>
          </a:xfrm>
          <a:prstGeom prst="roundRect">
            <a:avLst>
              <a:gd name="adj" fmla="val 6250"/>
            </a:avLst>
          </a:prstGeom>
          <a:solidFill>
            <a:srgbClr val="E7F1F1"/>
          </a:solidFill>
          <a:ln w="12700">
            <a:solidFill>
              <a:srgbClr val="E7F1F1"/>
            </a:solidFill>
            <a:prstDash val="solid"/>
          </a:ln>
        </p:spPr>
      </p:sp>
      <p:sp>
        <p:nvSpPr>
          <p:cNvPr id="9" name="Text 7"/>
          <p:cNvSpPr/>
          <p:nvPr/>
        </p:nvSpPr>
        <p:spPr>
          <a:xfrm>
            <a:off x="1097280" y="4864608"/>
            <a:ext cx="4343400" cy="548640"/>
          </a:xfrm>
          <a:prstGeom prst="rect">
            <a:avLst/>
          </a:prstGeom>
          <a:noFill/>
          <a:ln/>
        </p:spPr>
        <p:txBody>
          <a:bodyPr wrap="square" lIns="0" tIns="0" rIns="0" bIns="0" rtlCol="0" anchor="ctr"/>
          <a:lstStyle/>
          <a:p>
            <a:pPr indent="0" marL="0">
              <a:lnSpc>
                <a:spcPct val="105000"/>
              </a:lnSpc>
              <a:buNone/>
            </a:pPr>
            <a:r>
              <a:rPr lang="en-US" sz="1250" b="1" dirty="0">
                <a:solidFill>
                  <a:srgbClr val="0A5A62"/>
                </a:solidFill>
                <a:latin typeface="Calibri" pitchFamily="34" charset="0"/>
                <a:ea typeface="Calibri" pitchFamily="34" charset="-122"/>
                <a:cs typeface="Calibri" pitchFamily="34" charset="-120"/>
              </a:rPr>
              <a:t>A single-label NAT type may be derived for presentation, but is never the measurand.</a:t>
            </a:r>
            <a:endParaRPr lang="en-US" sz="1250" dirty="0"/>
          </a:p>
        </p:txBody>
      </p:sp>
      <p:sp>
        <p:nvSpPr>
          <p:cNvPr id="10" name="Shape 8"/>
          <p:cNvSpPr/>
          <p:nvPr/>
        </p:nvSpPr>
        <p:spPr>
          <a:xfrm>
            <a:off x="6172200" y="1874520"/>
            <a:ext cx="5440680" cy="3840480"/>
          </a:xfrm>
          <a:prstGeom prst="roundRect">
            <a:avLst>
              <a:gd name="adj" fmla="val 1429"/>
            </a:avLst>
          </a:prstGeom>
          <a:solidFill>
            <a:srgbClr val="EEF3F4"/>
          </a:solidFill>
          <a:ln w="6350">
            <a:solidFill>
              <a:srgbClr val="EEF3F4"/>
            </a:solidFill>
            <a:prstDash val="solid"/>
          </a:ln>
        </p:spPr>
      </p:sp>
      <p:sp>
        <p:nvSpPr>
          <p:cNvPr id="11" name="Text 9"/>
          <p:cNvSpPr/>
          <p:nvPr/>
        </p:nvSpPr>
        <p:spPr>
          <a:xfrm>
            <a:off x="6537960" y="2148840"/>
            <a:ext cx="4709160" cy="64008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autoNAT reports reachability</a:t>
            </a:r>
            <a:endParaRPr lang="en-US" sz="2000" dirty="0"/>
          </a:p>
        </p:txBody>
      </p:sp>
      <p:sp>
        <p:nvSpPr>
          <p:cNvPr id="12" name="Text 10"/>
          <p:cNvSpPr/>
          <p:nvPr/>
        </p:nvSpPr>
        <p:spPr>
          <a:xfrm>
            <a:off x="6537960" y="2852928"/>
            <a:ext cx="4709160" cy="822960"/>
          </a:xfrm>
          <a:prstGeom prst="rect">
            <a:avLst/>
          </a:prstGeom>
          <a:noFill/>
          <a:ln/>
        </p:spPr>
        <p:txBody>
          <a:bodyPr wrap="square" lIns="0" tIns="0" rIns="0" bIns="0" rtlCol="0" anchor="ctr"/>
          <a:lstStyle/>
          <a:p>
            <a:pPr indent="0" marL="0">
              <a:lnSpc>
                <a:spcPct val="110000"/>
              </a:lnSpc>
              <a:buNone/>
            </a:pPr>
            <a:r>
              <a:rPr lang="en-US" sz="1300" dirty="0">
                <a:solidFill>
                  <a:srgbClr val="3E4C57"/>
                </a:solidFill>
                <a:latin typeface="Calibri" pitchFamily="34" charset="0"/>
                <a:ea typeface="Calibri" pitchFamily="34" charset="-122"/>
                <a:cs typeface="Calibri" pitchFamily="34" charset="-120"/>
              </a:rPr>
              <a:t>Version 1 reports whether a node is publicly reachable; version 2 reports whether a given address is dialable. Neither emits a mapping or filtering label.</a:t>
            </a:r>
            <a:endParaRPr lang="en-US" sz="1300" dirty="0"/>
          </a:p>
        </p:txBody>
      </p:sp>
      <p:sp>
        <p:nvSpPr>
          <p:cNvPr id="13" name="Text 11"/>
          <p:cNvSpPr/>
          <p:nvPr/>
        </p:nvSpPr>
        <p:spPr>
          <a:xfrm>
            <a:off x="6537960" y="3749040"/>
            <a:ext cx="4709160" cy="868680"/>
          </a:xfrm>
          <a:prstGeom prst="rect">
            <a:avLst/>
          </a:prstGeom>
          <a:noFill/>
          <a:ln/>
        </p:spPr>
        <p:txBody>
          <a:bodyPr wrap="square" lIns="0" tIns="0" rIns="0" bIns="0" rtlCol="0" anchor="ctr"/>
          <a:lstStyle/>
          <a:p>
            <a:pPr indent="0" marL="0">
              <a:lnSpc>
                <a:spcPct val="110000"/>
              </a:lnSpc>
              <a:buNone/>
            </a:pPr>
            <a:r>
              <a:rPr lang="en-US" sz="1300" dirty="0">
                <a:solidFill>
                  <a:srgbClr val="C25E28"/>
                </a:solidFill>
                <a:latin typeface="Calibri" pitchFamily="34" charset="0"/>
                <a:ea typeface="Calibri" pitchFamily="34" charset="-122"/>
                <a:cs typeface="Calibri" pitchFamily="34" charset="-120"/>
              </a:rPr>
              <a:t>The two therefore share no measurand with the classification question, and cannot serve as its ground truth.</a:t>
            </a:r>
            <a:endParaRPr lang="en-US" sz="1300" dirty="0"/>
          </a:p>
        </p:txBody>
      </p:sp>
      <p:sp>
        <p:nvSpPr>
          <p:cNvPr id="14" name="Shape 12"/>
          <p:cNvSpPr/>
          <p:nvPr/>
        </p:nvSpPr>
        <p:spPr>
          <a:xfrm>
            <a:off x="6537960" y="4754880"/>
            <a:ext cx="4709160" cy="731520"/>
          </a:xfrm>
          <a:prstGeom prst="roundRect">
            <a:avLst>
              <a:gd name="adj" fmla="val 6250"/>
            </a:avLst>
          </a:prstGeom>
          <a:solidFill>
            <a:srgbClr val="E7F1F1"/>
          </a:solidFill>
          <a:ln w="12700">
            <a:solidFill>
              <a:srgbClr val="E7F1F1"/>
            </a:solidFill>
            <a:prstDash val="solid"/>
          </a:ln>
        </p:spPr>
      </p:sp>
      <p:sp>
        <p:nvSpPr>
          <p:cNvPr id="15" name="Text 13"/>
          <p:cNvSpPr/>
          <p:nvPr/>
        </p:nvSpPr>
        <p:spPr>
          <a:xfrm>
            <a:off x="6720840" y="4864608"/>
            <a:ext cx="4343400" cy="548640"/>
          </a:xfrm>
          <a:prstGeom prst="rect">
            <a:avLst/>
          </a:prstGeom>
          <a:noFill/>
          <a:ln/>
        </p:spPr>
        <p:txBody>
          <a:bodyPr wrap="square" lIns="0" tIns="0" rIns="0" bIns="0" rtlCol="0" anchor="ctr"/>
          <a:lstStyle/>
          <a:p>
            <a:pPr indent="0" marL="0">
              <a:lnSpc>
                <a:spcPct val="105000"/>
              </a:lnSpc>
              <a:buNone/>
            </a:pPr>
            <a:r>
              <a:rPr lang="en-US" sz="1250" b="1" dirty="0">
                <a:solidFill>
                  <a:srgbClr val="0A5A62"/>
                </a:solidFill>
                <a:latin typeface="Calibri" pitchFamily="34" charset="0"/>
                <a:ea typeface="Calibri" pitchFamily="34" charset="-122"/>
                <a:cs typeface="Calibri" pitchFamily="34" charset="-120"/>
              </a:rPr>
              <a:t>The comparison is restricted to reachability; classification is validated against an RFC 5780 server we operate.</a:t>
            </a:r>
            <a:endParaRPr lang="en-US" sz="1250" dirty="0"/>
          </a:p>
        </p:txBody>
      </p:sp>
      <p:sp>
        <p:nvSpPr>
          <p:cNvPr id="16" name="Text 14"/>
          <p:cNvSpPr/>
          <p:nvPr/>
        </p:nvSpPr>
        <p:spPr>
          <a:xfrm>
            <a:off x="548640" y="5943600"/>
            <a:ext cx="11064240" cy="365760"/>
          </a:xfrm>
          <a:prstGeom prst="rect">
            <a:avLst/>
          </a:prstGeom>
          <a:noFill/>
          <a:ln/>
        </p:spPr>
        <p:txBody>
          <a:bodyPr wrap="square" lIns="0" tIns="0" rIns="0" bIns="0" rtlCol="0" anchor="ctr"/>
          <a:lstStyle/>
          <a:p>
            <a:pPr indent="0" marL="0">
              <a:buNone/>
            </a:pPr>
            <a:r>
              <a:rPr lang="en-US" sz="1450" i="1" dirty="0">
                <a:solidFill>
                  <a:srgbClr val="0A5A62"/>
                </a:solidFill>
                <a:latin typeface="Calibri" pitchFamily="34" charset="0"/>
                <a:ea typeface="Calibri" pitchFamily="34" charset="-122"/>
                <a:cs typeface="Calibri" pitchFamily="34" charset="-120"/>
              </a:rPr>
              <a:t>The probe is implemented inside grassroots_networking and sends from the transport’s own socket, since a second socket receives a different mapping.</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FOUR AXES</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Research questions</a:t>
            </a:r>
            <a:endParaRPr lang="en-US" sz="3400" dirty="0"/>
          </a:p>
        </p:txBody>
      </p:sp>
      <p:sp>
        <p:nvSpPr>
          <p:cNvPr id="4" name="Shape 2"/>
          <p:cNvSpPr/>
          <p:nvPr/>
        </p:nvSpPr>
        <p:spPr>
          <a:xfrm>
            <a:off x="594360" y="1892808"/>
            <a:ext cx="384048" cy="384048"/>
          </a:xfrm>
          <a:prstGeom prst="ellipse">
            <a:avLst/>
          </a:prstGeom>
          <a:solidFill>
            <a:srgbClr val="0E7C86"/>
          </a:solidFill>
          <a:ln w="12700">
            <a:solidFill>
              <a:srgbClr val="0E7C86"/>
            </a:solidFill>
            <a:prstDash val="solid"/>
          </a:ln>
        </p:spPr>
      </p:sp>
      <p:sp>
        <p:nvSpPr>
          <p:cNvPr id="5" name="Text 3"/>
          <p:cNvSpPr/>
          <p:nvPr/>
        </p:nvSpPr>
        <p:spPr>
          <a:xfrm>
            <a:off x="594360" y="18928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207008" y="1783080"/>
            <a:ext cx="10241280" cy="347472"/>
          </a:xfrm>
          <a:prstGeom prst="rect">
            <a:avLst/>
          </a:prstGeom>
          <a:noFill/>
          <a:ln/>
        </p:spPr>
        <p:txBody>
          <a:bodyPr wrap="square" lIns="0" tIns="0" rIns="0" bIns="0" rtlCol="0" anchor="ctr"/>
          <a:lstStyle/>
          <a:p>
            <a:pPr indent="0" marL="0">
              <a:buNone/>
            </a:pPr>
            <a:r>
              <a:rPr lang="en-US" sz="1750" b="1" dirty="0">
                <a:solidFill>
                  <a:srgbClr val="16202A"/>
                </a:solidFill>
                <a:latin typeface="Cambria" pitchFamily="34" charset="0"/>
                <a:ea typeface="Cambria" pitchFamily="34" charset="-122"/>
                <a:cs typeface="Cambria" pitchFamily="34" charset="-120"/>
              </a:rPr>
              <a:t>Can social-graph peers replace designated dial-back servers?</a:t>
            </a:r>
            <a:endParaRPr lang="en-US" sz="1750" dirty="0"/>
          </a:p>
        </p:txBody>
      </p:sp>
      <p:sp>
        <p:nvSpPr>
          <p:cNvPr id="7" name="Text 5"/>
          <p:cNvSpPr/>
          <p:nvPr/>
        </p:nvSpPr>
        <p:spPr>
          <a:xfrm>
            <a:off x="1207008" y="2148840"/>
            <a:ext cx="10149840" cy="548640"/>
          </a:xfrm>
          <a:prstGeom prst="rect">
            <a:avLst/>
          </a:prstGeom>
          <a:noFill/>
          <a:ln/>
        </p:spPr>
        <p:txBody>
          <a:bodyPr wrap="square" lIns="0" tIns="0" rIns="0" bIns="0" rtlCol="0" anchor="ctr"/>
          <a:lstStyle/>
          <a:p>
            <a:pPr indent="0" marL="0">
              <a:lnSpc>
                <a:spcPct val="108000"/>
              </a:lnSpc>
              <a:buNone/>
            </a:pPr>
            <a:r>
              <a:rPr lang="en-US" sz="1300" dirty="0">
                <a:solidFill>
                  <a:srgbClr val="4A5A66"/>
                </a:solidFill>
                <a:latin typeface="Calibri" pitchFamily="34" charset="0"/>
                <a:ea typeface="Calibri" pitchFamily="34" charset="-122"/>
                <a:cs typeface="Calibri" pitchFamily="34" charset="-120"/>
              </a:rPr>
              <a:t>We specify a witness-based algorithm that recovers mapping and filtering behaviour, and quantify its agreement with an RFC 5780 reference implementation.</a:t>
            </a:r>
            <a:endParaRPr lang="en-US" sz="1300" dirty="0"/>
          </a:p>
        </p:txBody>
      </p:sp>
      <p:sp>
        <p:nvSpPr>
          <p:cNvPr id="8" name="Shape 6"/>
          <p:cNvSpPr/>
          <p:nvPr/>
        </p:nvSpPr>
        <p:spPr>
          <a:xfrm>
            <a:off x="594360" y="2944368"/>
            <a:ext cx="384048" cy="384048"/>
          </a:xfrm>
          <a:prstGeom prst="ellipse">
            <a:avLst/>
          </a:prstGeom>
          <a:solidFill>
            <a:srgbClr val="0E7C86"/>
          </a:solidFill>
          <a:ln w="12700">
            <a:solidFill>
              <a:srgbClr val="0E7C86"/>
            </a:solidFill>
            <a:prstDash val="solid"/>
          </a:ln>
        </p:spPr>
      </p:sp>
      <p:sp>
        <p:nvSpPr>
          <p:cNvPr id="9" name="Text 7"/>
          <p:cNvSpPr/>
          <p:nvPr/>
        </p:nvSpPr>
        <p:spPr>
          <a:xfrm>
            <a:off x="594360" y="29443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207008" y="2834640"/>
            <a:ext cx="10241280" cy="347472"/>
          </a:xfrm>
          <a:prstGeom prst="rect">
            <a:avLst/>
          </a:prstGeom>
          <a:noFill/>
          <a:ln/>
        </p:spPr>
        <p:txBody>
          <a:bodyPr wrap="square" lIns="0" tIns="0" rIns="0" bIns="0" rtlCol="0" anchor="ctr"/>
          <a:lstStyle/>
          <a:p>
            <a:pPr indent="0" marL="0">
              <a:buNone/>
            </a:pPr>
            <a:r>
              <a:rPr lang="en-US" sz="1750" b="1" dirty="0">
                <a:solidFill>
                  <a:srgbClr val="16202A"/>
                </a:solidFill>
                <a:latin typeface="Cambria" pitchFamily="34" charset="0"/>
                <a:ea typeface="Cambria" pitchFamily="34" charset="-122"/>
                <a:cs typeface="Cambria" pitchFamily="34" charset="-120"/>
              </a:rPr>
              <a:t>What does decentralization cost?</a:t>
            </a:r>
            <a:endParaRPr lang="en-US" sz="1750" dirty="0"/>
          </a:p>
        </p:txBody>
      </p:sp>
      <p:sp>
        <p:nvSpPr>
          <p:cNvPr id="11" name="Text 9"/>
          <p:cNvSpPr/>
          <p:nvPr/>
        </p:nvSpPr>
        <p:spPr>
          <a:xfrm>
            <a:off x="1207008" y="3200400"/>
            <a:ext cx="10149840" cy="548640"/>
          </a:xfrm>
          <a:prstGeom prst="rect">
            <a:avLst/>
          </a:prstGeom>
          <a:noFill/>
          <a:ln/>
        </p:spPr>
        <p:txBody>
          <a:bodyPr wrap="square" lIns="0" tIns="0" rIns="0" bIns="0" rtlCol="0" anchor="ctr"/>
          <a:lstStyle/>
          <a:p>
            <a:pPr indent="0" marL="0">
              <a:lnSpc>
                <a:spcPct val="108000"/>
              </a:lnSpc>
              <a:buNone/>
            </a:pPr>
            <a:r>
              <a:rPr lang="en-US" sz="1300" dirty="0">
                <a:solidFill>
                  <a:srgbClr val="4A5A66"/>
                </a:solidFill>
                <a:latin typeface="Calibri" pitchFamily="34" charset="0"/>
                <a:ea typeface="Calibri" pitchFamily="34" charset="-122"/>
                <a:cs typeface="Calibri" pitchFamily="34" charset="-120"/>
              </a:rPr>
              <a:t>How the false-negative rate and time to verdict vary with witness count k and byzantine fraction f, using dishonest witnesses we operate, together with the availability constraint P(≥k online and dialable).</a:t>
            </a:r>
            <a:endParaRPr lang="en-US" sz="1300" dirty="0"/>
          </a:p>
        </p:txBody>
      </p:sp>
      <p:sp>
        <p:nvSpPr>
          <p:cNvPr id="12" name="Shape 10"/>
          <p:cNvSpPr/>
          <p:nvPr/>
        </p:nvSpPr>
        <p:spPr>
          <a:xfrm>
            <a:off x="594360" y="3995928"/>
            <a:ext cx="384048" cy="384048"/>
          </a:xfrm>
          <a:prstGeom prst="ellipse">
            <a:avLst/>
          </a:prstGeom>
          <a:solidFill>
            <a:srgbClr val="0E7C86"/>
          </a:solidFill>
          <a:ln w="12700">
            <a:solidFill>
              <a:srgbClr val="0E7C86"/>
            </a:solidFill>
            <a:prstDash val="solid"/>
          </a:ln>
        </p:spPr>
      </p:sp>
      <p:sp>
        <p:nvSpPr>
          <p:cNvPr id="13" name="Text 11"/>
          <p:cNvSpPr/>
          <p:nvPr/>
        </p:nvSpPr>
        <p:spPr>
          <a:xfrm>
            <a:off x="594360" y="39959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207008" y="3886200"/>
            <a:ext cx="10241280" cy="347472"/>
          </a:xfrm>
          <a:prstGeom prst="rect">
            <a:avLst/>
          </a:prstGeom>
          <a:noFill/>
          <a:ln/>
        </p:spPr>
        <p:txBody>
          <a:bodyPr wrap="square" lIns="0" tIns="0" rIns="0" bIns="0" rtlCol="0" anchor="ctr"/>
          <a:lstStyle/>
          <a:p>
            <a:pPr indent="0" marL="0">
              <a:buNone/>
            </a:pPr>
            <a:r>
              <a:rPr lang="en-US" sz="1750" b="1" dirty="0">
                <a:solidFill>
                  <a:srgbClr val="16202A"/>
                </a:solidFill>
                <a:latin typeface="Cambria" pitchFamily="34" charset="0"/>
                <a:ea typeface="Cambria" pitchFamily="34" charset="-122"/>
                <a:cs typeface="Cambria" pitchFamily="34" charset="-120"/>
              </a:rPr>
              <a:t>Which NAT behaviours occur in our users’ networks, and how prevalent are they?</a:t>
            </a:r>
            <a:endParaRPr lang="en-US" sz="1750" dirty="0"/>
          </a:p>
        </p:txBody>
      </p:sp>
      <p:sp>
        <p:nvSpPr>
          <p:cNvPr id="15" name="Text 13"/>
          <p:cNvSpPr/>
          <p:nvPr/>
        </p:nvSpPr>
        <p:spPr>
          <a:xfrm>
            <a:off x="1207008" y="4251960"/>
            <a:ext cx="10149840" cy="548640"/>
          </a:xfrm>
          <a:prstGeom prst="rect">
            <a:avLst/>
          </a:prstGeom>
          <a:noFill/>
          <a:ln/>
        </p:spPr>
        <p:txBody>
          <a:bodyPr wrap="square" lIns="0" tIns="0" rIns="0" bIns="0" rtlCol="0" anchor="ctr"/>
          <a:lstStyle/>
          <a:p>
            <a:pPr indent="0" marL="0">
              <a:lnSpc>
                <a:spcPct val="108000"/>
              </a:lnSpc>
              <a:buNone/>
            </a:pPr>
            <a:r>
              <a:rPr lang="en-US" sz="1300" dirty="0">
                <a:solidFill>
                  <a:srgbClr val="4A5A66"/>
                </a:solidFill>
                <a:latin typeface="Calibri" pitchFamily="34" charset="0"/>
                <a:ea typeface="Calibri" pitchFamily="34" charset="-122"/>
                <a:cs typeface="Calibri" pitchFamily="34" charset="-120"/>
              </a:rPr>
              <a:t>Each stratum is characterized on our own handsets, by carrier and APN for cellular and by ISP and CGNAT status for residential, and the strata are weighted by published subscriber counts and per-AS end-user estimates.</a:t>
            </a:r>
            <a:endParaRPr lang="en-US" sz="1300" dirty="0"/>
          </a:p>
        </p:txBody>
      </p:sp>
      <p:sp>
        <p:nvSpPr>
          <p:cNvPr id="16" name="Shape 14"/>
          <p:cNvSpPr/>
          <p:nvPr/>
        </p:nvSpPr>
        <p:spPr>
          <a:xfrm>
            <a:off x="594360" y="5047488"/>
            <a:ext cx="384048" cy="384048"/>
          </a:xfrm>
          <a:prstGeom prst="ellipse">
            <a:avLst/>
          </a:prstGeom>
          <a:solidFill>
            <a:srgbClr val="0E7C86"/>
          </a:solidFill>
          <a:ln w="12700">
            <a:solidFill>
              <a:srgbClr val="0E7C86"/>
            </a:solidFill>
            <a:prstDash val="solid"/>
          </a:ln>
        </p:spPr>
      </p:sp>
      <p:sp>
        <p:nvSpPr>
          <p:cNvPr id="17" name="Text 15"/>
          <p:cNvSpPr/>
          <p:nvPr/>
        </p:nvSpPr>
        <p:spPr>
          <a:xfrm>
            <a:off x="594360" y="50474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207008" y="4937760"/>
            <a:ext cx="10241280" cy="347472"/>
          </a:xfrm>
          <a:prstGeom prst="rect">
            <a:avLst/>
          </a:prstGeom>
          <a:noFill/>
          <a:ln/>
        </p:spPr>
        <p:txBody>
          <a:bodyPr wrap="square" lIns="0" tIns="0" rIns="0" bIns="0" rtlCol="0" anchor="ctr"/>
          <a:lstStyle/>
          <a:p>
            <a:pPr indent="0" marL="0">
              <a:buNone/>
            </a:pPr>
            <a:r>
              <a:rPr lang="en-US" sz="1750" b="1" dirty="0">
                <a:solidFill>
                  <a:srgbClr val="16202A"/>
                </a:solidFill>
                <a:latin typeface="Cambria" pitchFamily="34" charset="0"/>
                <a:ea typeface="Cambria" pitchFamily="34" charset="-122"/>
                <a:cs typeface="Cambria" pitchFamily="34" charset="-120"/>
              </a:rPr>
              <a:t>What should the transport do at dial time?</a:t>
            </a:r>
            <a:endParaRPr lang="en-US" sz="1750" dirty="0"/>
          </a:p>
        </p:txBody>
      </p:sp>
      <p:sp>
        <p:nvSpPr>
          <p:cNvPr id="19" name="Text 17"/>
          <p:cNvSpPr/>
          <p:nvPr/>
        </p:nvSpPr>
        <p:spPr>
          <a:xfrm>
            <a:off x="1207008" y="5303520"/>
            <a:ext cx="10149840" cy="548640"/>
          </a:xfrm>
          <a:prstGeom prst="rect">
            <a:avLst/>
          </a:prstGeom>
          <a:noFill/>
          <a:ln/>
        </p:spPr>
        <p:txBody>
          <a:bodyPr wrap="square" lIns="0" tIns="0" rIns="0" bIns="0" rtlCol="0" anchor="ctr"/>
          <a:lstStyle/>
          <a:p>
            <a:pPr indent="0" marL="0">
              <a:lnSpc>
                <a:spcPct val="108000"/>
              </a:lnSpc>
              <a:buNone/>
            </a:pPr>
            <a:r>
              <a:rPr lang="en-US" sz="1300" dirty="0">
                <a:solidFill>
                  <a:srgbClr val="4A5A66"/>
                </a:solidFill>
                <a:latin typeface="Calibri" pitchFamily="34" charset="0"/>
                <a:ea typeface="Calibri" pitchFamily="34" charset="-122"/>
                <a:cs typeface="Calibri" pitchFamily="34" charset="-120"/>
              </a:rPr>
              <a:t>A decision rule over the inputs the transport holds at the moment it decides: attempt directly, request mediation, or abort.</a:t>
            </a:r>
            <a:endParaRPr lang="en-US" sz="1300" dirty="0"/>
          </a:p>
        </p:txBody>
      </p:sp>
      <p:sp>
        <p:nvSpPr>
          <p:cNvPr id="20" name="Shape 18"/>
          <p:cNvSpPr/>
          <p:nvPr/>
        </p:nvSpPr>
        <p:spPr>
          <a:xfrm>
            <a:off x="548640" y="5852160"/>
            <a:ext cx="11064240" cy="658368"/>
          </a:xfrm>
          <a:prstGeom prst="roundRect">
            <a:avLst>
              <a:gd name="adj" fmla="val 8333"/>
            </a:avLst>
          </a:prstGeom>
          <a:solidFill>
            <a:srgbClr val="E7F1F1"/>
          </a:solidFill>
          <a:ln w="6350">
            <a:solidFill>
              <a:srgbClr val="E7F1F1"/>
            </a:solidFill>
            <a:prstDash val="solid"/>
          </a:ln>
        </p:spPr>
      </p:sp>
      <p:sp>
        <p:nvSpPr>
          <p:cNvPr id="21" name="Text 19"/>
          <p:cNvSpPr/>
          <p:nvPr/>
        </p:nvSpPr>
        <p:spPr>
          <a:xfrm>
            <a:off x="868680" y="5989320"/>
            <a:ext cx="10424160" cy="411480"/>
          </a:xfrm>
          <a:prstGeom prst="rect">
            <a:avLst/>
          </a:prstGeom>
          <a:noFill/>
          <a:ln/>
        </p:spPr>
        <p:txBody>
          <a:bodyPr wrap="square" lIns="0" tIns="0" rIns="0" bIns="0" rtlCol="0" anchor="ctr"/>
          <a:lstStyle/>
          <a:p>
            <a:pPr indent="0" marL="0">
              <a:lnSpc>
                <a:spcPct val="105000"/>
              </a:lnSpc>
              <a:buNone/>
            </a:pPr>
            <a:r>
              <a:rPr lang="en-US" sz="1250" b="1" dirty="0">
                <a:solidFill>
                  <a:srgbClr val="0A5A62"/>
                </a:solidFill>
                <a:latin typeface="Calibri" pitchFamily="34" charset="0"/>
                <a:ea typeface="Calibri" pitchFamily="34" charset="-122"/>
                <a:cs typeface="Calibri" pitchFamily="34" charset="-120"/>
              </a:rPr>
              <a:t>Denominator:  </a:t>
            </a:r>
            <a:pPr indent="0" marL="0">
              <a:lnSpc>
                <a:spcPct val="105000"/>
              </a:lnSpc>
              <a:buNone/>
            </a:pPr>
            <a:r>
              <a:rPr lang="en-US" sz="1250" dirty="0">
                <a:solidFill>
                  <a:srgbClr val="3E4C57"/>
                </a:solidFill>
                <a:latin typeface="Calibri" pitchFamily="34" charset="0"/>
                <a:ea typeface="Calibri" pitchFamily="34" charset="-122"/>
                <a:cs typeface="Calibri" pitchFamily="34" charset="-120"/>
              </a:rPr>
              <a:t>consumer-APN mobile lines and residential broadband lines in the countries covered, at the date of measurement, rather than devices, humans, or GN users. No confidence interval is computable, as the design contains no probabilistic sampling.</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SIX MONTHS, WITH EXIT CRITERIA</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16202A"/>
                </a:solidFill>
                <a:latin typeface="Cambria" pitchFamily="34" charset="0"/>
                <a:ea typeface="Cambria" pitchFamily="34" charset="-122"/>
                <a:cs typeface="Cambria" pitchFamily="34" charset="-120"/>
              </a:rPr>
              <a:t>Milestones</a:t>
            </a:r>
            <a:endParaRPr lang="en-US" sz="3400" dirty="0"/>
          </a:p>
        </p:txBody>
      </p:sp>
      <p:sp>
        <p:nvSpPr>
          <p:cNvPr id="4" name="Shape 2"/>
          <p:cNvSpPr/>
          <p:nvPr/>
        </p:nvSpPr>
        <p:spPr>
          <a:xfrm>
            <a:off x="548640" y="1746504"/>
            <a:ext cx="11064240" cy="621792"/>
          </a:xfrm>
          <a:prstGeom prst="roundRect">
            <a:avLst>
              <a:gd name="adj" fmla="val 8824"/>
            </a:avLst>
          </a:prstGeom>
          <a:solidFill>
            <a:srgbClr val="F6F9F9"/>
          </a:solidFill>
          <a:ln w="6350">
            <a:solidFill>
              <a:srgbClr val="F6F9F9"/>
            </a:solidFill>
            <a:prstDash val="solid"/>
          </a:ln>
        </p:spPr>
      </p:sp>
      <p:sp>
        <p:nvSpPr>
          <p:cNvPr id="5" name="Shape 3"/>
          <p:cNvSpPr/>
          <p:nvPr/>
        </p:nvSpPr>
        <p:spPr>
          <a:xfrm>
            <a:off x="694944" y="1874520"/>
            <a:ext cx="384048" cy="384048"/>
          </a:xfrm>
          <a:prstGeom prst="ellipse">
            <a:avLst/>
          </a:prstGeom>
          <a:solidFill>
            <a:srgbClr val="0E7C86"/>
          </a:solidFill>
          <a:ln w="12700">
            <a:solidFill>
              <a:srgbClr val="0E7C86"/>
            </a:solidFill>
            <a:prstDash val="solid"/>
          </a:ln>
        </p:spPr>
      </p:sp>
      <p:sp>
        <p:nvSpPr>
          <p:cNvPr id="6" name="Text 4"/>
          <p:cNvSpPr/>
          <p:nvPr/>
        </p:nvSpPr>
        <p:spPr>
          <a:xfrm>
            <a:off x="694944" y="18745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234440" y="1801368"/>
            <a:ext cx="1691640" cy="5029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Scope + strata</a:t>
            </a:r>
            <a:endParaRPr lang="en-US" sz="1350" dirty="0"/>
          </a:p>
        </p:txBody>
      </p:sp>
      <p:sp>
        <p:nvSpPr>
          <p:cNvPr id="8" name="Text 6"/>
          <p:cNvSpPr/>
          <p:nvPr/>
        </p:nvSpPr>
        <p:spPr>
          <a:xfrm>
            <a:off x="2971800" y="1801368"/>
            <a:ext cx="4160520" cy="530352"/>
          </a:xfrm>
          <a:prstGeom prst="rect">
            <a:avLst/>
          </a:prstGeom>
          <a:noFill/>
          <a:ln/>
        </p:spPr>
        <p:txBody>
          <a:bodyPr wrap="square" lIns="0" tIns="0" rIns="0" bIns="0" rtlCol="0" anchor="ctr"/>
          <a:lstStyle/>
          <a:p>
            <a:pPr indent="0" marL="0">
              <a:lnSpc>
                <a:spcPct val="100000"/>
              </a:lnSpc>
              <a:buNone/>
            </a:pPr>
            <a:r>
              <a:rPr lang="en-US" sz="1100" dirty="0">
                <a:solidFill>
                  <a:srgbClr val="4A5A66"/>
                </a:solidFill>
                <a:latin typeface="Calibri" pitchFamily="34" charset="0"/>
                <a:ea typeface="Calibri" pitchFamily="34" charset="-122"/>
                <a:cs typeface="Calibri" pitchFamily="34" charset="-120"/>
              </a:rPr>
              <a:t>Measurand in RFC 4787/5780 terms, threat model, aggregation rule, stratum design and testbed inventory</a:t>
            </a:r>
            <a:endParaRPr lang="en-US" sz="1100" dirty="0"/>
          </a:p>
        </p:txBody>
      </p:sp>
      <p:sp>
        <p:nvSpPr>
          <p:cNvPr id="9" name="Text 7"/>
          <p:cNvSpPr/>
          <p:nvPr/>
        </p:nvSpPr>
        <p:spPr>
          <a:xfrm>
            <a:off x="7269480" y="1801368"/>
            <a:ext cx="4343400" cy="530352"/>
          </a:xfrm>
          <a:prstGeom prst="rect">
            <a:avLst/>
          </a:prstGeom>
          <a:noFill/>
          <a:ln/>
        </p:spPr>
        <p:txBody>
          <a:bodyPr wrap="square" lIns="0" tIns="0" rIns="0" bIns="0" rtlCol="0" anchor="ctr"/>
          <a:lstStyle/>
          <a:p>
            <a:pPr indent="0" marL="0">
              <a:lnSpc>
                <a:spcPct val="100000"/>
              </a:lnSpc>
              <a:buNone/>
            </a:pPr>
            <a:r>
              <a:rPr lang="en-US" sz="1100" i="1" dirty="0">
                <a:solidFill>
                  <a:srgbClr val="0A5A62"/>
                </a:solidFill>
                <a:latin typeface="Calibri" pitchFamily="34" charset="0"/>
                <a:ea typeface="Calibri" pitchFamily="34" charset="-122"/>
                <a:cs typeface="Calibri" pitchFamily="34" charset="-120"/>
              </a:rPr>
              <a:t>Design doc with the test-to-witness-topology table; strata defined, weight sources named, kit list costed</a:t>
            </a:r>
            <a:endParaRPr lang="en-US" sz="1100" dirty="0"/>
          </a:p>
        </p:txBody>
      </p:sp>
      <p:sp>
        <p:nvSpPr>
          <p:cNvPr id="10" name="Shape 8"/>
          <p:cNvSpPr/>
          <p:nvPr/>
        </p:nvSpPr>
        <p:spPr>
          <a:xfrm>
            <a:off x="694944" y="2514600"/>
            <a:ext cx="384048" cy="384048"/>
          </a:xfrm>
          <a:prstGeom prst="ellipse">
            <a:avLst/>
          </a:prstGeom>
          <a:solidFill>
            <a:srgbClr val="0E7C86"/>
          </a:solidFill>
          <a:ln w="12700">
            <a:solidFill>
              <a:srgbClr val="0E7C86"/>
            </a:solidFill>
            <a:prstDash val="solid"/>
          </a:ln>
        </p:spPr>
      </p:sp>
      <p:sp>
        <p:nvSpPr>
          <p:cNvPr id="11" name="Text 9"/>
          <p:cNvSpPr/>
          <p:nvPr/>
        </p:nvSpPr>
        <p:spPr>
          <a:xfrm>
            <a:off x="694944" y="2514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234440" y="2441448"/>
            <a:ext cx="1691640" cy="5029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Oracle + bench</a:t>
            </a:r>
            <a:endParaRPr lang="en-US" sz="1350" dirty="0"/>
          </a:p>
        </p:txBody>
      </p:sp>
      <p:sp>
        <p:nvSpPr>
          <p:cNvPr id="13" name="Text 11"/>
          <p:cNvSpPr/>
          <p:nvPr/>
        </p:nvSpPr>
        <p:spPr>
          <a:xfrm>
            <a:off x="2971800" y="2441448"/>
            <a:ext cx="4160520" cy="530352"/>
          </a:xfrm>
          <a:prstGeom prst="rect">
            <a:avLst/>
          </a:prstGeom>
          <a:noFill/>
          <a:ln/>
        </p:spPr>
        <p:txBody>
          <a:bodyPr wrap="square" lIns="0" tIns="0" rIns="0" bIns="0" rtlCol="0" anchor="ctr"/>
          <a:lstStyle/>
          <a:p>
            <a:pPr indent="0" marL="0">
              <a:lnSpc>
                <a:spcPct val="100000"/>
              </a:lnSpc>
              <a:buNone/>
            </a:pPr>
            <a:r>
              <a:rPr lang="en-US" sz="1100" dirty="0">
                <a:solidFill>
                  <a:srgbClr val="4A5A66"/>
                </a:solidFill>
                <a:latin typeface="Calibri" pitchFamily="34" charset="0"/>
                <a:ea typeface="Calibri" pitchFamily="34" charset="-122"/>
                <a:cs typeface="Calibri" pitchFamily="34" charset="-120"/>
              </a:rPr>
              <a:t>RFC 5780 server on two IPs × two ports; netfilter and CPE bench, with address-dependent mapping built deliberately — no netfilter flag produces it</a:t>
            </a:r>
            <a:endParaRPr lang="en-US" sz="1100" dirty="0"/>
          </a:p>
        </p:txBody>
      </p:sp>
      <p:sp>
        <p:nvSpPr>
          <p:cNvPr id="14" name="Text 12"/>
          <p:cNvSpPr/>
          <p:nvPr/>
        </p:nvSpPr>
        <p:spPr>
          <a:xfrm>
            <a:off x="7269480" y="2441448"/>
            <a:ext cx="4343400" cy="530352"/>
          </a:xfrm>
          <a:prstGeom prst="rect">
            <a:avLst/>
          </a:prstGeom>
          <a:noFill/>
          <a:ln/>
        </p:spPr>
        <p:txBody>
          <a:bodyPr wrap="square" lIns="0" tIns="0" rIns="0" bIns="0" rtlCol="0" anchor="ctr"/>
          <a:lstStyle/>
          <a:p>
            <a:pPr indent="0" marL="0">
              <a:lnSpc>
                <a:spcPct val="100000"/>
              </a:lnSpc>
              <a:buNone/>
            </a:pPr>
            <a:r>
              <a:rPr lang="en-US" sz="1100" i="1" dirty="0">
                <a:solidFill>
                  <a:srgbClr val="0A5A62"/>
                </a:solidFill>
                <a:latin typeface="Calibri" pitchFamily="34" charset="0"/>
                <a:ea typeface="Calibri" pitchFamily="34" charset="-122"/>
                <a:cs typeface="Calibri" pitchFamily="34" charset="-120"/>
              </a:rPr>
              <a:t>One command, ≥8 configs, all three mapping classes present, ≥95% agreement with construction labels</a:t>
            </a:r>
            <a:endParaRPr lang="en-US" sz="1100" dirty="0"/>
          </a:p>
        </p:txBody>
      </p:sp>
      <p:sp>
        <p:nvSpPr>
          <p:cNvPr id="15" name="Shape 13"/>
          <p:cNvSpPr/>
          <p:nvPr/>
        </p:nvSpPr>
        <p:spPr>
          <a:xfrm>
            <a:off x="548640" y="3026664"/>
            <a:ext cx="11064240" cy="621792"/>
          </a:xfrm>
          <a:prstGeom prst="roundRect">
            <a:avLst>
              <a:gd name="adj" fmla="val 8824"/>
            </a:avLst>
          </a:prstGeom>
          <a:solidFill>
            <a:srgbClr val="F6F9F9"/>
          </a:solidFill>
          <a:ln w="6350">
            <a:solidFill>
              <a:srgbClr val="F6F9F9"/>
            </a:solidFill>
            <a:prstDash val="solid"/>
          </a:ln>
        </p:spPr>
      </p:sp>
      <p:sp>
        <p:nvSpPr>
          <p:cNvPr id="16" name="Shape 14"/>
          <p:cNvSpPr/>
          <p:nvPr/>
        </p:nvSpPr>
        <p:spPr>
          <a:xfrm>
            <a:off x="694944" y="3154680"/>
            <a:ext cx="384048" cy="384048"/>
          </a:xfrm>
          <a:prstGeom prst="ellipse">
            <a:avLst/>
          </a:prstGeom>
          <a:solidFill>
            <a:srgbClr val="0E7C86"/>
          </a:solidFill>
          <a:ln w="12700">
            <a:solidFill>
              <a:srgbClr val="0E7C86"/>
            </a:solidFill>
            <a:prstDash val="solid"/>
          </a:ln>
        </p:spPr>
      </p:sp>
      <p:sp>
        <p:nvSpPr>
          <p:cNvPr id="17" name="Text 15"/>
          <p:cNvSpPr/>
          <p:nvPr/>
        </p:nvSpPr>
        <p:spPr>
          <a:xfrm>
            <a:off x="694944" y="31546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234440" y="3081528"/>
            <a:ext cx="1691640" cy="5029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Detection v1</a:t>
            </a:r>
            <a:endParaRPr lang="en-US" sz="1350" dirty="0"/>
          </a:p>
        </p:txBody>
      </p:sp>
      <p:sp>
        <p:nvSpPr>
          <p:cNvPr id="19" name="Text 17"/>
          <p:cNvSpPr/>
          <p:nvPr/>
        </p:nvSpPr>
        <p:spPr>
          <a:xfrm>
            <a:off x="2971800" y="3081528"/>
            <a:ext cx="4160520" cy="530352"/>
          </a:xfrm>
          <a:prstGeom prst="rect">
            <a:avLst/>
          </a:prstGeom>
          <a:noFill/>
          <a:ln/>
        </p:spPr>
        <p:txBody>
          <a:bodyPr wrap="square" lIns="0" tIns="0" rIns="0" bIns="0" rtlCol="0" anchor="ctr"/>
          <a:lstStyle/>
          <a:p>
            <a:pPr indent="0" marL="0">
              <a:lnSpc>
                <a:spcPct val="100000"/>
              </a:lnSpc>
              <a:buNone/>
            </a:pPr>
            <a:r>
              <a:rPr lang="en-US" sz="1100" dirty="0">
                <a:solidFill>
                  <a:srgbClr val="4A5A66"/>
                </a:solidFill>
                <a:latin typeface="Calibri" pitchFamily="34" charset="0"/>
                <a:ea typeface="Calibri" pitchFamily="34" charset="-122"/>
                <a:cs typeface="Calibri" pitchFamily="34" charset="-120"/>
              </a:rPr>
              <a:t>Nonce’d dial-back, relayed filtering test, contamination guard, anti-amplification defences</a:t>
            </a:r>
            <a:endParaRPr lang="en-US" sz="1100" dirty="0"/>
          </a:p>
        </p:txBody>
      </p:sp>
      <p:sp>
        <p:nvSpPr>
          <p:cNvPr id="20" name="Text 18"/>
          <p:cNvSpPr/>
          <p:nvPr/>
        </p:nvSpPr>
        <p:spPr>
          <a:xfrm>
            <a:off x="7269480" y="3081528"/>
            <a:ext cx="4343400" cy="530352"/>
          </a:xfrm>
          <a:prstGeom prst="rect">
            <a:avLst/>
          </a:prstGeom>
          <a:noFill/>
          <a:ln/>
        </p:spPr>
        <p:txBody>
          <a:bodyPr wrap="square" lIns="0" tIns="0" rIns="0" bIns="0" rtlCol="0" anchor="ctr"/>
          <a:lstStyle/>
          <a:p>
            <a:pPr indent="0" marL="0">
              <a:lnSpc>
                <a:spcPct val="100000"/>
              </a:lnSpc>
              <a:buNone/>
            </a:pPr>
            <a:r>
              <a:rPr lang="en-US" sz="1100" i="1" dirty="0">
                <a:solidFill>
                  <a:srgbClr val="0A5A62"/>
                </a:solidFill>
                <a:latin typeface="Calibri" pitchFamily="34" charset="0"/>
                <a:ea typeface="Calibri" pitchFamily="34" charset="-122"/>
                <a:cs typeface="Calibri" pitchFamily="34" charset="-120"/>
              </a:rPr>
              <a:t>≥90% agreement with the oracle on the bench; three adversarial properties proven in tests</a:t>
            </a:r>
            <a:endParaRPr lang="en-US" sz="1100" dirty="0"/>
          </a:p>
        </p:txBody>
      </p:sp>
      <p:sp>
        <p:nvSpPr>
          <p:cNvPr id="21" name="Shape 19"/>
          <p:cNvSpPr/>
          <p:nvPr/>
        </p:nvSpPr>
        <p:spPr>
          <a:xfrm>
            <a:off x="694944" y="3794760"/>
            <a:ext cx="384048" cy="384048"/>
          </a:xfrm>
          <a:prstGeom prst="ellipse">
            <a:avLst/>
          </a:prstGeom>
          <a:solidFill>
            <a:srgbClr val="0E7C86"/>
          </a:solidFill>
          <a:ln w="12700">
            <a:solidFill>
              <a:srgbClr val="0E7C86"/>
            </a:solidFill>
            <a:prstDash val="solid"/>
          </a:ln>
        </p:spPr>
      </p:sp>
      <p:sp>
        <p:nvSpPr>
          <p:cNvPr id="22" name="Text 20"/>
          <p:cNvSpPr/>
          <p:nvPr/>
        </p:nvSpPr>
        <p:spPr>
          <a:xfrm>
            <a:off x="694944" y="37947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1234440" y="3721608"/>
            <a:ext cx="1691640" cy="5029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Baselines</a:t>
            </a:r>
            <a:endParaRPr lang="en-US" sz="1350" dirty="0"/>
          </a:p>
        </p:txBody>
      </p:sp>
      <p:sp>
        <p:nvSpPr>
          <p:cNvPr id="24" name="Text 22"/>
          <p:cNvSpPr/>
          <p:nvPr/>
        </p:nvSpPr>
        <p:spPr>
          <a:xfrm>
            <a:off x="2971800" y="3721608"/>
            <a:ext cx="4160520" cy="530352"/>
          </a:xfrm>
          <a:prstGeom prst="rect">
            <a:avLst/>
          </a:prstGeom>
          <a:noFill/>
          <a:ln/>
        </p:spPr>
        <p:txBody>
          <a:bodyPr wrap="square" lIns="0" tIns="0" rIns="0" bIns="0" rtlCol="0" anchor="ctr"/>
          <a:lstStyle/>
          <a:p>
            <a:pPr indent="0" marL="0">
              <a:lnSpc>
                <a:spcPct val="100000"/>
              </a:lnSpc>
              <a:buNone/>
            </a:pPr>
            <a:r>
              <a:rPr lang="en-US" sz="1100" dirty="0">
                <a:solidFill>
                  <a:srgbClr val="4A5A66"/>
                </a:solidFill>
                <a:latin typeface="Calibri" pitchFamily="34" charset="0"/>
                <a:ea typeface="Calibri" pitchFamily="34" charset="-122"/>
                <a:cs typeface="Calibri" pitchFamily="34" charset="-120"/>
              </a:rPr>
              <a:t>autoNAT v1/v2 sidecar; back-to-back harness; sweep k against byzantine fraction f</a:t>
            </a:r>
            <a:endParaRPr lang="en-US" sz="1100" dirty="0"/>
          </a:p>
        </p:txBody>
      </p:sp>
      <p:sp>
        <p:nvSpPr>
          <p:cNvPr id="25" name="Text 23"/>
          <p:cNvSpPr/>
          <p:nvPr/>
        </p:nvSpPr>
        <p:spPr>
          <a:xfrm>
            <a:off x="7269480" y="3721608"/>
            <a:ext cx="4343400" cy="530352"/>
          </a:xfrm>
          <a:prstGeom prst="rect">
            <a:avLst/>
          </a:prstGeom>
          <a:noFill/>
          <a:ln/>
        </p:spPr>
        <p:txBody>
          <a:bodyPr wrap="square" lIns="0" tIns="0" rIns="0" bIns="0" rtlCol="0" anchor="ctr"/>
          <a:lstStyle/>
          <a:p>
            <a:pPr indent="0" marL="0">
              <a:lnSpc>
                <a:spcPct val="100000"/>
              </a:lnSpc>
              <a:buNone/>
            </a:pPr>
            <a:r>
              <a:rPr lang="en-US" sz="1100" i="1" dirty="0">
                <a:solidFill>
                  <a:srgbClr val="0A5A62"/>
                </a:solidFill>
                <a:latin typeface="Calibri" pitchFamily="34" charset="0"/>
                <a:ea typeface="Calibri" pitchFamily="34" charset="-122"/>
                <a:cs typeface="Calibri" pitchFamily="34" charset="-120"/>
              </a:rPr>
              <a:t>One CSV row per device/network/epoch with all four verdicts, latency, bytes, battery</a:t>
            </a:r>
            <a:endParaRPr lang="en-US" sz="1100" dirty="0"/>
          </a:p>
        </p:txBody>
      </p:sp>
      <p:sp>
        <p:nvSpPr>
          <p:cNvPr id="26" name="Shape 24"/>
          <p:cNvSpPr/>
          <p:nvPr/>
        </p:nvSpPr>
        <p:spPr>
          <a:xfrm>
            <a:off x="548640" y="4306824"/>
            <a:ext cx="11064240" cy="621792"/>
          </a:xfrm>
          <a:prstGeom prst="roundRect">
            <a:avLst>
              <a:gd name="adj" fmla="val 8824"/>
            </a:avLst>
          </a:prstGeom>
          <a:solidFill>
            <a:srgbClr val="F6F9F9"/>
          </a:solidFill>
          <a:ln w="6350">
            <a:solidFill>
              <a:srgbClr val="F6F9F9"/>
            </a:solidFill>
            <a:prstDash val="solid"/>
          </a:ln>
        </p:spPr>
      </p:sp>
      <p:sp>
        <p:nvSpPr>
          <p:cNvPr id="27" name="Shape 25"/>
          <p:cNvSpPr/>
          <p:nvPr/>
        </p:nvSpPr>
        <p:spPr>
          <a:xfrm>
            <a:off x="694944" y="4434840"/>
            <a:ext cx="384048" cy="384048"/>
          </a:xfrm>
          <a:prstGeom prst="ellipse">
            <a:avLst/>
          </a:prstGeom>
          <a:solidFill>
            <a:srgbClr val="0E7C86"/>
          </a:solidFill>
          <a:ln w="12700">
            <a:solidFill>
              <a:srgbClr val="0E7C86"/>
            </a:solidFill>
            <a:prstDash val="solid"/>
          </a:ln>
        </p:spPr>
      </p:sp>
      <p:sp>
        <p:nvSpPr>
          <p:cNvPr id="28" name="Text 26"/>
          <p:cNvSpPr/>
          <p:nvPr/>
        </p:nvSpPr>
        <p:spPr>
          <a:xfrm>
            <a:off x="694944" y="4434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9" name="Text 27"/>
          <p:cNvSpPr/>
          <p:nvPr/>
        </p:nvSpPr>
        <p:spPr>
          <a:xfrm>
            <a:off x="1234440" y="4361688"/>
            <a:ext cx="1691640" cy="5029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Testbed campaign</a:t>
            </a:r>
            <a:endParaRPr lang="en-US" sz="1350" dirty="0"/>
          </a:p>
        </p:txBody>
      </p:sp>
      <p:sp>
        <p:nvSpPr>
          <p:cNvPr id="30" name="Text 28"/>
          <p:cNvSpPr/>
          <p:nvPr/>
        </p:nvSpPr>
        <p:spPr>
          <a:xfrm>
            <a:off x="2971800" y="4361688"/>
            <a:ext cx="4160520" cy="530352"/>
          </a:xfrm>
          <a:prstGeom prst="rect">
            <a:avLst/>
          </a:prstGeom>
          <a:noFill/>
          <a:ln/>
        </p:spPr>
        <p:txBody>
          <a:bodyPr wrap="square" lIns="0" tIns="0" rIns="0" bIns="0" rtlCol="0" anchor="ctr"/>
          <a:lstStyle/>
          <a:p>
            <a:pPr indent="0" marL="0">
              <a:lnSpc>
                <a:spcPct val="100000"/>
              </a:lnSpc>
              <a:buNone/>
            </a:pPr>
            <a:r>
              <a:rPr lang="en-US" sz="1100" dirty="0">
                <a:solidFill>
                  <a:srgbClr val="4A5A66"/>
                </a:solidFill>
                <a:latin typeface="Calibri" pitchFamily="34" charset="0"/>
                <a:ea typeface="Calibri" pitchFamily="34" charset="-122"/>
                <a:cs typeface="Calibri" pitchFamily="34" charset="-120"/>
              </a:rPr>
              <a:t>Every stratum: ≥2 SIMs × ≥2 handset stacks per carrier, screen on/off, roaming triggered deliberately</a:t>
            </a:r>
            <a:endParaRPr lang="en-US" sz="1100" dirty="0"/>
          </a:p>
        </p:txBody>
      </p:sp>
      <p:sp>
        <p:nvSpPr>
          <p:cNvPr id="31" name="Text 29"/>
          <p:cNvSpPr/>
          <p:nvPr/>
        </p:nvSpPr>
        <p:spPr>
          <a:xfrm>
            <a:off x="7269480" y="4361688"/>
            <a:ext cx="4343400" cy="530352"/>
          </a:xfrm>
          <a:prstGeom prst="rect">
            <a:avLst/>
          </a:prstGeom>
          <a:noFill/>
          <a:ln/>
        </p:spPr>
        <p:txBody>
          <a:bodyPr wrap="square" lIns="0" tIns="0" rIns="0" bIns="0" rtlCol="0" anchor="ctr"/>
          <a:lstStyle/>
          <a:p>
            <a:pPr indent="0" marL="0">
              <a:lnSpc>
                <a:spcPct val="100000"/>
              </a:lnSpc>
              <a:buNone/>
            </a:pPr>
            <a:r>
              <a:rPr lang="en-US" sz="1100" i="1" dirty="0">
                <a:solidFill>
                  <a:srgbClr val="0A5A62"/>
                </a:solidFill>
                <a:latin typeface="Calibri" pitchFamily="34" charset="0"/>
                <a:ea typeface="Calibri" pitchFamily="34" charset="-122"/>
                <a:cs typeface="Calibri" pitchFamily="34" charset="-120"/>
              </a:rPr>
              <a:t>Every stratum characterized with its homogeneity check; disagreement splits a stratum; unreached strata listed with their weight</a:t>
            </a:r>
            <a:endParaRPr lang="en-US" sz="1100" dirty="0"/>
          </a:p>
        </p:txBody>
      </p:sp>
      <p:sp>
        <p:nvSpPr>
          <p:cNvPr id="32" name="Shape 30"/>
          <p:cNvSpPr/>
          <p:nvPr/>
        </p:nvSpPr>
        <p:spPr>
          <a:xfrm>
            <a:off x="694944" y="5074920"/>
            <a:ext cx="384048" cy="384048"/>
          </a:xfrm>
          <a:prstGeom prst="ellipse">
            <a:avLst/>
          </a:prstGeom>
          <a:solidFill>
            <a:srgbClr val="0E7C86"/>
          </a:solidFill>
          <a:ln w="12700">
            <a:solidFill>
              <a:srgbClr val="0E7C86"/>
            </a:solidFill>
            <a:prstDash val="solid"/>
          </a:ln>
        </p:spPr>
      </p:sp>
      <p:sp>
        <p:nvSpPr>
          <p:cNvPr id="33" name="Text 31"/>
          <p:cNvSpPr/>
          <p:nvPr/>
        </p:nvSpPr>
        <p:spPr>
          <a:xfrm>
            <a:off x="694944" y="50749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1234440" y="5001768"/>
            <a:ext cx="1691640" cy="502920"/>
          </a:xfrm>
          <a:prstGeom prst="rect">
            <a:avLst/>
          </a:prstGeom>
          <a:noFill/>
          <a:ln/>
        </p:spPr>
        <p:txBody>
          <a:bodyPr wrap="square" lIns="0" tIns="0" rIns="0" bIns="0" rtlCol="0" anchor="ctr"/>
          <a:lstStyle/>
          <a:p>
            <a:pPr indent="0" marL="0">
              <a:buNone/>
            </a:pPr>
            <a:r>
              <a:rPr lang="en-US" sz="1350" b="1" dirty="0">
                <a:solidFill>
                  <a:srgbClr val="16202A"/>
                </a:solidFill>
                <a:latin typeface="Cambria" pitchFamily="34" charset="0"/>
                <a:ea typeface="Cambria" pitchFamily="34" charset="-122"/>
                <a:cs typeface="Cambria" pitchFamily="34" charset="-120"/>
              </a:rPr>
              <a:t>Prevalence + rule</a:t>
            </a:r>
            <a:endParaRPr lang="en-US" sz="1350" dirty="0"/>
          </a:p>
        </p:txBody>
      </p:sp>
      <p:sp>
        <p:nvSpPr>
          <p:cNvPr id="35" name="Text 33"/>
          <p:cNvSpPr/>
          <p:nvPr/>
        </p:nvSpPr>
        <p:spPr>
          <a:xfrm>
            <a:off x="2971800" y="5001768"/>
            <a:ext cx="4160520" cy="530352"/>
          </a:xfrm>
          <a:prstGeom prst="rect">
            <a:avLst/>
          </a:prstGeom>
          <a:noFill/>
          <a:ln/>
        </p:spPr>
        <p:txBody>
          <a:bodyPr wrap="square" lIns="0" tIns="0" rIns="0" bIns="0" rtlCol="0" anchor="ctr"/>
          <a:lstStyle/>
          <a:p>
            <a:pPr indent="0" marL="0">
              <a:lnSpc>
                <a:spcPct val="100000"/>
              </a:lnSpc>
              <a:buNone/>
            </a:pPr>
            <a:r>
              <a:rPr lang="en-US" sz="1100" dirty="0">
                <a:solidFill>
                  <a:srgbClr val="4A5A66"/>
                </a:solidFill>
                <a:latin typeface="Calibri" pitchFamily="34" charset="0"/>
                <a:ea typeface="Calibri" pitchFamily="34" charset="-122"/>
                <a:cs typeface="Calibri" pitchFamily="34" charset="-120"/>
              </a:rPr>
              <a:t>Weight strata into prevalence with the four-arm sensitivity analysis; fit the transport rule; measure address exposure; write</a:t>
            </a:r>
            <a:endParaRPr lang="en-US" sz="1100" dirty="0"/>
          </a:p>
        </p:txBody>
      </p:sp>
      <p:sp>
        <p:nvSpPr>
          <p:cNvPr id="36" name="Text 34"/>
          <p:cNvSpPr/>
          <p:nvPr/>
        </p:nvSpPr>
        <p:spPr>
          <a:xfrm>
            <a:off x="7269480" y="5001768"/>
            <a:ext cx="4343400" cy="530352"/>
          </a:xfrm>
          <a:prstGeom prst="rect">
            <a:avLst/>
          </a:prstGeom>
          <a:noFill/>
          <a:ln/>
        </p:spPr>
        <p:txBody>
          <a:bodyPr wrap="square" lIns="0" tIns="0" rIns="0" bIns="0" rtlCol="0" anchor="ctr"/>
          <a:lstStyle/>
          <a:p>
            <a:pPr indent="0" marL="0">
              <a:lnSpc>
                <a:spcPct val="100000"/>
              </a:lnSpc>
              <a:buNone/>
            </a:pPr>
            <a:r>
              <a:rPr lang="en-US" sz="1100" i="1" dirty="0">
                <a:solidFill>
                  <a:srgbClr val="0A5A62"/>
                </a:solidFill>
                <a:latin typeface="Calibri" pitchFamily="34" charset="0"/>
                <a:ea typeface="Calibri" pitchFamily="34" charset="-122"/>
                <a:cs typeface="Calibri" pitchFamily="34" charset="-120"/>
              </a:rPr>
              <a:t>Prevalence with weight table, denominator and date; dominant envelope named; predicate table validated on a held-out split</a:t>
            </a:r>
            <a:endParaRPr lang="en-US" sz="1100" dirty="0"/>
          </a:p>
        </p:txBody>
      </p:sp>
      <p:sp>
        <p:nvSpPr>
          <p:cNvPr id="37" name="Text 35"/>
          <p:cNvSpPr/>
          <p:nvPr/>
        </p:nvSpPr>
        <p:spPr>
          <a:xfrm>
            <a:off x="7269480" y="1481328"/>
            <a:ext cx="4343400" cy="237744"/>
          </a:xfrm>
          <a:prstGeom prst="rect">
            <a:avLst/>
          </a:prstGeom>
          <a:noFill/>
          <a:ln/>
        </p:spPr>
        <p:txBody>
          <a:bodyPr wrap="square" lIns="0" tIns="0" rIns="0" bIns="0" rtlCol="0" anchor="ctr"/>
          <a:lstStyle/>
          <a:p>
            <a:pPr indent="0" marL="0">
              <a:buNone/>
            </a:pPr>
            <a:r>
              <a:rPr lang="en-US" sz="950" b="1" spc="150" kern="0" dirty="0">
                <a:solidFill>
                  <a:srgbClr val="6E7F8B"/>
                </a:solidFill>
                <a:latin typeface="Calibri" pitchFamily="34" charset="0"/>
                <a:ea typeface="Calibri" pitchFamily="34" charset="-122"/>
                <a:cs typeface="Calibri" pitchFamily="34" charset="-120"/>
              </a:rPr>
              <a:t>EXIT CRITERION</a:t>
            </a:r>
            <a:endParaRPr lang="en-US" sz="950" dirty="0"/>
          </a:p>
        </p:txBody>
      </p:sp>
      <p:sp>
        <p:nvSpPr>
          <p:cNvPr id="38" name="Text 36"/>
          <p:cNvSpPr/>
          <p:nvPr/>
        </p:nvSpPr>
        <p:spPr>
          <a:xfrm>
            <a:off x="2971800" y="1481328"/>
            <a:ext cx="4160520" cy="237744"/>
          </a:xfrm>
          <a:prstGeom prst="rect">
            <a:avLst/>
          </a:prstGeom>
          <a:noFill/>
          <a:ln/>
        </p:spPr>
        <p:txBody>
          <a:bodyPr wrap="square" lIns="0" tIns="0" rIns="0" bIns="0" rtlCol="0" anchor="ctr"/>
          <a:lstStyle/>
          <a:p>
            <a:pPr indent="0" marL="0">
              <a:buNone/>
            </a:pPr>
            <a:r>
              <a:rPr lang="en-US" sz="950" b="1" spc="150" kern="0" dirty="0">
                <a:solidFill>
                  <a:srgbClr val="6E7F8B"/>
                </a:solidFill>
                <a:latin typeface="Calibri" pitchFamily="34" charset="0"/>
                <a:ea typeface="Calibri" pitchFamily="34" charset="-122"/>
                <a:cs typeface="Calibri" pitchFamily="34" charset="-120"/>
              </a:rPr>
              <a:t>WORK</a:t>
            </a:r>
            <a:endParaRPr lang="en-US" sz="950" dirty="0"/>
          </a:p>
        </p:txBody>
      </p:sp>
      <p:sp>
        <p:nvSpPr>
          <p:cNvPr id="39" name="Text 37"/>
          <p:cNvSpPr/>
          <p:nvPr/>
        </p:nvSpPr>
        <p:spPr>
          <a:xfrm>
            <a:off x="548640" y="5806440"/>
            <a:ext cx="11064240" cy="365760"/>
          </a:xfrm>
          <a:prstGeom prst="rect">
            <a:avLst/>
          </a:prstGeom>
          <a:noFill/>
          <a:ln/>
        </p:spPr>
        <p:txBody>
          <a:bodyPr wrap="square" lIns="0" tIns="0" rIns="0" bIns="0" rtlCol="0" anchor="ctr"/>
          <a:lstStyle/>
          <a:p>
            <a:pPr indent="0" marL="0">
              <a:buNone/>
            </a:pPr>
            <a:r>
              <a:rPr lang="en-US" sz="1350" i="1" dirty="0">
                <a:solidFill>
                  <a:srgbClr val="C25E28"/>
                </a:solidFill>
                <a:latin typeface="Calibri" pitchFamily="34" charset="0"/>
                <a:ea typeface="Calibri" pitchFamily="34" charset="-122"/>
                <a:cs typeface="Calibri" pitchFamily="34" charset="-120"/>
              </a:rPr>
              <a:t>Address allocation and firewall rules are procured in week 1, as they gate month 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548640" y="384048"/>
            <a:ext cx="11064240" cy="256032"/>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TO SETTLE BEFORE THE WORK BEGINS</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Open decisions</a:t>
            </a:r>
            <a:endParaRPr lang="en-US" sz="3400" dirty="0"/>
          </a:p>
        </p:txBody>
      </p:sp>
      <p:sp>
        <p:nvSpPr>
          <p:cNvPr id="4" name="Text 2"/>
          <p:cNvSpPr/>
          <p:nvPr/>
        </p:nvSpPr>
        <p:spPr>
          <a:xfrm>
            <a:off x="548640" y="1874520"/>
            <a:ext cx="5394960" cy="292608"/>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Primary claim</a:t>
            </a:r>
            <a:endParaRPr lang="en-US" sz="1600" dirty="0"/>
          </a:p>
        </p:txBody>
      </p:sp>
      <p:sp>
        <p:nvSpPr>
          <p:cNvPr id="5" name="Text 3"/>
          <p:cNvSpPr/>
          <p:nvPr/>
        </p:nvSpPr>
        <p:spPr>
          <a:xfrm>
            <a:off x="548640" y="2185416"/>
            <a:ext cx="5394960" cy="594360"/>
          </a:xfrm>
          <a:prstGeom prst="rect">
            <a:avLst/>
          </a:prstGeom>
          <a:noFill/>
          <a:ln/>
        </p:spPr>
        <p:txBody>
          <a:bodyPr wrap="square" lIns="0" tIns="0" rIns="0" bIns="0" rtlCol="0" anchor="ctr"/>
          <a:lstStyle/>
          <a:p>
            <a:pPr indent="0" marL="0">
              <a:lnSpc>
                <a:spcPct val="108000"/>
              </a:lnSpc>
              <a:buNone/>
            </a:pPr>
            <a:r>
              <a:rPr lang="en-US" sz="1250" dirty="0">
                <a:solidFill>
                  <a:srgbClr val="B7C4CC"/>
                </a:solidFill>
                <a:latin typeface="Calibri" pitchFamily="34" charset="0"/>
                <a:ea typeface="Calibri" pitchFamily="34" charset="-122"/>
                <a:cs typeface="Calibri" pitchFamily="34" charset="-120"/>
              </a:rPr>
              <a:t>The algorithm or the measurement? Both cannot be first-class within six months.</a:t>
            </a:r>
            <a:endParaRPr lang="en-US" sz="1250" dirty="0"/>
          </a:p>
        </p:txBody>
      </p:sp>
      <p:sp>
        <p:nvSpPr>
          <p:cNvPr id="6" name="Text 4"/>
          <p:cNvSpPr/>
          <p:nvPr/>
        </p:nvSpPr>
        <p:spPr>
          <a:xfrm>
            <a:off x="6172200" y="1874520"/>
            <a:ext cx="5394960" cy="292608"/>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Baseline</a:t>
            </a:r>
            <a:endParaRPr lang="en-US" sz="1600" dirty="0"/>
          </a:p>
        </p:txBody>
      </p:sp>
      <p:sp>
        <p:nvSpPr>
          <p:cNvPr id="7" name="Text 5"/>
          <p:cNvSpPr/>
          <p:nvPr/>
        </p:nvSpPr>
        <p:spPr>
          <a:xfrm>
            <a:off x="6172200" y="2185416"/>
            <a:ext cx="5394960" cy="594360"/>
          </a:xfrm>
          <a:prstGeom prst="rect">
            <a:avLst/>
          </a:prstGeom>
          <a:noFill/>
          <a:ln/>
        </p:spPr>
        <p:txBody>
          <a:bodyPr wrap="square" lIns="0" tIns="0" rIns="0" bIns="0" rtlCol="0" anchor="ctr"/>
          <a:lstStyle/>
          <a:p>
            <a:pPr indent="0" marL="0">
              <a:lnSpc>
                <a:spcPct val="108000"/>
              </a:lnSpc>
              <a:buNone/>
            </a:pPr>
            <a:r>
              <a:rPr lang="en-US" sz="1250" dirty="0">
                <a:solidFill>
                  <a:srgbClr val="B7C4CC"/>
                </a:solidFill>
                <a:latin typeface="Calibri" pitchFamily="34" charset="0"/>
                <a:ea typeface="Calibri" pitchFamily="34" charset="-122"/>
                <a:cs typeface="Calibri" pitchFamily="34" charset="-120"/>
              </a:rPr>
              <a:t>The reference implementation as a sidecar, faithful but Android-only, or a reimplementation over our own socket.</a:t>
            </a:r>
            <a:endParaRPr lang="en-US" sz="1250" dirty="0"/>
          </a:p>
        </p:txBody>
      </p:sp>
      <p:sp>
        <p:nvSpPr>
          <p:cNvPr id="8" name="Text 6"/>
          <p:cNvSpPr/>
          <p:nvPr/>
        </p:nvSpPr>
        <p:spPr>
          <a:xfrm>
            <a:off x="548640" y="2971800"/>
            <a:ext cx="5394960" cy="292608"/>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Oracle hosting</a:t>
            </a:r>
            <a:endParaRPr lang="en-US" sz="1600" dirty="0"/>
          </a:p>
        </p:txBody>
      </p:sp>
      <p:sp>
        <p:nvSpPr>
          <p:cNvPr id="9" name="Text 7"/>
          <p:cNvSpPr/>
          <p:nvPr/>
        </p:nvSpPr>
        <p:spPr>
          <a:xfrm>
            <a:off x="548640" y="3282696"/>
            <a:ext cx="5394960" cy="594360"/>
          </a:xfrm>
          <a:prstGeom prst="rect">
            <a:avLst/>
          </a:prstGeom>
          <a:noFill/>
          <a:ln/>
        </p:spPr>
        <p:txBody>
          <a:bodyPr wrap="square" lIns="0" tIns="0" rIns="0" bIns="0" rtlCol="0" anchor="ctr"/>
          <a:lstStyle/>
          <a:p>
            <a:pPr indent="0" marL="0">
              <a:lnSpc>
                <a:spcPct val="108000"/>
              </a:lnSpc>
              <a:buNone/>
            </a:pPr>
            <a:r>
              <a:rPr lang="en-US" sz="1250" dirty="0">
                <a:solidFill>
                  <a:srgbClr val="B7C4CC"/>
                </a:solidFill>
                <a:latin typeface="Calibri" pitchFamily="34" charset="0"/>
                <a:ea typeface="Calibri" pitchFamily="34" charset="-122"/>
                <a:cs typeface="Calibri" pitchFamily="34" charset="-120"/>
              </a:rPr>
              <a:t>Who provisions the reference server, and can its alternate addresses come from the block already reserved.</a:t>
            </a:r>
            <a:endParaRPr lang="en-US" sz="1250" dirty="0"/>
          </a:p>
        </p:txBody>
      </p:sp>
      <p:sp>
        <p:nvSpPr>
          <p:cNvPr id="10" name="Text 8"/>
          <p:cNvSpPr/>
          <p:nvPr/>
        </p:nvSpPr>
        <p:spPr>
          <a:xfrm>
            <a:off x="6172200" y="2971800"/>
            <a:ext cx="5394960" cy="292608"/>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Anchor IPv4</a:t>
            </a:r>
            <a:endParaRPr lang="en-US" sz="1600" dirty="0"/>
          </a:p>
        </p:txBody>
      </p:sp>
      <p:sp>
        <p:nvSpPr>
          <p:cNvPr id="11" name="Text 9"/>
          <p:cNvSpPr/>
          <p:nvPr/>
        </p:nvSpPr>
        <p:spPr>
          <a:xfrm>
            <a:off x="6172200" y="3282696"/>
            <a:ext cx="5394960" cy="594360"/>
          </a:xfrm>
          <a:prstGeom prst="rect">
            <a:avLst/>
          </a:prstGeom>
          <a:noFill/>
          <a:ln/>
        </p:spPr>
        <p:txBody>
          <a:bodyPr wrap="square" lIns="0" tIns="0" rIns="0" bIns="0" rtlCol="0" anchor="ctr"/>
          <a:lstStyle/>
          <a:p>
            <a:pPr indent="0" marL="0">
              <a:lnSpc>
                <a:spcPct val="108000"/>
              </a:lnSpc>
              <a:buNone/>
            </a:pPr>
            <a:r>
              <a:rPr lang="en-US" sz="1250" dirty="0">
                <a:solidFill>
                  <a:srgbClr val="B7C4CC"/>
                </a:solidFill>
                <a:latin typeface="Calibri" pitchFamily="34" charset="0"/>
                <a:ea typeface="Calibri" pitchFamily="34" charset="-122"/>
                <a:cs typeface="Calibri" pitchFamily="34" charset="-120"/>
              </a:rPr>
              <a:t>The anchor’s data-plane rule is IPv6-only, which excludes the IPv4-only CGNAT population we target.</a:t>
            </a:r>
            <a:endParaRPr lang="en-US" sz="1250" dirty="0"/>
          </a:p>
        </p:txBody>
      </p:sp>
      <p:sp>
        <p:nvSpPr>
          <p:cNvPr id="12" name="Text 10"/>
          <p:cNvSpPr/>
          <p:nvPr/>
        </p:nvSpPr>
        <p:spPr>
          <a:xfrm>
            <a:off x="548640" y="4069080"/>
            <a:ext cx="5394960" cy="292608"/>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Testbed budget</a:t>
            </a:r>
            <a:endParaRPr lang="en-US" sz="1600" dirty="0"/>
          </a:p>
        </p:txBody>
      </p:sp>
      <p:sp>
        <p:nvSpPr>
          <p:cNvPr id="13" name="Text 11"/>
          <p:cNvSpPr/>
          <p:nvPr/>
        </p:nvSpPr>
        <p:spPr>
          <a:xfrm>
            <a:off x="548640" y="4379976"/>
            <a:ext cx="5394960" cy="594360"/>
          </a:xfrm>
          <a:prstGeom prst="rect">
            <a:avLst/>
          </a:prstGeom>
          <a:noFill/>
          <a:ln/>
        </p:spPr>
        <p:txBody>
          <a:bodyPr wrap="square" lIns="0" tIns="0" rIns="0" bIns="0" rtlCol="0" anchor="ctr"/>
          <a:lstStyle/>
          <a:p>
            <a:pPr indent="0" marL="0">
              <a:lnSpc>
                <a:spcPct val="108000"/>
              </a:lnSpc>
              <a:buNone/>
            </a:pPr>
            <a:r>
              <a:rPr lang="en-US" sz="1250" dirty="0">
                <a:solidFill>
                  <a:srgbClr val="B7C4CC"/>
                </a:solidFill>
                <a:latin typeface="Calibri" pitchFamily="34" charset="0"/>
                <a:ea typeface="Calibri" pitchFamily="34" charset="-122"/>
                <a:cs typeface="Calibri" pitchFamily="34" charset="-120"/>
              </a:rPr>
              <a:t>Each carrier is a candidate stratum, but a SIM covers one carrier, APN and plan; two per carrier are needed before homogeneity is checked rather than assumed.</a:t>
            </a:r>
            <a:endParaRPr lang="en-US" sz="1250" dirty="0"/>
          </a:p>
        </p:txBody>
      </p:sp>
      <p:sp>
        <p:nvSpPr>
          <p:cNvPr id="14" name="Text 12"/>
          <p:cNvSpPr/>
          <p:nvPr/>
        </p:nvSpPr>
        <p:spPr>
          <a:xfrm>
            <a:off x="6172200" y="4069080"/>
            <a:ext cx="5394960" cy="292608"/>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Instrumentation</a:t>
            </a:r>
            <a:endParaRPr lang="en-US" sz="1600" dirty="0"/>
          </a:p>
        </p:txBody>
      </p:sp>
      <p:sp>
        <p:nvSpPr>
          <p:cNvPr id="15" name="Text 13"/>
          <p:cNvSpPr/>
          <p:nvPr/>
        </p:nvSpPr>
        <p:spPr>
          <a:xfrm>
            <a:off x="6172200" y="4379976"/>
            <a:ext cx="5394960" cy="594360"/>
          </a:xfrm>
          <a:prstGeom prst="rect">
            <a:avLst/>
          </a:prstGeom>
          <a:noFill/>
          <a:ln/>
        </p:spPr>
        <p:txBody>
          <a:bodyPr wrap="square" lIns="0" tIns="0" rIns="0" bIns="0" rtlCol="0" anchor="ctr"/>
          <a:lstStyle/>
          <a:p>
            <a:pPr indent="0" marL="0">
              <a:lnSpc>
                <a:spcPct val="108000"/>
              </a:lnSpc>
              <a:buNone/>
            </a:pPr>
            <a:r>
              <a:rPr lang="en-US" sz="1250" dirty="0">
                <a:solidFill>
                  <a:srgbClr val="B7C4CC"/>
                </a:solidFill>
                <a:latin typeface="Calibri" pitchFamily="34" charset="0"/>
                <a:ea typeface="Calibri" pitchFamily="34" charset="-122"/>
                <a:cs typeface="Calibri" pitchFamily="34" charset="-120"/>
              </a:rPr>
              <a:t>Whether the per-attempt record lands in main as a permanent subsystem or in a measurement branch.</a:t>
            </a:r>
            <a:endParaRPr lang="en-US" sz="1250" dirty="0"/>
          </a:p>
        </p:txBody>
      </p:sp>
      <p:sp>
        <p:nvSpPr>
          <p:cNvPr id="16" name="Shape 14"/>
          <p:cNvSpPr/>
          <p:nvPr/>
        </p:nvSpPr>
        <p:spPr>
          <a:xfrm>
            <a:off x="548640" y="5257800"/>
            <a:ext cx="11064240" cy="914400"/>
          </a:xfrm>
          <a:prstGeom prst="roundRect">
            <a:avLst>
              <a:gd name="adj" fmla="val 6000"/>
            </a:avLst>
          </a:prstGeom>
          <a:solidFill>
            <a:srgbClr val="25323F"/>
          </a:solidFill>
          <a:ln w="6350">
            <a:solidFill>
              <a:srgbClr val="25323F"/>
            </a:solidFill>
            <a:prstDash val="solid"/>
          </a:ln>
        </p:spPr>
      </p:sp>
      <p:sp>
        <p:nvSpPr>
          <p:cNvPr id="17" name="Text 15"/>
          <p:cNvSpPr/>
          <p:nvPr/>
        </p:nvSpPr>
        <p:spPr>
          <a:xfrm>
            <a:off x="914400" y="5468112"/>
            <a:ext cx="10332720" cy="548640"/>
          </a:xfrm>
          <a:prstGeom prst="rect">
            <a:avLst/>
          </a:prstGeom>
          <a:noFill/>
          <a:ln/>
        </p:spPr>
        <p:txBody>
          <a:bodyPr wrap="square" lIns="0" tIns="0" rIns="0" bIns="0" rtlCol="0" anchor="ctr"/>
          <a:lstStyle/>
          <a:p>
            <a:pPr indent="0" marL="0">
              <a:lnSpc>
                <a:spcPct val="108000"/>
              </a:lnSpc>
              <a:buNone/>
            </a:pPr>
            <a:r>
              <a:rPr lang="en-US" sz="1250" b="1" dirty="0">
                <a:solidFill>
                  <a:srgbClr val="E9A876"/>
                </a:solidFill>
                <a:latin typeface="Calibri" pitchFamily="34" charset="0"/>
                <a:ea typeface="Calibri" pitchFamily="34" charset="-122"/>
                <a:cs typeface="Calibri" pitchFamily="34" charset="-120"/>
              </a:rPr>
              <a:t>Independent of this project: </a:t>
            </a:r>
            <a:pPr indent="0" marL="0">
              <a:lnSpc>
                <a:spcPct val="108000"/>
              </a:lnSpc>
              <a:buNone/>
            </a:pPr>
            <a:r>
              <a:rPr lang="en-US" sz="1250" dirty="0">
                <a:solidFill>
                  <a:srgbClr val="B7C4CC"/>
                </a:solidFill>
                <a:latin typeface="Calibri" pitchFamily="34" charset="0"/>
                <a:ea typeface="Calibri" pitchFamily="34" charset="-122"/>
                <a:cs typeface="Calibri" pitchFamily="34" charset="-120"/>
              </a:rPr>
              <a:t>the punch target from PUNCH_INITIATE is not checked for global routability, the mediator’s pending map has no TTL, and the stream framer trusts an unbounded 32-bit length. Their assignment should be settled in advance.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Grassroots NAT Detection</dc:title>
  <dc:subject>PptxGenJS Presentation</dc:subject>
  <dc:creator>Dan Bachar</dc:creator>
  <cp:lastModifiedBy>Dan Bachar</cp:lastModifiedBy>
  <cp:revision>1</cp:revision>
  <dcterms:created xsi:type="dcterms:W3CDTF">2026-08-13T09:10:10Z</dcterms:created>
  <dcterms:modified xsi:type="dcterms:W3CDTF">2026-08-13T09:10:10Z</dcterms:modified>
</cp:coreProperties>
</file>