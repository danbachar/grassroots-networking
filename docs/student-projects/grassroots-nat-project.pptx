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months, one student, inside grassroots_networking. The deliverable is the detection algorithm, validated on a testbed we control; the prevalence measurement follows from the same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wildcard sockets on port 0, so the port changes on every rebind. The mapped port is only ever learned from ADDR_REFLECT, which needs a session that already works — no use for a first contact. The ten-second announce doubles as the de facto NAT keepalive.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is the second axis: which inbound traffic is admitted on an existing mapping, endpoint-independent through address-and-port-dependent. Mapping decides whether a port can be predicted at all; filtering decides whether the arriving packet is let through. Port preservation is why the current code sometimes works by accident, and mapping lifetime sets the keepalive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in source at grassroots_network.dart:3369. This is the clearest motivation for the project: the system cannot distinguish a public address from a reachable one, and every consequence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Reflections from friends at distinct addresses give mapping behavior. Filtering follows from where the dial-backs come from, classified against our own send history: a friend we have a session with, the same friend on a fresh source port, and a friend we have never transmitted to. No friend is ever asked to dial anyone but us, so there is no amplification vector and no relaying for non-friends, which the signaling design forbids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is mapping, right is filtering. An arrival is definitive and ends that arm; an absence is retried before it is recorded, because under honest peers an absent dial-back is equally consistent with filtering and with loss. The minimum witness set is combinatorial: two friends at distinct addresses separate endpoint-independent from address-dependent mapping, one friend reachable on two ports separates address-and-port-dependent, and one friend never transmitted to gives the endpoint-independent filtering test. The measurand and the procedure are RFC 4787 and 5780; the dial-back is from autoNAT, which is a libp2p spec and not an RFC; the friends are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Contamination is the one that would quietly invalidate a field campaign: it biases in the direction that looks like good news. We publish the label difference between contaminated and clean runs as a result in its own right. The nonce survives the honesty assumption for a different reason: the peers are honest but the network is not, and an off-path party could otherwise inject something resembling a dial-back. Disagreement between witnesses is diagnostic here, not malicious: it usually means the behavior genuinely depends on the source address or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that decides whether a host can serve is whether it may receive unsolicited inbound UDP on those ports; a border firewall that drops them makes the host unusable however many addresses it has, so it is a week-one question for IT. University wired hosts are usually publicly addressed rather than translated, which is why the campus supplies the vantage points while the handsets remain the subjects. Campus wireless, guest and VPN are separate access networks, worth characterizing on their own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carries an exit criterion in the written brief. The week-3 checkpoint is code rather than a document: a reflexive address obtained over the transport’s own socket, which forces the demultiplexer change early and tells us whether the socket can be shared at all. Excluded by design and named as such: the autoNAT sidecar, the byzantine analysis, the weighted prevalence estimate and the decision-rule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anchor is IPv6-only in its data plane, which excludes the IPv4-only CGNAT population the study targets; that is a fifth decision and it also affects the product. Three unrelated defects found while surveying the transport are listed in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9144000" y="1691640"/>
            <a:ext cx="1371600" cy="548640"/>
          </a:xfrm>
          <a:prstGeom prst="line">
            <a:avLst/>
          </a:prstGeom>
          <a:noFill/>
          <a:ln w="12700">
            <a:solidFill>
              <a:srgbClr val="3C4F5E"/>
            </a:solidFill>
            <a:prstDash val="solid"/>
          </a:ln>
        </p:spPr>
      </p:sp>
      <p:sp>
        <p:nvSpPr>
          <p:cNvPr id="3" name="Shape 1"/>
          <p:cNvSpPr/>
          <p:nvPr/>
        </p:nvSpPr>
        <p:spPr>
          <a:xfrm flipH="1">
            <a:off x="9966960" y="2240280"/>
            <a:ext cx="685800" cy="822960"/>
          </a:xfrm>
          <a:prstGeom prst="line">
            <a:avLst/>
          </a:prstGeom>
          <a:noFill/>
          <a:ln w="12700">
            <a:solidFill>
              <a:srgbClr val="3C4F5E"/>
            </a:solidFill>
            <a:prstDash val="solid"/>
          </a:ln>
        </p:spPr>
      </p:sp>
      <p:sp>
        <p:nvSpPr>
          <p:cNvPr id="4" name="Shape 2"/>
          <p:cNvSpPr/>
          <p:nvPr/>
        </p:nvSpPr>
        <p:spPr>
          <a:xfrm>
            <a:off x="9966960" y="3063240"/>
            <a:ext cx="1005840" cy="502920"/>
          </a:xfrm>
          <a:prstGeom prst="line">
            <a:avLst/>
          </a:prstGeom>
          <a:noFill/>
          <a:ln w="12700">
            <a:solidFill>
              <a:srgbClr val="3C4F5E"/>
            </a:solidFill>
            <a:prstDash val="solid"/>
          </a:ln>
        </p:spPr>
      </p:sp>
      <p:sp>
        <p:nvSpPr>
          <p:cNvPr id="5" name="Shape 3"/>
          <p:cNvSpPr/>
          <p:nvPr/>
        </p:nvSpPr>
        <p:spPr>
          <a:xfrm>
            <a:off x="9601200" y="4251960"/>
            <a:ext cx="960120" cy="594360"/>
          </a:xfrm>
          <a:prstGeom prst="line">
            <a:avLst/>
          </a:prstGeom>
          <a:noFill/>
          <a:ln w="12700">
            <a:solidFill>
              <a:srgbClr val="3C4F5E"/>
            </a:solidFill>
            <a:prstDash val="solid"/>
          </a:ln>
        </p:spPr>
      </p:sp>
      <p:sp>
        <p:nvSpPr>
          <p:cNvPr id="6" name="Shape 4"/>
          <p:cNvSpPr/>
          <p:nvPr/>
        </p:nvSpPr>
        <p:spPr>
          <a:xfrm>
            <a:off x="9006840" y="2651760"/>
            <a:ext cx="594360" cy="1600200"/>
          </a:xfrm>
          <a:prstGeom prst="line">
            <a:avLst/>
          </a:prstGeom>
          <a:noFill/>
          <a:ln w="12700">
            <a:solidFill>
              <a:srgbClr val="3C4F5E"/>
            </a:solidFill>
            <a:prstDash val="solid"/>
          </a:ln>
        </p:spPr>
      </p:sp>
      <p:sp>
        <p:nvSpPr>
          <p:cNvPr id="7" name="Shape 5"/>
          <p:cNvSpPr/>
          <p:nvPr/>
        </p:nvSpPr>
        <p:spPr>
          <a:xfrm>
            <a:off x="9326880" y="1554480"/>
            <a:ext cx="274320" cy="274320"/>
          </a:xfrm>
          <a:prstGeom prst="ellipse">
            <a:avLst/>
          </a:prstGeom>
          <a:solidFill>
            <a:srgbClr val="0E7C86"/>
          </a:solidFill>
          <a:ln w="12700">
            <a:solidFill>
              <a:srgbClr val="0E7C86"/>
            </a:solidFill>
            <a:prstDash val="solid"/>
          </a:ln>
        </p:spPr>
      </p:sp>
      <p:sp>
        <p:nvSpPr>
          <p:cNvPr id="8" name="Shape 6"/>
          <p:cNvSpPr/>
          <p:nvPr/>
        </p:nvSpPr>
        <p:spPr>
          <a:xfrm>
            <a:off x="10515600" y="2103120"/>
            <a:ext cx="274320" cy="274320"/>
          </a:xfrm>
          <a:prstGeom prst="ellipse">
            <a:avLst/>
          </a:prstGeom>
          <a:solidFill>
            <a:srgbClr val="0E7C86"/>
          </a:solidFill>
          <a:ln w="12700">
            <a:solidFill>
              <a:srgbClr val="0E7C86"/>
            </a:solidFill>
            <a:prstDash val="solid"/>
          </a:ln>
        </p:spPr>
      </p:sp>
      <p:sp>
        <p:nvSpPr>
          <p:cNvPr id="9" name="Shape 7"/>
          <p:cNvSpPr/>
          <p:nvPr/>
        </p:nvSpPr>
        <p:spPr>
          <a:xfrm>
            <a:off x="9829800" y="2926080"/>
            <a:ext cx="274320" cy="274320"/>
          </a:xfrm>
          <a:prstGeom prst="ellipse">
            <a:avLst/>
          </a:prstGeom>
          <a:solidFill>
            <a:srgbClr val="C25E28"/>
          </a:solidFill>
          <a:ln w="12700">
            <a:solidFill>
              <a:srgbClr val="C25E28"/>
            </a:solidFill>
            <a:prstDash val="solid"/>
          </a:ln>
        </p:spPr>
      </p:sp>
      <p:sp>
        <p:nvSpPr>
          <p:cNvPr id="10" name="Shape 8"/>
          <p:cNvSpPr/>
          <p:nvPr/>
        </p:nvSpPr>
        <p:spPr>
          <a:xfrm>
            <a:off x="10972800" y="3429000"/>
            <a:ext cx="274320" cy="274320"/>
          </a:xfrm>
          <a:prstGeom prst="ellipse">
            <a:avLst/>
          </a:prstGeom>
          <a:solidFill>
            <a:srgbClr val="0E7C86"/>
          </a:solidFill>
          <a:ln w="12700">
            <a:solidFill>
              <a:srgbClr val="0E7C86"/>
            </a:solidFill>
            <a:prstDash val="solid"/>
          </a:ln>
        </p:spPr>
      </p:sp>
      <p:sp>
        <p:nvSpPr>
          <p:cNvPr id="11" name="Shape 9"/>
          <p:cNvSpPr/>
          <p:nvPr/>
        </p:nvSpPr>
        <p:spPr>
          <a:xfrm>
            <a:off x="9464040" y="4114800"/>
            <a:ext cx="274320" cy="274320"/>
          </a:xfrm>
          <a:prstGeom prst="ellipse">
            <a:avLst/>
          </a:prstGeom>
          <a:solidFill>
            <a:srgbClr val="0E7C86"/>
          </a:solidFill>
          <a:ln w="12700">
            <a:solidFill>
              <a:srgbClr val="0E7C86"/>
            </a:solidFill>
            <a:prstDash val="solid"/>
          </a:ln>
        </p:spPr>
      </p:sp>
      <p:sp>
        <p:nvSpPr>
          <p:cNvPr id="12" name="Shape 10"/>
          <p:cNvSpPr/>
          <p:nvPr/>
        </p:nvSpPr>
        <p:spPr>
          <a:xfrm>
            <a:off x="10561320" y="4709160"/>
            <a:ext cx="274320" cy="274320"/>
          </a:xfrm>
          <a:prstGeom prst="ellipse">
            <a:avLst/>
          </a:prstGeom>
          <a:solidFill>
            <a:srgbClr val="C25E28"/>
          </a:solidFill>
          <a:ln w="12700">
            <a:solidFill>
              <a:srgbClr val="C25E28"/>
            </a:solidFill>
            <a:prstDash val="solid"/>
          </a:ln>
        </p:spPr>
      </p:sp>
      <p:sp>
        <p:nvSpPr>
          <p:cNvPr id="13" name="Shape 11"/>
          <p:cNvSpPr/>
          <p:nvPr/>
        </p:nvSpPr>
        <p:spPr>
          <a:xfrm>
            <a:off x="8869680" y="2514600"/>
            <a:ext cx="274320" cy="274320"/>
          </a:xfrm>
          <a:prstGeom prst="ellipse">
            <a:avLst/>
          </a:prstGeom>
          <a:solidFill>
            <a:srgbClr val="0E7C86"/>
          </a:solidFill>
          <a:ln w="12700">
            <a:solidFill>
              <a:srgbClr val="0E7C86"/>
            </a:solidFill>
            <a:prstDash val="solid"/>
          </a:ln>
        </p:spPr>
      </p:sp>
      <p:sp>
        <p:nvSpPr>
          <p:cNvPr id="14" name="Text 12"/>
          <p:cNvSpPr/>
          <p:nvPr/>
        </p:nvSpPr>
        <p:spPr>
          <a:xfrm>
            <a:off x="685800" y="2103120"/>
            <a:ext cx="768096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GRASSROOTS NETWORKING  ·  STUDENT PROJECT</a:t>
            </a:r>
            <a:endParaRPr lang="en-US" sz="1200" dirty="0"/>
          </a:p>
        </p:txBody>
      </p:sp>
      <p:sp>
        <p:nvSpPr>
          <p:cNvPr id="15" name="Text 13"/>
          <p:cNvSpPr/>
          <p:nvPr/>
        </p:nvSpPr>
        <p:spPr>
          <a:xfrm>
            <a:off x="685800" y="2560320"/>
            <a:ext cx="7680960" cy="1645920"/>
          </a:xfrm>
          <a:prstGeom prst="rect">
            <a:avLst/>
          </a:prstGeom>
          <a:noFill/>
          <a:ln/>
        </p:spPr>
        <p:txBody>
          <a:bodyPr wrap="square" lIns="0" tIns="0" rIns="0" bIns="0" rtlCol="0" anchor="ctr"/>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NAT detection and</a:t>
            </a:r>
            <a:endParaRPr lang="en-US" sz="4400" dirty="0"/>
          </a:p>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hole punching</a:t>
            </a:r>
            <a:endParaRPr lang="en-US" sz="4400" dirty="0"/>
          </a:p>
        </p:txBody>
      </p:sp>
      <p:sp>
        <p:nvSpPr>
          <p:cNvPr id="16" name="Text 14"/>
          <p:cNvSpPr/>
          <p:nvPr/>
        </p:nvSpPr>
        <p:spPr>
          <a:xfrm>
            <a:off x="685800" y="4343400"/>
            <a:ext cx="7680960" cy="365760"/>
          </a:xfrm>
          <a:prstGeom prst="rect">
            <a:avLst/>
          </a:prstGeom>
          <a:noFill/>
          <a:ln/>
        </p:spPr>
        <p:txBody>
          <a:bodyPr wrap="square" lIns="0" tIns="0" rIns="0" bIns="0" rtlCol="0" anchor="ctr"/>
          <a:lstStyle/>
          <a:p>
            <a:pPr indent="0" marL="0">
              <a:buNone/>
            </a:pPr>
            <a:r>
              <a:rPr lang="en-US" sz="1600" dirty="0">
                <a:solidFill>
                  <a:srgbClr val="B7C4CC"/>
                </a:solidFill>
                <a:latin typeface="Calibri" pitchFamily="34" charset="0"/>
                <a:ea typeface="Calibri" pitchFamily="34" charset="-122"/>
                <a:cs typeface="Calibri" pitchFamily="34" charset="-120"/>
              </a:rPr>
              <a:t>Determining NAT behavior from the social graph, without designated servers</a:t>
            </a:r>
            <a:endParaRPr lang="en-US" sz="1600" dirty="0"/>
          </a:p>
        </p:txBody>
      </p:sp>
      <p:sp>
        <p:nvSpPr>
          <p:cNvPr id="17" name="Text 15"/>
          <p:cNvSpPr/>
          <p:nvPr/>
        </p:nvSpPr>
        <p:spPr>
          <a:xfrm>
            <a:off x="685800" y="5852160"/>
            <a:ext cx="768096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Dan Bachar</a:t>
            </a:r>
            <a:pPr indent="0" marL="0">
              <a:buNone/>
            </a:pPr>
            <a:r>
              <a:rPr lang="en-US" sz="1300" dirty="0">
                <a:solidFill>
                  <a:srgbClr val="6E7F8B"/>
                </a:solidFill>
                <a:latin typeface="Calibri" pitchFamily="34" charset="0"/>
                <a:ea typeface="Calibri" pitchFamily="34" charset="-122"/>
                <a:cs typeface="Calibri" pitchFamily="34" charset="-120"/>
              </a:rPr>
              <a:t>   ·   dan.bachar@campus.technion.ac.il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IMPLEMENTATION TODAY</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current IP path</a:t>
            </a:r>
            <a:endParaRPr lang="en-US" sz="3600" dirty="0"/>
          </a:p>
        </p:txBody>
      </p:sp>
      <p:sp>
        <p:nvSpPr>
          <p:cNvPr id="4" name="Shape 2"/>
          <p:cNvSpPr/>
          <p:nvPr/>
        </p:nvSpPr>
        <p:spPr>
          <a:xfrm>
            <a:off x="685800" y="2148840"/>
            <a:ext cx="1965960" cy="914400"/>
          </a:xfrm>
          <a:prstGeom prst="roundRect">
            <a:avLst>
              <a:gd name="adj" fmla="val 6000"/>
            </a:avLst>
          </a:prstGeom>
          <a:solidFill>
            <a:srgbClr val="EEF3F4"/>
          </a:solidFill>
          <a:ln w="6350">
            <a:solidFill>
              <a:srgbClr val="EEF3F4"/>
            </a:solidFill>
            <a:prstDash val="solid"/>
          </a:ln>
        </p:spPr>
      </p:sp>
      <p:sp>
        <p:nvSpPr>
          <p:cNvPr id="5" name="Text 3"/>
          <p:cNvSpPr/>
          <p:nvPr/>
        </p:nvSpPr>
        <p:spPr>
          <a:xfrm>
            <a:off x="795528"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Learn address</a:t>
            </a:r>
            <a:endParaRPr lang="en-US" sz="1400" dirty="0"/>
          </a:p>
        </p:txBody>
      </p:sp>
      <p:sp>
        <p:nvSpPr>
          <p:cNvPr id="6" name="Text 4"/>
          <p:cNvSpPr/>
          <p:nvPr/>
        </p:nvSpPr>
        <p:spPr>
          <a:xfrm>
            <a:off x="2651760"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907792" y="2148840"/>
            <a:ext cx="1965960" cy="914400"/>
          </a:xfrm>
          <a:prstGeom prst="roundRect">
            <a:avLst>
              <a:gd name="adj" fmla="val 6000"/>
            </a:avLst>
          </a:prstGeom>
          <a:solidFill>
            <a:srgbClr val="EEF3F4"/>
          </a:solidFill>
          <a:ln w="6350">
            <a:solidFill>
              <a:srgbClr val="EEF3F4"/>
            </a:solidFill>
            <a:prstDash val="solid"/>
          </a:ln>
        </p:spPr>
      </p:sp>
      <p:sp>
        <p:nvSpPr>
          <p:cNvPr id="8" name="Text 6"/>
          <p:cNvSpPr/>
          <p:nvPr/>
        </p:nvSpPr>
        <p:spPr>
          <a:xfrm>
            <a:off x="3017520"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Announce</a:t>
            </a:r>
            <a:endParaRPr lang="en-US" sz="1400" dirty="0"/>
          </a:p>
        </p:txBody>
      </p:sp>
      <p:sp>
        <p:nvSpPr>
          <p:cNvPr id="9" name="Text 7"/>
          <p:cNvSpPr/>
          <p:nvPr/>
        </p:nvSpPr>
        <p:spPr>
          <a:xfrm>
            <a:off x="4873752"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5129784" y="2148840"/>
            <a:ext cx="1965960" cy="914400"/>
          </a:xfrm>
          <a:prstGeom prst="roundRect">
            <a:avLst>
              <a:gd name="adj" fmla="val 6000"/>
            </a:avLst>
          </a:prstGeom>
          <a:solidFill>
            <a:srgbClr val="EEF3F4"/>
          </a:solidFill>
          <a:ln w="6350">
            <a:solidFill>
              <a:srgbClr val="EEF3F4"/>
            </a:solidFill>
            <a:prstDash val="solid"/>
          </a:ln>
        </p:spPr>
      </p:sp>
      <p:sp>
        <p:nvSpPr>
          <p:cNvPr id="11" name="Text 9"/>
          <p:cNvSpPr/>
          <p:nvPr/>
        </p:nvSpPr>
        <p:spPr>
          <a:xfrm>
            <a:off x="5239512"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Pick one candidate</a:t>
            </a:r>
            <a:endParaRPr lang="en-US" sz="1400" dirty="0"/>
          </a:p>
        </p:txBody>
      </p:sp>
      <p:sp>
        <p:nvSpPr>
          <p:cNvPr id="12" name="Text 10"/>
          <p:cNvSpPr/>
          <p:nvPr/>
        </p:nvSpPr>
        <p:spPr>
          <a:xfrm>
            <a:off x="7095744"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7351776" y="2148840"/>
            <a:ext cx="1965960" cy="914400"/>
          </a:xfrm>
          <a:prstGeom prst="roundRect">
            <a:avLst>
              <a:gd name="adj" fmla="val 6000"/>
            </a:avLst>
          </a:prstGeom>
          <a:solidFill>
            <a:srgbClr val="EEF3F4"/>
          </a:solidFill>
          <a:ln w="6350">
            <a:solidFill>
              <a:srgbClr val="EEF3F4"/>
            </a:solidFill>
            <a:prstDash val="solid"/>
          </a:ln>
        </p:spPr>
      </p:sp>
      <p:sp>
        <p:nvSpPr>
          <p:cNvPr id="14" name="Text 12"/>
          <p:cNvSpPr/>
          <p:nvPr/>
        </p:nvSpPr>
        <p:spPr>
          <a:xfrm>
            <a:off x="7461504"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Punch</a:t>
            </a:r>
            <a:endParaRPr lang="en-US" sz="1400" dirty="0"/>
          </a:p>
        </p:txBody>
      </p:sp>
      <p:sp>
        <p:nvSpPr>
          <p:cNvPr id="15" name="Text 13"/>
          <p:cNvSpPr/>
          <p:nvPr/>
        </p:nvSpPr>
        <p:spPr>
          <a:xfrm>
            <a:off x="9317736"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9573768" y="2148840"/>
            <a:ext cx="1965960" cy="914400"/>
          </a:xfrm>
          <a:prstGeom prst="roundRect">
            <a:avLst>
              <a:gd name="adj" fmla="val 6000"/>
            </a:avLst>
          </a:prstGeom>
          <a:solidFill>
            <a:srgbClr val="EEF3F4"/>
          </a:solidFill>
          <a:ln w="6350">
            <a:solidFill>
              <a:srgbClr val="EEF3F4"/>
            </a:solidFill>
            <a:prstDash val="solid"/>
          </a:ln>
        </p:spPr>
      </p:sp>
      <p:sp>
        <p:nvSpPr>
          <p:cNvPr id="17" name="Text 15"/>
          <p:cNvSpPr/>
          <p:nvPr/>
        </p:nvSpPr>
        <p:spPr>
          <a:xfrm>
            <a:off x="9683496"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Dial UDX</a:t>
            </a:r>
            <a:endParaRPr lang="en-US" sz="1400" dirty="0"/>
          </a:p>
        </p:txBody>
      </p:sp>
      <p:sp>
        <p:nvSpPr>
          <p:cNvPr id="18" name="Shape 16"/>
          <p:cNvSpPr/>
          <p:nvPr/>
        </p:nvSpPr>
        <p:spPr>
          <a:xfrm>
            <a:off x="685800" y="4050792"/>
            <a:ext cx="118872" cy="118872"/>
          </a:xfrm>
          <a:prstGeom prst="ellipse">
            <a:avLst/>
          </a:prstGeom>
          <a:solidFill>
            <a:srgbClr val="0E7C86"/>
          </a:solidFill>
          <a:ln w="12700">
            <a:solidFill>
              <a:srgbClr val="0E7C86"/>
            </a:solidFill>
            <a:prstDash val="solid"/>
          </a:ln>
        </p:spPr>
      </p:sp>
      <p:sp>
        <p:nvSpPr>
          <p:cNvPr id="19" name="Text 17"/>
          <p:cNvSpPr/>
          <p:nvPr/>
        </p:nvSpPr>
        <p:spPr>
          <a:xfrm>
            <a:off x="1005840" y="393192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 advertise the discovered public IP with our own local port.</a:t>
            </a:r>
            <a:endParaRPr lang="en-US" sz="1700" dirty="0"/>
          </a:p>
        </p:txBody>
      </p:sp>
      <p:sp>
        <p:nvSpPr>
          <p:cNvPr id="20" name="Shape 18"/>
          <p:cNvSpPr/>
          <p:nvPr/>
        </p:nvSpPr>
        <p:spPr>
          <a:xfrm>
            <a:off x="685800" y="4489704"/>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4370832"/>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One candidate, one attempt, ten-second timeout, no fallback.</a:t>
            </a:r>
            <a:endParaRPr lang="en-US" sz="1700" dirty="0"/>
          </a:p>
        </p:txBody>
      </p:sp>
      <p:sp>
        <p:nvSpPr>
          <p:cNvPr id="22" name="Shape 20"/>
          <p:cNvSpPr/>
          <p:nvPr/>
        </p:nvSpPr>
        <p:spPr>
          <a:xfrm>
            <a:off x="685800" y="4928616"/>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480974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No timestamps and no failure reason: neither outcome teaches us anything.</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WE MUST DISTINGUISH</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NAT behavior</a:t>
            </a:r>
            <a:endParaRPr lang="en-US" sz="3600" dirty="0"/>
          </a:p>
        </p:txBody>
      </p:sp>
      <p:sp>
        <p:nvSpPr>
          <p:cNvPr id="4" name="Text 2"/>
          <p:cNvSpPr/>
          <p:nvPr/>
        </p:nvSpPr>
        <p:spPr>
          <a:xfrm>
            <a:off x="685800" y="1965960"/>
            <a:ext cx="347472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BEHAVIOR</a:t>
            </a:r>
            <a:endParaRPr lang="en-US" sz="1000" dirty="0"/>
          </a:p>
        </p:txBody>
      </p:sp>
      <p:sp>
        <p:nvSpPr>
          <p:cNvPr id="5" name="Text 3"/>
          <p:cNvSpPr/>
          <p:nvPr/>
        </p:nvSpPr>
        <p:spPr>
          <a:xfrm>
            <a:off x="4343400" y="1965960"/>
            <a:ext cx="246888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EXAMPLE</a:t>
            </a:r>
            <a:endParaRPr lang="en-US" sz="1000" dirty="0"/>
          </a:p>
        </p:txBody>
      </p:sp>
      <p:sp>
        <p:nvSpPr>
          <p:cNvPr id="6" name="Text 4"/>
          <p:cNvSpPr/>
          <p:nvPr/>
        </p:nvSpPr>
        <p:spPr>
          <a:xfrm>
            <a:off x="6995160" y="1965960"/>
            <a:ext cx="448056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EFFECT ON HOLE PUNCHING</a:t>
            </a:r>
            <a:endParaRPr lang="en-US" sz="1000" dirty="0"/>
          </a:p>
        </p:txBody>
      </p:sp>
      <p:sp>
        <p:nvSpPr>
          <p:cNvPr id="7" name="Shape 5"/>
          <p:cNvSpPr/>
          <p:nvPr/>
        </p:nvSpPr>
        <p:spPr>
          <a:xfrm>
            <a:off x="548640" y="2276856"/>
            <a:ext cx="11064240" cy="768096"/>
          </a:xfrm>
          <a:prstGeom prst="roundRect">
            <a:avLst>
              <a:gd name="adj" fmla="val 7143"/>
            </a:avLst>
          </a:prstGeom>
          <a:solidFill>
            <a:srgbClr val="F6F9F9"/>
          </a:solidFill>
          <a:ln w="6350">
            <a:solidFill>
              <a:srgbClr val="F6F9F9"/>
            </a:solidFill>
            <a:prstDash val="solid"/>
          </a:ln>
        </p:spPr>
      </p:sp>
      <p:sp>
        <p:nvSpPr>
          <p:cNvPr id="8" name="Text 6"/>
          <p:cNvSpPr/>
          <p:nvPr/>
        </p:nvSpPr>
        <p:spPr>
          <a:xfrm>
            <a:off x="685800" y="2331720"/>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Endpoint-independent</a:t>
            </a:r>
            <a:endParaRPr lang="en-US" sz="1500" dirty="0"/>
          </a:p>
        </p:txBody>
      </p:sp>
      <p:sp>
        <p:nvSpPr>
          <p:cNvPr id="9" name="Text 7"/>
          <p:cNvSpPr/>
          <p:nvPr/>
        </p:nvSpPr>
        <p:spPr>
          <a:xfrm>
            <a:off x="4343400" y="2331720"/>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most home routers</a:t>
            </a:r>
            <a:endParaRPr lang="en-US" sz="1300" dirty="0"/>
          </a:p>
        </p:txBody>
      </p:sp>
      <p:sp>
        <p:nvSpPr>
          <p:cNvPr id="10" name="Text 8"/>
          <p:cNvSpPr/>
          <p:nvPr/>
        </p:nvSpPr>
        <p:spPr>
          <a:xfrm>
            <a:off x="6995160" y="2331720"/>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One external port for every destination. Punching works.</a:t>
            </a:r>
            <a:endParaRPr lang="en-US" sz="1450" dirty="0"/>
          </a:p>
        </p:txBody>
      </p:sp>
      <p:sp>
        <p:nvSpPr>
          <p:cNvPr id="11" name="Text 9"/>
          <p:cNvSpPr/>
          <p:nvPr/>
        </p:nvSpPr>
        <p:spPr>
          <a:xfrm>
            <a:off x="685800" y="3172968"/>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Address-dependent</a:t>
            </a:r>
            <a:endParaRPr lang="en-US" sz="1500" dirty="0"/>
          </a:p>
        </p:txBody>
      </p:sp>
      <p:sp>
        <p:nvSpPr>
          <p:cNvPr id="12" name="Text 10"/>
          <p:cNvSpPr/>
          <p:nvPr/>
        </p:nvSpPr>
        <p:spPr>
          <a:xfrm>
            <a:off x="4343400" y="3172968"/>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some enterprise NATs</a:t>
            </a:r>
            <a:endParaRPr lang="en-US" sz="1300" dirty="0"/>
          </a:p>
        </p:txBody>
      </p:sp>
      <p:sp>
        <p:nvSpPr>
          <p:cNvPr id="13" name="Text 11"/>
          <p:cNvSpPr/>
          <p:nvPr/>
        </p:nvSpPr>
        <p:spPr>
          <a:xfrm>
            <a:off x="6995160" y="3172968"/>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destination address. Both sides must punch.</a:t>
            </a:r>
            <a:endParaRPr lang="en-US" sz="1450" dirty="0"/>
          </a:p>
        </p:txBody>
      </p:sp>
      <p:sp>
        <p:nvSpPr>
          <p:cNvPr id="14" name="Shape 12"/>
          <p:cNvSpPr/>
          <p:nvPr/>
        </p:nvSpPr>
        <p:spPr>
          <a:xfrm>
            <a:off x="548640" y="3959352"/>
            <a:ext cx="11064240" cy="768096"/>
          </a:xfrm>
          <a:prstGeom prst="roundRect">
            <a:avLst>
              <a:gd name="adj" fmla="val 7143"/>
            </a:avLst>
          </a:prstGeom>
          <a:solidFill>
            <a:srgbClr val="F6F9F9"/>
          </a:solidFill>
          <a:ln w="6350">
            <a:solidFill>
              <a:srgbClr val="F6F9F9"/>
            </a:solidFill>
            <a:prstDash val="solid"/>
          </a:ln>
        </p:spPr>
      </p:sp>
      <p:sp>
        <p:nvSpPr>
          <p:cNvPr id="15" name="Text 13"/>
          <p:cNvSpPr/>
          <p:nvPr/>
        </p:nvSpPr>
        <p:spPr>
          <a:xfrm>
            <a:off x="685800" y="4014216"/>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Address-and-port-dependent</a:t>
            </a:r>
            <a:endParaRPr lang="en-US" sz="1500" dirty="0"/>
          </a:p>
        </p:txBody>
      </p:sp>
      <p:sp>
        <p:nvSpPr>
          <p:cNvPr id="16" name="Text 14"/>
          <p:cNvSpPr/>
          <p:nvPr/>
        </p:nvSpPr>
        <p:spPr>
          <a:xfrm>
            <a:off x="4343400" y="4014216"/>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many mobile carriers</a:t>
            </a:r>
            <a:endParaRPr lang="en-US" sz="1300" dirty="0"/>
          </a:p>
        </p:txBody>
      </p:sp>
      <p:sp>
        <p:nvSpPr>
          <p:cNvPr id="17" name="Text 15"/>
          <p:cNvSpPr/>
          <p:nvPr/>
        </p:nvSpPr>
        <p:spPr>
          <a:xfrm>
            <a:off x="6995160" y="4014216"/>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endpoint. Punching fails without prediction.</a:t>
            </a:r>
            <a:endParaRPr lang="en-US" sz="1450" dirty="0"/>
          </a:p>
        </p:txBody>
      </p:sp>
      <p:sp>
        <p:nvSpPr>
          <p:cNvPr id="18" name="Text 16"/>
          <p:cNvSpPr/>
          <p:nvPr/>
        </p:nvSpPr>
        <p:spPr>
          <a:xfrm>
            <a:off x="685800" y="4855464"/>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Carrier-grade NAT</a:t>
            </a:r>
            <a:endParaRPr lang="en-US" sz="1500" dirty="0"/>
          </a:p>
        </p:txBody>
      </p:sp>
      <p:sp>
        <p:nvSpPr>
          <p:cNvPr id="19" name="Text 17"/>
          <p:cNvSpPr/>
          <p:nvPr/>
        </p:nvSpPr>
        <p:spPr>
          <a:xfrm>
            <a:off x="4343400" y="4855464"/>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prepaid mobile data</a:t>
            </a:r>
            <a:endParaRPr lang="en-US" sz="1300" dirty="0"/>
          </a:p>
        </p:txBody>
      </p:sp>
      <p:sp>
        <p:nvSpPr>
          <p:cNvPr id="20" name="Text 18"/>
          <p:cNvSpPr/>
          <p:nvPr/>
        </p:nvSpPr>
        <p:spPr>
          <a:xfrm>
            <a:off x="6995160" y="4855464"/>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Stacked above all of it. No unsolicited inbound at all.</a:t>
            </a:r>
            <a:endParaRPr lang="en-US" sz="1450" dirty="0"/>
          </a:p>
        </p:txBody>
      </p:sp>
      <p:sp>
        <p:nvSpPr>
          <p:cNvPr id="21" name="Text 19"/>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measure the tuple — mapping, filtering, port preservation, lifetime — never a single type.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ONE BOOLEAN</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Self-classification</a:t>
            </a:r>
            <a:endParaRPr lang="en-US" sz="3600" dirty="0"/>
          </a:p>
        </p:txBody>
      </p:sp>
      <p:sp>
        <p:nvSpPr>
          <p:cNvPr id="4" name="Shape 2"/>
          <p:cNvSpPr/>
          <p:nvPr/>
        </p:nvSpPr>
        <p:spPr>
          <a:xfrm>
            <a:off x="685800" y="2103120"/>
            <a:ext cx="5120640" cy="1371600"/>
          </a:xfrm>
          <a:prstGeom prst="roundRect">
            <a:avLst>
              <a:gd name="adj" fmla="val 4000"/>
            </a:avLst>
          </a:prstGeom>
          <a:solidFill>
            <a:srgbClr val="25323F"/>
          </a:solidFill>
          <a:ln w="6350">
            <a:solidFill>
              <a:srgbClr val="25323F"/>
            </a:solidFill>
            <a:prstDash val="solid"/>
          </a:ln>
        </p:spPr>
      </p:sp>
      <p:sp>
        <p:nvSpPr>
          <p:cNvPr id="5" name="Text 3"/>
          <p:cNvSpPr/>
          <p:nvPr/>
        </p:nvSpPr>
        <p:spPr>
          <a:xfrm>
            <a:off x="1051560" y="2331720"/>
            <a:ext cx="4389120" cy="411480"/>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isWellConnected = true</a:t>
            </a:r>
            <a:endParaRPr lang="en-US" sz="2000" dirty="0"/>
          </a:p>
        </p:txBody>
      </p:sp>
      <p:sp>
        <p:nvSpPr>
          <p:cNvPr id="6" name="Text 4"/>
          <p:cNvSpPr/>
          <p:nvPr/>
        </p:nvSpPr>
        <p:spPr>
          <a:xfrm>
            <a:off x="1051560" y="2788920"/>
            <a:ext cx="4389120" cy="320040"/>
          </a:xfrm>
          <a:prstGeom prst="rect">
            <a:avLst/>
          </a:prstGeom>
          <a:noFill/>
          <a:ln/>
        </p:spPr>
        <p:txBody>
          <a:bodyPr wrap="square" lIns="0" tIns="0" rIns="0" bIns="0" rtlCol="0" anchor="ctr"/>
          <a:lstStyle/>
          <a:p>
            <a:pPr indent="0" marL="0">
              <a:buNone/>
            </a:pPr>
            <a:r>
              <a:rPr lang="en-US" sz="1300" dirty="0">
                <a:solidFill>
                  <a:srgbClr val="93A4AE"/>
                </a:solidFill>
                <a:latin typeface="Calibri" pitchFamily="34" charset="0"/>
                <a:ea typeface="Calibri" pitchFamily="34" charset="-122"/>
                <a:cs typeface="Calibri" pitchFamily="34" charset="-120"/>
              </a:rPr>
              <a:t>A routability test over the advertised string.</a:t>
            </a:r>
            <a:endParaRPr lang="en-US" sz="1300" dirty="0"/>
          </a:p>
        </p:txBody>
      </p:sp>
      <p:sp>
        <p:nvSpPr>
          <p:cNvPr id="7" name="Shape 5"/>
          <p:cNvSpPr/>
          <p:nvPr/>
        </p:nvSpPr>
        <p:spPr>
          <a:xfrm>
            <a:off x="6172200" y="2103120"/>
            <a:ext cx="5303520" cy="1371600"/>
          </a:xfrm>
          <a:prstGeom prst="roundRect">
            <a:avLst>
              <a:gd name="adj" fmla="val 4000"/>
            </a:avLst>
          </a:prstGeom>
          <a:solidFill>
            <a:srgbClr val="3A2A22"/>
          </a:solidFill>
          <a:ln w="6350">
            <a:solidFill>
              <a:srgbClr val="3A2A22"/>
            </a:solidFill>
            <a:prstDash val="solid"/>
          </a:ln>
        </p:spPr>
      </p:sp>
      <p:sp>
        <p:nvSpPr>
          <p:cNvPr id="8" name="Text 6"/>
          <p:cNvSpPr/>
          <p:nvPr/>
        </p:nvSpPr>
        <p:spPr>
          <a:xfrm>
            <a:off x="6537960" y="2331720"/>
            <a:ext cx="4572000" cy="320040"/>
          </a:xfrm>
          <a:prstGeom prst="rect">
            <a:avLst/>
          </a:prstGeom>
          <a:noFill/>
          <a:ln/>
        </p:spPr>
        <p:txBody>
          <a:bodyPr wrap="square" lIns="0" tIns="0" rIns="0" bIns="0" rtlCol="0" anchor="ctr"/>
          <a:lstStyle/>
          <a:p>
            <a:pPr indent="0" marL="0">
              <a:buNone/>
            </a:pPr>
            <a:r>
              <a:rPr lang="en-US" sz="1700" b="1" dirty="0">
                <a:solidFill>
                  <a:srgbClr val="E9A876"/>
                </a:solidFill>
                <a:latin typeface="Cambria" pitchFamily="34" charset="0"/>
                <a:ea typeface="Cambria" pitchFamily="34" charset="-122"/>
                <a:cs typeface="Cambria" pitchFamily="34" charset="-120"/>
              </a:rPr>
              <a:t>A CGNAT handset passes it</a:t>
            </a:r>
            <a:endParaRPr lang="en-US" sz="1700" dirty="0"/>
          </a:p>
        </p:txBody>
      </p:sp>
      <p:sp>
        <p:nvSpPr>
          <p:cNvPr id="9" name="Text 7"/>
          <p:cNvSpPr/>
          <p:nvPr/>
        </p:nvSpPr>
        <p:spPr>
          <a:xfrm>
            <a:off x="6537960" y="2743200"/>
            <a:ext cx="4572000" cy="365760"/>
          </a:xfrm>
          <a:prstGeom prst="rect">
            <a:avLst/>
          </a:prstGeom>
          <a:noFill/>
          <a:ln/>
        </p:spPr>
        <p:txBody>
          <a:bodyPr wrap="square" lIns="0" tIns="0" rIns="0" bIns="0" rtlCol="0" anchor="ctr"/>
          <a:lstStyle/>
          <a:p>
            <a:pPr indent="0" marL="0">
              <a:buNone/>
            </a:pPr>
            <a:r>
              <a:rPr lang="en-US" sz="1300" dirty="0">
                <a:solidFill>
                  <a:srgbClr val="D8C3B4"/>
                </a:solidFill>
                <a:latin typeface="Calibri" pitchFamily="34" charset="0"/>
                <a:ea typeface="Calibri" pitchFamily="34" charset="-122"/>
                <a:cs typeface="Calibri" pitchFamily="34" charset="-120"/>
              </a:rPr>
              <a:t>It never sees its own inner address.</a:t>
            </a:r>
            <a:endParaRPr lang="en-US" sz="1300" dirty="0"/>
          </a:p>
        </p:txBody>
      </p:sp>
      <p:sp>
        <p:nvSpPr>
          <p:cNvPr id="10" name="Shape 8"/>
          <p:cNvSpPr/>
          <p:nvPr/>
        </p:nvSpPr>
        <p:spPr>
          <a:xfrm>
            <a:off x="685800" y="4233672"/>
            <a:ext cx="118872" cy="118872"/>
          </a:xfrm>
          <a:prstGeom prst="ellipse">
            <a:avLst/>
          </a:prstGeom>
          <a:solidFill>
            <a:srgbClr val="C25E28"/>
          </a:solidFill>
          <a:ln w="12700">
            <a:solidFill>
              <a:srgbClr val="C25E28"/>
            </a:solidFill>
            <a:prstDash val="solid"/>
          </a:ln>
        </p:spPr>
      </p:sp>
      <p:sp>
        <p:nvSpPr>
          <p:cNvPr id="11" name="Text 9"/>
          <p:cNvSpPr/>
          <p:nvPr/>
        </p:nvSpPr>
        <p:spPr>
          <a:xfrm>
            <a:off x="1005840" y="4114800"/>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punch is then suppressed for the peers that need it.</a:t>
            </a:r>
            <a:endParaRPr lang="en-US" sz="1700" dirty="0"/>
          </a:p>
        </p:txBody>
      </p:sp>
      <p:sp>
        <p:nvSpPr>
          <p:cNvPr id="12" name="Shape 10"/>
          <p:cNvSpPr/>
          <p:nvPr/>
        </p:nvSpPr>
        <p:spPr>
          <a:xfrm>
            <a:off x="685800" y="4672584"/>
            <a:ext cx="118872" cy="118872"/>
          </a:xfrm>
          <a:prstGeom prst="ellipse">
            <a:avLst/>
          </a:prstGeom>
          <a:solidFill>
            <a:srgbClr val="C25E28"/>
          </a:solidFill>
          <a:ln w="12700">
            <a:solidFill>
              <a:srgbClr val="C25E28"/>
            </a:solidFill>
            <a:prstDash val="solid"/>
          </a:ln>
        </p:spPr>
      </p:sp>
      <p:sp>
        <p:nvSpPr>
          <p:cNvPr id="13" name="Text 11"/>
          <p:cNvSpPr/>
          <p:nvPr/>
        </p:nvSpPr>
        <p:spPr>
          <a:xfrm>
            <a:off x="1005840" y="4553712"/>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device reflects addresses and mediates for its friends.</a:t>
            </a:r>
            <a:endParaRPr lang="en-US" sz="1700" dirty="0"/>
          </a:p>
        </p:txBody>
      </p:sp>
      <p:sp>
        <p:nvSpPr>
          <p:cNvPr id="14" name="Shape 12"/>
          <p:cNvSpPr/>
          <p:nvPr/>
        </p:nvSpPr>
        <p:spPr>
          <a:xfrm>
            <a:off x="685800" y="5111496"/>
            <a:ext cx="118872" cy="118872"/>
          </a:xfrm>
          <a:prstGeom prst="ellipse">
            <a:avLst/>
          </a:prstGeom>
          <a:solidFill>
            <a:srgbClr val="C25E28"/>
          </a:solidFill>
          <a:ln w="12700">
            <a:solidFill>
              <a:srgbClr val="C25E28"/>
            </a:solidFill>
            <a:prstDash val="solid"/>
          </a:ln>
        </p:spPr>
      </p:sp>
      <p:sp>
        <p:nvSpPr>
          <p:cNvPr id="15" name="Text 13"/>
          <p:cNvSpPr/>
          <p:nvPr/>
        </p:nvSpPr>
        <p:spPr>
          <a:xfrm>
            <a:off x="1005840" y="4992624"/>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Having a public address is not being reachable at 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THE IDEA</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Witness-based detection</a:t>
            </a:r>
            <a:endParaRPr lang="en-US" sz="3600" dirty="0"/>
          </a:p>
        </p:txBody>
      </p:sp>
      <p:sp>
        <p:nvSpPr>
          <p:cNvPr id="4" name="Shape 2"/>
          <p:cNvSpPr/>
          <p:nvPr/>
        </p:nvSpPr>
        <p:spPr>
          <a:xfrm>
            <a:off x="1051560" y="2880360"/>
            <a:ext cx="2286000" cy="1005840"/>
          </a:xfrm>
          <a:prstGeom prst="roundRect">
            <a:avLst>
              <a:gd name="adj" fmla="val 5455"/>
            </a:avLst>
          </a:prstGeom>
          <a:solidFill>
            <a:srgbClr val="EEF3F4"/>
          </a:solidFill>
          <a:ln w="17780">
            <a:solidFill>
              <a:srgbClr val="0E7C86"/>
            </a:solidFill>
            <a:prstDash val="solid"/>
          </a:ln>
        </p:spPr>
      </p:sp>
      <p:sp>
        <p:nvSpPr>
          <p:cNvPr id="5" name="Text 3"/>
          <p:cNvSpPr/>
          <p:nvPr/>
        </p:nvSpPr>
        <p:spPr>
          <a:xfrm>
            <a:off x="1051560" y="3063240"/>
            <a:ext cx="2286000" cy="329184"/>
          </a:xfrm>
          <a:prstGeom prst="rect">
            <a:avLst/>
          </a:prstGeom>
          <a:noFill/>
          <a:ln/>
        </p:spPr>
        <p:txBody>
          <a:bodyPr wrap="square" lIns="0" tIns="0" rIns="0" bIns="0" rtlCol="0" anchor="ctr"/>
          <a:lstStyle/>
          <a:p>
            <a:pPr algn="ctr" indent="0" marL="0">
              <a:buNone/>
            </a:pPr>
            <a:r>
              <a:rPr lang="en-US" sz="1700" b="1" dirty="0">
                <a:solidFill>
                  <a:srgbClr val="16202A"/>
                </a:solidFill>
                <a:latin typeface="Cambria" pitchFamily="34" charset="0"/>
                <a:ea typeface="Cambria" pitchFamily="34" charset="-122"/>
                <a:cs typeface="Cambria" pitchFamily="34" charset="-120"/>
              </a:rPr>
              <a:t>Probe</a:t>
            </a:r>
            <a:endParaRPr lang="en-US" sz="1700" dirty="0"/>
          </a:p>
        </p:txBody>
      </p:sp>
      <p:sp>
        <p:nvSpPr>
          <p:cNvPr id="6" name="Text 4"/>
          <p:cNvSpPr/>
          <p:nvPr/>
        </p:nvSpPr>
        <p:spPr>
          <a:xfrm>
            <a:off x="1051560" y="3410712"/>
            <a:ext cx="2286000" cy="274320"/>
          </a:xfrm>
          <a:prstGeom prst="rect">
            <a:avLst/>
          </a:prstGeom>
          <a:noFill/>
          <a:ln/>
        </p:spPr>
        <p:txBody>
          <a:bodyPr wrap="square" lIns="0" tIns="0" rIns="0" bIns="0" rtlCol="0" anchor="ctr"/>
          <a:lstStyle/>
          <a:p>
            <a:pPr algn="ctr" indent="0" marL="0">
              <a:buNone/>
            </a:pPr>
            <a:r>
              <a:rPr lang="en-US" sz="1200" dirty="0">
                <a:solidFill>
                  <a:srgbClr val="6E7F8B"/>
                </a:solidFill>
                <a:latin typeface="Calibri" pitchFamily="34" charset="0"/>
                <a:ea typeface="Calibri" pitchFamily="34" charset="-122"/>
                <a:cs typeface="Calibri" pitchFamily="34" charset="-120"/>
              </a:rPr>
              <a:t>the device</a:t>
            </a:r>
            <a:endParaRPr lang="en-US" sz="1200" dirty="0"/>
          </a:p>
        </p:txBody>
      </p:sp>
      <p:sp>
        <p:nvSpPr>
          <p:cNvPr id="7" name="Shape 5"/>
          <p:cNvSpPr/>
          <p:nvPr/>
        </p:nvSpPr>
        <p:spPr>
          <a:xfrm>
            <a:off x="8275320" y="1965960"/>
            <a:ext cx="3017520" cy="868680"/>
          </a:xfrm>
          <a:prstGeom prst="roundRect">
            <a:avLst>
              <a:gd name="adj" fmla="val 6316"/>
            </a:avLst>
          </a:prstGeom>
          <a:solidFill>
            <a:srgbClr val="EEF3F4"/>
          </a:solidFill>
          <a:ln w="16510">
            <a:solidFill>
              <a:srgbClr val="0E7C86"/>
            </a:solidFill>
            <a:prstDash val="solid"/>
          </a:ln>
        </p:spPr>
      </p:sp>
      <p:sp>
        <p:nvSpPr>
          <p:cNvPr id="8" name="Text 6"/>
          <p:cNvSpPr/>
          <p:nvPr/>
        </p:nvSpPr>
        <p:spPr>
          <a:xfrm>
            <a:off x="8412480" y="209397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A</a:t>
            </a:r>
            <a:endParaRPr lang="en-US" sz="1500" dirty="0"/>
          </a:p>
        </p:txBody>
      </p:sp>
      <p:sp>
        <p:nvSpPr>
          <p:cNvPr id="9" name="Text 7"/>
          <p:cNvSpPr/>
          <p:nvPr/>
        </p:nvSpPr>
        <p:spPr>
          <a:xfrm>
            <a:off x="8412480" y="240487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session open</a:t>
            </a:r>
            <a:endParaRPr lang="en-US" sz="1150" dirty="0"/>
          </a:p>
        </p:txBody>
      </p:sp>
      <p:sp>
        <p:nvSpPr>
          <p:cNvPr id="10" name="Shape 8"/>
          <p:cNvSpPr/>
          <p:nvPr/>
        </p:nvSpPr>
        <p:spPr>
          <a:xfrm flipV="1">
            <a:off x="3337560" y="2400300"/>
            <a:ext cx="4937760" cy="982980"/>
          </a:xfrm>
          <a:prstGeom prst="line">
            <a:avLst/>
          </a:prstGeom>
          <a:noFill/>
          <a:ln w="17780">
            <a:solidFill>
              <a:srgbClr val="0E7C86"/>
            </a:solidFill>
            <a:prstDash val="solid"/>
            <a:headEnd type="triangle"/>
          </a:ln>
        </p:spPr>
      </p:sp>
      <p:sp>
        <p:nvSpPr>
          <p:cNvPr id="11" name="Shape 9"/>
          <p:cNvSpPr/>
          <p:nvPr/>
        </p:nvSpPr>
        <p:spPr>
          <a:xfrm>
            <a:off x="8275320" y="3063240"/>
            <a:ext cx="3017520" cy="868680"/>
          </a:xfrm>
          <a:prstGeom prst="roundRect">
            <a:avLst>
              <a:gd name="adj" fmla="val 6316"/>
            </a:avLst>
          </a:prstGeom>
          <a:solidFill>
            <a:srgbClr val="EEF3F4"/>
          </a:solidFill>
          <a:ln w="16510">
            <a:solidFill>
              <a:srgbClr val="0E7C86"/>
            </a:solidFill>
            <a:prstDash val="solid"/>
          </a:ln>
        </p:spPr>
      </p:sp>
      <p:sp>
        <p:nvSpPr>
          <p:cNvPr id="12" name="Text 10"/>
          <p:cNvSpPr/>
          <p:nvPr/>
        </p:nvSpPr>
        <p:spPr>
          <a:xfrm>
            <a:off x="8412480" y="319125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B</a:t>
            </a:r>
            <a:endParaRPr lang="en-US" sz="1500" dirty="0"/>
          </a:p>
        </p:txBody>
      </p:sp>
      <p:sp>
        <p:nvSpPr>
          <p:cNvPr id="13" name="Text 11"/>
          <p:cNvSpPr/>
          <p:nvPr/>
        </p:nvSpPr>
        <p:spPr>
          <a:xfrm>
            <a:off x="8412480" y="350215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new source port</a:t>
            </a:r>
            <a:endParaRPr lang="en-US" sz="1150" dirty="0"/>
          </a:p>
        </p:txBody>
      </p:sp>
      <p:sp>
        <p:nvSpPr>
          <p:cNvPr id="14" name="Shape 12"/>
          <p:cNvSpPr/>
          <p:nvPr/>
        </p:nvSpPr>
        <p:spPr>
          <a:xfrm>
            <a:off x="3337560" y="3383280"/>
            <a:ext cx="4937760" cy="114300"/>
          </a:xfrm>
          <a:prstGeom prst="line">
            <a:avLst/>
          </a:prstGeom>
          <a:noFill/>
          <a:ln w="17780">
            <a:solidFill>
              <a:srgbClr val="0E7C86"/>
            </a:solidFill>
            <a:prstDash val="solid"/>
            <a:headEnd type="triangle"/>
          </a:ln>
        </p:spPr>
      </p:sp>
      <p:sp>
        <p:nvSpPr>
          <p:cNvPr id="15" name="Shape 13"/>
          <p:cNvSpPr/>
          <p:nvPr/>
        </p:nvSpPr>
        <p:spPr>
          <a:xfrm>
            <a:off x="8275320" y="4160520"/>
            <a:ext cx="3017520" cy="868680"/>
          </a:xfrm>
          <a:prstGeom prst="roundRect">
            <a:avLst>
              <a:gd name="adj" fmla="val 6316"/>
            </a:avLst>
          </a:prstGeom>
          <a:solidFill>
            <a:srgbClr val="EEF3F4"/>
          </a:solidFill>
          <a:ln w="16510">
            <a:solidFill>
              <a:srgbClr val="C25E28"/>
            </a:solidFill>
            <a:prstDash val="solid"/>
          </a:ln>
        </p:spPr>
      </p:sp>
      <p:sp>
        <p:nvSpPr>
          <p:cNvPr id="16" name="Text 14"/>
          <p:cNvSpPr/>
          <p:nvPr/>
        </p:nvSpPr>
        <p:spPr>
          <a:xfrm>
            <a:off x="8412480" y="428853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C</a:t>
            </a:r>
            <a:endParaRPr lang="en-US" sz="1500" dirty="0"/>
          </a:p>
        </p:txBody>
      </p:sp>
      <p:sp>
        <p:nvSpPr>
          <p:cNvPr id="17" name="Text 15"/>
          <p:cNvSpPr/>
          <p:nvPr/>
        </p:nvSpPr>
        <p:spPr>
          <a:xfrm>
            <a:off x="8412480" y="4599432"/>
            <a:ext cx="2743200" cy="274320"/>
          </a:xfrm>
          <a:prstGeom prst="rect">
            <a:avLst/>
          </a:prstGeom>
          <a:noFill/>
          <a:ln/>
        </p:spPr>
        <p:txBody>
          <a:bodyPr wrap="square" lIns="0" tIns="0" rIns="0" bIns="0" rtlCol="0" anchor="ctr"/>
          <a:lstStyle/>
          <a:p>
            <a:pPr indent="0" marL="0">
              <a:buNone/>
            </a:pPr>
            <a:r>
              <a:rPr lang="en-US" sz="1150" dirty="0">
                <a:solidFill>
                  <a:srgbClr val="C25E28"/>
                </a:solidFill>
                <a:latin typeface="Calibri" pitchFamily="34" charset="0"/>
                <a:ea typeface="Calibri" pitchFamily="34" charset="-122"/>
                <a:cs typeface="Calibri" pitchFamily="34" charset="-120"/>
              </a:rPr>
              <a:t>never contacted</a:t>
            </a:r>
            <a:endParaRPr lang="en-US" sz="1150" dirty="0"/>
          </a:p>
        </p:txBody>
      </p:sp>
      <p:sp>
        <p:nvSpPr>
          <p:cNvPr id="18" name="Shape 16"/>
          <p:cNvSpPr/>
          <p:nvPr/>
        </p:nvSpPr>
        <p:spPr>
          <a:xfrm>
            <a:off x="3337560" y="3383280"/>
            <a:ext cx="4937760" cy="1211580"/>
          </a:xfrm>
          <a:prstGeom prst="line">
            <a:avLst/>
          </a:prstGeom>
          <a:noFill/>
          <a:ln w="17780">
            <a:solidFill>
              <a:srgbClr val="C25E28"/>
            </a:solidFill>
            <a:prstDash val="solid"/>
            <a:headEnd type="triangle"/>
          </a:ln>
        </p:spPr>
      </p:sp>
      <p:sp>
        <p:nvSpPr>
          <p:cNvPr id="19" name="Text 17"/>
          <p:cNvSpPr/>
          <p:nvPr/>
        </p:nvSpPr>
        <p:spPr>
          <a:xfrm>
            <a:off x="1051560" y="4069080"/>
            <a:ext cx="2286000" cy="274320"/>
          </a:xfrm>
          <a:prstGeom prst="rect">
            <a:avLst/>
          </a:prstGeom>
          <a:noFill/>
          <a:ln/>
        </p:spPr>
        <p:txBody>
          <a:bodyPr wrap="square" lIns="0" tIns="0" rIns="0" bIns="0" rtlCol="0" anchor="ctr"/>
          <a:lstStyle/>
          <a:p>
            <a:pPr algn="ctr" indent="0" marL="0">
              <a:buNone/>
            </a:pPr>
            <a:r>
              <a:rPr lang="en-US" sz="1150" dirty="0">
                <a:solidFill>
                  <a:srgbClr val="6E7F8B"/>
                </a:solidFill>
                <a:latin typeface="Calibri" pitchFamily="34" charset="0"/>
                <a:ea typeface="Calibri" pitchFamily="34" charset="-122"/>
                <a:cs typeface="Calibri" pitchFamily="34" charset="-120"/>
              </a:rPr>
              <a:t>each dial-back carries the nonce</a:t>
            </a:r>
            <a:endParaRPr lang="en-US" sz="1150" dirty="0"/>
          </a:p>
        </p:txBody>
      </p:sp>
      <p:sp>
        <p:nvSpPr>
          <p:cNvPr id="20" name="Shape 18"/>
          <p:cNvSpPr/>
          <p:nvPr/>
        </p:nvSpPr>
        <p:spPr>
          <a:xfrm>
            <a:off x="685800" y="5376672"/>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5257800"/>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Only friends. The probe asks each of them directly.</a:t>
            </a:r>
            <a:endParaRPr lang="en-US" sz="1650" dirty="0"/>
          </a:p>
        </p:txBody>
      </p:sp>
      <p:sp>
        <p:nvSpPr>
          <p:cNvPr id="22" name="Shape 20"/>
          <p:cNvSpPr/>
          <p:nvPr/>
        </p:nvSpPr>
        <p:spPr>
          <a:xfrm>
            <a:off x="685800" y="5779008"/>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5660136"/>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They dial back from different addresses and ports.</a:t>
            </a:r>
            <a:endParaRPr lang="en-US" sz="1650" dirty="0"/>
          </a:p>
        </p:txBody>
      </p:sp>
      <p:sp>
        <p:nvSpPr>
          <p:cNvPr id="24" name="Shape 22"/>
          <p:cNvSpPr/>
          <p:nvPr/>
        </p:nvSpPr>
        <p:spPr>
          <a:xfrm>
            <a:off x="685800" y="6181344"/>
            <a:ext cx="118872" cy="118872"/>
          </a:xfrm>
          <a:prstGeom prst="ellipse">
            <a:avLst/>
          </a:prstGeom>
          <a:solidFill>
            <a:srgbClr val="0E7C86"/>
          </a:solidFill>
          <a:ln w="12700">
            <a:solidFill>
              <a:srgbClr val="0E7C86"/>
            </a:solidFill>
            <a:prstDash val="solid"/>
          </a:ln>
        </p:spPr>
      </p:sp>
      <p:sp>
        <p:nvSpPr>
          <p:cNvPr id="25" name="Text 23"/>
          <p:cNvSpPr/>
          <p:nvPr/>
        </p:nvSpPr>
        <p:spPr>
          <a:xfrm>
            <a:off x="1005840" y="6062472"/>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A nonce in each reply makes a fabricated dial-back impossible.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TWO ROUNDS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procedure</a:t>
            </a:r>
            <a:endParaRPr lang="en-US" sz="3600" dirty="0"/>
          </a:p>
        </p:txBody>
      </p:sp>
      <p:sp>
        <p:nvSpPr>
          <p:cNvPr id="4" name="Text 2"/>
          <p:cNvSpPr/>
          <p:nvPr/>
        </p:nvSpPr>
        <p:spPr>
          <a:xfrm>
            <a:off x="685800" y="1965960"/>
            <a:ext cx="5029200" cy="32004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Reflect</a:t>
            </a:r>
            <a:endParaRPr lang="en-US" sz="1900" dirty="0"/>
          </a:p>
        </p:txBody>
      </p:sp>
      <p:sp>
        <p:nvSpPr>
          <p:cNvPr id="5" name="Text 3"/>
          <p:cNvSpPr/>
          <p:nvPr/>
        </p:nvSpPr>
        <p:spPr>
          <a:xfrm>
            <a:off x="685800" y="2304288"/>
            <a:ext cx="5029200" cy="274320"/>
          </a:xfrm>
          <a:prstGeom prst="rect">
            <a:avLst/>
          </a:prstGeom>
          <a:noFill/>
          <a:ln/>
        </p:spPr>
        <p:txBody>
          <a:bodyPr wrap="square" lIns="0" tIns="0" rIns="0" bIns="0" rtlCol="0" anchor="ctr"/>
          <a:lstStyle/>
          <a:p>
            <a:pPr indent="0" marL="0">
              <a:buNone/>
            </a:pPr>
            <a:r>
              <a:rPr lang="en-US" sz="1250" i="1" dirty="0">
                <a:solidFill>
                  <a:srgbClr val="6E7F8B"/>
                </a:solidFill>
                <a:latin typeface="Calibri" pitchFamily="34" charset="0"/>
                <a:ea typeface="Calibri" pitchFamily="34" charset="-122"/>
                <a:cs typeface="Calibri" pitchFamily="34" charset="-120"/>
              </a:rPr>
              <a:t>each friend reports the source it observed</a:t>
            </a:r>
            <a:endParaRPr lang="en-US" sz="1250" dirty="0"/>
          </a:p>
        </p:txBody>
      </p:sp>
      <p:sp>
        <p:nvSpPr>
          <p:cNvPr id="6" name="Shape 4"/>
          <p:cNvSpPr/>
          <p:nvPr/>
        </p:nvSpPr>
        <p:spPr>
          <a:xfrm>
            <a:off x="548640" y="2715768"/>
            <a:ext cx="5303520" cy="786384"/>
          </a:xfrm>
          <a:prstGeom prst="roundRect">
            <a:avLst>
              <a:gd name="adj" fmla="val 6977"/>
            </a:avLst>
          </a:prstGeom>
          <a:solidFill>
            <a:srgbClr val="F6F9F9"/>
          </a:solidFill>
          <a:ln w="6350">
            <a:solidFill>
              <a:srgbClr val="F6F9F9"/>
            </a:solidFill>
            <a:prstDash val="solid"/>
          </a:ln>
        </p:spPr>
      </p:sp>
      <p:sp>
        <p:nvSpPr>
          <p:cNvPr id="7" name="Text 5"/>
          <p:cNvSpPr/>
          <p:nvPr/>
        </p:nvSpPr>
        <p:spPr>
          <a:xfrm>
            <a:off x="685800" y="2788920"/>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Same tuple from every friend</a:t>
            </a:r>
            <a:endParaRPr lang="en-US" sz="1300" dirty="0"/>
          </a:p>
        </p:txBody>
      </p:sp>
      <p:sp>
        <p:nvSpPr>
          <p:cNvPr id="8" name="Text 6"/>
          <p:cNvSpPr/>
          <p:nvPr/>
        </p:nvSpPr>
        <p:spPr>
          <a:xfrm>
            <a:off x="3602736" y="2788920"/>
            <a:ext cx="2112264" cy="64008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endpoint-independent</a:t>
            </a:r>
            <a:endParaRPr lang="en-US" sz="1300" dirty="0"/>
          </a:p>
        </p:txBody>
      </p:sp>
      <p:sp>
        <p:nvSpPr>
          <p:cNvPr id="9" name="Text 7"/>
          <p:cNvSpPr/>
          <p:nvPr/>
        </p:nvSpPr>
        <p:spPr>
          <a:xfrm>
            <a:off x="685800" y="3630168"/>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Differs by friend address</a:t>
            </a:r>
            <a:endParaRPr lang="en-US" sz="1300" dirty="0"/>
          </a:p>
        </p:txBody>
      </p:sp>
      <p:sp>
        <p:nvSpPr>
          <p:cNvPr id="10" name="Text 8"/>
          <p:cNvSpPr/>
          <p:nvPr/>
        </p:nvSpPr>
        <p:spPr>
          <a:xfrm>
            <a:off x="3602736" y="3630168"/>
            <a:ext cx="2112264" cy="64008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address-dependent</a:t>
            </a:r>
            <a:endParaRPr lang="en-US" sz="1300" dirty="0"/>
          </a:p>
        </p:txBody>
      </p:sp>
      <p:sp>
        <p:nvSpPr>
          <p:cNvPr id="11" name="Shape 9"/>
          <p:cNvSpPr/>
          <p:nvPr/>
        </p:nvSpPr>
        <p:spPr>
          <a:xfrm>
            <a:off x="548640" y="4398264"/>
            <a:ext cx="5303520" cy="786384"/>
          </a:xfrm>
          <a:prstGeom prst="roundRect">
            <a:avLst>
              <a:gd name="adj" fmla="val 6977"/>
            </a:avLst>
          </a:prstGeom>
          <a:solidFill>
            <a:srgbClr val="F6F9F9"/>
          </a:solidFill>
          <a:ln w="6350">
            <a:solidFill>
              <a:srgbClr val="F6F9F9"/>
            </a:solidFill>
            <a:prstDash val="solid"/>
          </a:ln>
        </p:spPr>
      </p:sp>
      <p:sp>
        <p:nvSpPr>
          <p:cNvPr id="12" name="Text 10"/>
          <p:cNvSpPr/>
          <p:nvPr/>
        </p:nvSpPr>
        <p:spPr>
          <a:xfrm>
            <a:off x="685800" y="4471416"/>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Differs across two ports of one friend</a:t>
            </a:r>
            <a:endParaRPr lang="en-US" sz="1300" dirty="0"/>
          </a:p>
        </p:txBody>
      </p:sp>
      <p:sp>
        <p:nvSpPr>
          <p:cNvPr id="13" name="Text 11"/>
          <p:cNvSpPr/>
          <p:nvPr/>
        </p:nvSpPr>
        <p:spPr>
          <a:xfrm>
            <a:off x="3602736" y="4471416"/>
            <a:ext cx="2112264" cy="64008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address-and-port-dependent</a:t>
            </a:r>
            <a:endParaRPr lang="en-US" sz="1300" dirty="0"/>
          </a:p>
        </p:txBody>
      </p:sp>
      <p:sp>
        <p:nvSpPr>
          <p:cNvPr id="14" name="Text 12"/>
          <p:cNvSpPr/>
          <p:nvPr/>
        </p:nvSpPr>
        <p:spPr>
          <a:xfrm>
            <a:off x="6446520" y="1965960"/>
            <a:ext cx="5029200" cy="32004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Dial back</a:t>
            </a:r>
            <a:endParaRPr lang="en-US" sz="1900" dirty="0"/>
          </a:p>
        </p:txBody>
      </p:sp>
      <p:sp>
        <p:nvSpPr>
          <p:cNvPr id="15" name="Text 13"/>
          <p:cNvSpPr/>
          <p:nvPr/>
        </p:nvSpPr>
        <p:spPr>
          <a:xfrm>
            <a:off x="6446520" y="2304288"/>
            <a:ext cx="5029200" cy="274320"/>
          </a:xfrm>
          <a:prstGeom prst="rect">
            <a:avLst/>
          </a:prstGeom>
          <a:noFill/>
          <a:ln/>
        </p:spPr>
        <p:txBody>
          <a:bodyPr wrap="square" lIns="0" tIns="0" rIns="0" bIns="0" rtlCol="0" anchor="ctr"/>
          <a:lstStyle/>
          <a:p>
            <a:pPr indent="0" marL="0">
              <a:buNone/>
            </a:pPr>
            <a:r>
              <a:rPr lang="en-US" sz="1250" i="1" dirty="0">
                <a:solidFill>
                  <a:srgbClr val="6E7F8B"/>
                </a:solidFill>
                <a:latin typeface="Calibri" pitchFamily="34" charset="0"/>
                <a:ea typeface="Calibri" pitchFamily="34" charset="-122"/>
                <a:cs typeface="Calibri" pitchFamily="34" charset="-120"/>
              </a:rPr>
              <a:t>three sources, each carrying the nonce</a:t>
            </a:r>
            <a:endParaRPr lang="en-US" sz="1250" dirty="0"/>
          </a:p>
        </p:txBody>
      </p:sp>
      <p:sp>
        <p:nvSpPr>
          <p:cNvPr id="16" name="Shape 14"/>
          <p:cNvSpPr/>
          <p:nvPr/>
        </p:nvSpPr>
        <p:spPr>
          <a:xfrm>
            <a:off x="6309360" y="2715768"/>
            <a:ext cx="5303520" cy="786384"/>
          </a:xfrm>
          <a:prstGeom prst="roundRect">
            <a:avLst>
              <a:gd name="adj" fmla="val 6977"/>
            </a:avLst>
          </a:prstGeom>
          <a:solidFill>
            <a:srgbClr val="F6F9F9"/>
          </a:solidFill>
          <a:ln w="6350">
            <a:solidFill>
              <a:srgbClr val="F6F9F9"/>
            </a:solidFill>
            <a:prstDash val="solid"/>
          </a:ln>
        </p:spPr>
      </p:sp>
      <p:sp>
        <p:nvSpPr>
          <p:cNvPr id="17" name="Text 15"/>
          <p:cNvSpPr/>
          <p:nvPr/>
        </p:nvSpPr>
        <p:spPr>
          <a:xfrm>
            <a:off x="6446520" y="2788920"/>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Arrives from an uncontacted address</a:t>
            </a:r>
            <a:endParaRPr lang="en-US" sz="1300" dirty="0"/>
          </a:p>
        </p:txBody>
      </p:sp>
      <p:sp>
        <p:nvSpPr>
          <p:cNvPr id="18" name="Text 16"/>
          <p:cNvSpPr/>
          <p:nvPr/>
        </p:nvSpPr>
        <p:spPr>
          <a:xfrm>
            <a:off x="9363456" y="2788920"/>
            <a:ext cx="2112264" cy="640080"/>
          </a:xfrm>
          <a:prstGeom prst="rect">
            <a:avLst/>
          </a:prstGeom>
          <a:noFill/>
          <a:ln/>
        </p:spPr>
        <p:txBody>
          <a:bodyPr wrap="square" lIns="0" tIns="0" rIns="0" bIns="0" rtlCol="0" anchor="ctr"/>
          <a:lstStyle/>
          <a:p>
            <a:pPr indent="0" marL="0">
              <a:buNone/>
            </a:pPr>
            <a:r>
              <a:rPr lang="en-US" sz="1300" b="1" dirty="0">
                <a:solidFill>
                  <a:srgbClr val="C25E28"/>
                </a:solidFill>
                <a:latin typeface="Cambria" pitchFamily="34" charset="0"/>
                <a:ea typeface="Cambria" pitchFamily="34" charset="-122"/>
                <a:cs typeface="Cambria" pitchFamily="34" charset="-120"/>
              </a:rPr>
              <a:t>endpoint-independent</a:t>
            </a:r>
            <a:endParaRPr lang="en-US" sz="1300" dirty="0"/>
          </a:p>
        </p:txBody>
      </p:sp>
      <p:sp>
        <p:nvSpPr>
          <p:cNvPr id="19" name="Text 17"/>
          <p:cNvSpPr/>
          <p:nvPr/>
        </p:nvSpPr>
        <p:spPr>
          <a:xfrm>
            <a:off x="6446520" y="3630168"/>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Only from a contacted address, new port</a:t>
            </a:r>
            <a:endParaRPr lang="en-US" sz="1300" dirty="0"/>
          </a:p>
        </p:txBody>
      </p:sp>
      <p:sp>
        <p:nvSpPr>
          <p:cNvPr id="20" name="Text 18"/>
          <p:cNvSpPr/>
          <p:nvPr/>
        </p:nvSpPr>
        <p:spPr>
          <a:xfrm>
            <a:off x="9363456" y="3630168"/>
            <a:ext cx="2112264" cy="640080"/>
          </a:xfrm>
          <a:prstGeom prst="rect">
            <a:avLst/>
          </a:prstGeom>
          <a:noFill/>
          <a:ln/>
        </p:spPr>
        <p:txBody>
          <a:bodyPr wrap="square" lIns="0" tIns="0" rIns="0" bIns="0" rtlCol="0" anchor="ctr"/>
          <a:lstStyle/>
          <a:p>
            <a:pPr indent="0" marL="0">
              <a:buNone/>
            </a:pPr>
            <a:r>
              <a:rPr lang="en-US" sz="1300" b="1" dirty="0">
                <a:solidFill>
                  <a:srgbClr val="C25E28"/>
                </a:solidFill>
                <a:latin typeface="Cambria" pitchFamily="34" charset="0"/>
                <a:ea typeface="Cambria" pitchFamily="34" charset="-122"/>
                <a:cs typeface="Cambria" pitchFamily="34" charset="-120"/>
              </a:rPr>
              <a:t>address-dependent</a:t>
            </a:r>
            <a:endParaRPr lang="en-US" sz="1300" dirty="0"/>
          </a:p>
        </p:txBody>
      </p:sp>
      <p:sp>
        <p:nvSpPr>
          <p:cNvPr id="21" name="Shape 19"/>
          <p:cNvSpPr/>
          <p:nvPr/>
        </p:nvSpPr>
        <p:spPr>
          <a:xfrm>
            <a:off x="6309360" y="4398264"/>
            <a:ext cx="5303520" cy="786384"/>
          </a:xfrm>
          <a:prstGeom prst="roundRect">
            <a:avLst>
              <a:gd name="adj" fmla="val 6977"/>
            </a:avLst>
          </a:prstGeom>
          <a:solidFill>
            <a:srgbClr val="F6F9F9"/>
          </a:solidFill>
          <a:ln w="6350">
            <a:solidFill>
              <a:srgbClr val="F6F9F9"/>
            </a:solidFill>
            <a:prstDash val="solid"/>
          </a:ln>
        </p:spPr>
      </p:sp>
      <p:sp>
        <p:nvSpPr>
          <p:cNvPr id="22" name="Text 20"/>
          <p:cNvSpPr/>
          <p:nvPr/>
        </p:nvSpPr>
        <p:spPr>
          <a:xfrm>
            <a:off x="6446520" y="4471416"/>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Only from the contacted endpoint</a:t>
            </a:r>
            <a:endParaRPr lang="en-US" sz="1300" dirty="0"/>
          </a:p>
        </p:txBody>
      </p:sp>
      <p:sp>
        <p:nvSpPr>
          <p:cNvPr id="23" name="Text 21"/>
          <p:cNvSpPr/>
          <p:nvPr/>
        </p:nvSpPr>
        <p:spPr>
          <a:xfrm>
            <a:off x="9363456" y="4471416"/>
            <a:ext cx="2112264" cy="640080"/>
          </a:xfrm>
          <a:prstGeom prst="rect">
            <a:avLst/>
          </a:prstGeom>
          <a:noFill/>
          <a:ln/>
        </p:spPr>
        <p:txBody>
          <a:bodyPr wrap="square" lIns="0" tIns="0" rIns="0" bIns="0" rtlCol="0" anchor="ctr"/>
          <a:lstStyle/>
          <a:p>
            <a:pPr indent="0" marL="0">
              <a:buNone/>
            </a:pPr>
            <a:r>
              <a:rPr lang="en-US" sz="1300" b="1" dirty="0">
                <a:solidFill>
                  <a:srgbClr val="C25E28"/>
                </a:solidFill>
                <a:latin typeface="Cambria" pitchFamily="34" charset="0"/>
                <a:ea typeface="Cambria" pitchFamily="34" charset="-122"/>
                <a:cs typeface="Cambria" pitchFamily="34" charset="-120"/>
              </a:rPr>
              <a:t>address-and-port-dependent</a:t>
            </a:r>
            <a:endParaRPr lang="en-US" sz="1300" dirty="0"/>
          </a:p>
        </p:txBody>
      </p:sp>
      <p:sp>
        <p:nvSpPr>
          <p:cNvPr id="24" name="Text 22"/>
          <p:cNvSpPr/>
          <p:nvPr/>
        </p:nvSpPr>
        <p:spPr>
          <a:xfrm>
            <a:off x="685800" y="5669280"/>
            <a:ext cx="10789920" cy="365760"/>
          </a:xfrm>
          <a:prstGeom prst="rect">
            <a:avLst/>
          </a:prstGeom>
          <a:noFill/>
          <a:ln/>
        </p:spPr>
        <p:txBody>
          <a:bodyPr wrap="square" lIns="0" tIns="0" rIns="0" bIns="0" rtlCol="0" anchor="ctr"/>
          <a:lstStyle/>
          <a:p>
            <a:pPr indent="0" marL="0">
              <a:buNone/>
            </a:pPr>
            <a:r>
              <a:rPr lang="en-US" sz="1450" i="1" dirty="0">
                <a:solidFill>
                  <a:srgbClr val="0A5A62"/>
                </a:solidFill>
                <a:latin typeface="Calibri" pitchFamily="34" charset="0"/>
                <a:ea typeface="Calibri" pitchFamily="34" charset="-122"/>
                <a:cs typeface="Calibri" pitchFamily="34" charset="-120"/>
              </a:rPr>
              <a:t>Three friends with the right vantage points separate every class. More buy confidence against loss, not resolution.</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UNDER HONEST PEERS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Two things that mislead</a:t>
            </a:r>
            <a:endParaRPr lang="en-US" sz="3600" dirty="0"/>
          </a:p>
        </p:txBody>
      </p:sp>
      <p:sp>
        <p:nvSpPr>
          <p:cNvPr id="4" name="Shape 2"/>
          <p:cNvSpPr/>
          <p:nvPr/>
        </p:nvSpPr>
        <p:spPr>
          <a:xfrm>
            <a:off x="685800" y="2103120"/>
            <a:ext cx="5212080" cy="2651760"/>
          </a:xfrm>
          <a:prstGeom prst="roundRect">
            <a:avLst>
              <a:gd name="adj" fmla="val 2069"/>
            </a:avLst>
          </a:prstGeom>
          <a:solidFill>
            <a:srgbClr val="EEF3F4"/>
          </a:solidFill>
          <a:ln w="6350">
            <a:solidFill>
              <a:srgbClr val="EEF3F4"/>
            </a:solidFill>
            <a:prstDash val="solid"/>
          </a:ln>
        </p:spPr>
      </p:sp>
      <p:sp>
        <p:nvSpPr>
          <p:cNvPr id="5" name="Shape 3"/>
          <p:cNvSpPr/>
          <p:nvPr/>
        </p:nvSpPr>
        <p:spPr>
          <a:xfrm>
            <a:off x="1051560" y="2377440"/>
            <a:ext cx="365760" cy="365760"/>
          </a:xfrm>
          <a:prstGeom prst="ellipse">
            <a:avLst/>
          </a:prstGeom>
          <a:solidFill>
            <a:srgbClr val="C25E28"/>
          </a:solidFill>
          <a:ln w="12700">
            <a:solidFill>
              <a:srgbClr val="C25E28"/>
            </a:solidFill>
            <a:prstDash val="solid"/>
          </a:ln>
        </p:spPr>
      </p:sp>
      <p:sp>
        <p:nvSpPr>
          <p:cNvPr id="6" name="Text 4"/>
          <p:cNvSpPr/>
          <p:nvPr/>
        </p:nvSpPr>
        <p:spPr>
          <a:xfrm>
            <a:off x="105156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Contamination</a:t>
            </a:r>
            <a:endParaRPr lang="en-US" sz="2000" dirty="0"/>
          </a:p>
        </p:txBody>
      </p:sp>
      <p:sp>
        <p:nvSpPr>
          <p:cNvPr id="7" name="Shape 5"/>
          <p:cNvSpPr/>
          <p:nvPr/>
        </p:nvSpPr>
        <p:spPr>
          <a:xfrm>
            <a:off x="1051560" y="3456432"/>
            <a:ext cx="118872" cy="118872"/>
          </a:xfrm>
          <a:prstGeom prst="ellipse">
            <a:avLst/>
          </a:prstGeom>
          <a:solidFill>
            <a:srgbClr val="C25E28"/>
          </a:solidFill>
          <a:ln w="12700">
            <a:solidFill>
              <a:srgbClr val="C25E28"/>
            </a:solidFill>
            <a:prstDash val="solid"/>
          </a:ln>
        </p:spPr>
      </p:sp>
      <p:sp>
        <p:nvSpPr>
          <p:cNvPr id="8" name="Text 6"/>
          <p:cNvSpPr/>
          <p:nvPr/>
        </p:nvSpPr>
        <p:spPr>
          <a:xfrm>
            <a:off x="137160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Witnesses are the peers we already transmit to.</a:t>
            </a:r>
            <a:endParaRPr lang="en-US" sz="1350" dirty="0"/>
          </a:p>
        </p:txBody>
      </p:sp>
      <p:sp>
        <p:nvSpPr>
          <p:cNvPr id="9" name="Shape 7"/>
          <p:cNvSpPr/>
          <p:nvPr/>
        </p:nvSpPr>
        <p:spPr>
          <a:xfrm>
            <a:off x="1051560" y="3840480"/>
            <a:ext cx="118872" cy="118872"/>
          </a:xfrm>
          <a:prstGeom prst="ellipse">
            <a:avLst/>
          </a:prstGeom>
          <a:solidFill>
            <a:srgbClr val="C25E28"/>
          </a:solidFill>
          <a:ln w="12700">
            <a:solidFill>
              <a:srgbClr val="C25E28"/>
            </a:solidFill>
            <a:prstDash val="solid"/>
          </a:ln>
        </p:spPr>
      </p:sp>
      <p:sp>
        <p:nvSpPr>
          <p:cNvPr id="10" name="Text 8"/>
          <p:cNvSpPr/>
          <p:nvPr/>
        </p:nvSpPr>
        <p:spPr>
          <a:xfrm>
            <a:off x="137160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It measures our own mapping, not the NAT rule.</a:t>
            </a:r>
            <a:endParaRPr lang="en-US" sz="1350" dirty="0"/>
          </a:p>
        </p:txBody>
      </p:sp>
      <p:sp>
        <p:nvSpPr>
          <p:cNvPr id="11" name="Shape 9"/>
          <p:cNvSpPr/>
          <p:nvPr/>
        </p:nvSpPr>
        <p:spPr>
          <a:xfrm>
            <a:off x="1051560" y="4224528"/>
            <a:ext cx="118872" cy="118872"/>
          </a:xfrm>
          <a:prstGeom prst="ellipse">
            <a:avLst/>
          </a:prstGeom>
          <a:solidFill>
            <a:srgbClr val="C25E28"/>
          </a:solidFill>
          <a:ln w="12700">
            <a:solidFill>
              <a:srgbClr val="C25E28"/>
            </a:solidFill>
            <a:prstDash val="solid"/>
          </a:ln>
        </p:spPr>
      </p:sp>
      <p:sp>
        <p:nvSpPr>
          <p:cNvPr id="12" name="Text 10"/>
          <p:cNvSpPr/>
          <p:nvPr/>
        </p:nvSpPr>
        <p:spPr>
          <a:xfrm>
            <a:off x="137160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Guard: a per-test send history discards contacted sources.</a:t>
            </a:r>
            <a:endParaRPr lang="en-US" sz="1350" dirty="0"/>
          </a:p>
        </p:txBody>
      </p:sp>
      <p:sp>
        <p:nvSpPr>
          <p:cNvPr id="13" name="Shape 11"/>
          <p:cNvSpPr/>
          <p:nvPr/>
        </p:nvSpPr>
        <p:spPr>
          <a:xfrm>
            <a:off x="6263640" y="2103120"/>
            <a:ext cx="5212080" cy="2651760"/>
          </a:xfrm>
          <a:prstGeom prst="roundRect">
            <a:avLst>
              <a:gd name="adj" fmla="val 2069"/>
            </a:avLst>
          </a:prstGeom>
          <a:solidFill>
            <a:srgbClr val="EEF3F4"/>
          </a:solidFill>
          <a:ln w="6350">
            <a:solidFill>
              <a:srgbClr val="EEF3F4"/>
            </a:solidFill>
            <a:prstDash val="solid"/>
          </a:ln>
        </p:spPr>
      </p:sp>
      <p:sp>
        <p:nvSpPr>
          <p:cNvPr id="14" name="Shape 12"/>
          <p:cNvSpPr/>
          <p:nvPr/>
        </p:nvSpPr>
        <p:spPr>
          <a:xfrm>
            <a:off x="6629400" y="2377440"/>
            <a:ext cx="365760" cy="365760"/>
          </a:xfrm>
          <a:prstGeom prst="ellipse">
            <a:avLst/>
          </a:prstGeom>
          <a:solidFill>
            <a:srgbClr val="0E7C86"/>
          </a:solidFill>
          <a:ln w="12700">
            <a:solidFill>
              <a:srgbClr val="0E7C86"/>
            </a:solidFill>
            <a:prstDash val="solid"/>
          </a:ln>
        </p:spPr>
      </p:sp>
      <p:sp>
        <p:nvSpPr>
          <p:cNvPr id="15" name="Text 13"/>
          <p:cNvSpPr/>
          <p:nvPr/>
        </p:nvSpPr>
        <p:spPr>
          <a:xfrm>
            <a:off x="662940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Absent dial-backs</a:t>
            </a:r>
            <a:endParaRPr lang="en-US" sz="2000" dirty="0"/>
          </a:p>
        </p:txBody>
      </p:sp>
      <p:sp>
        <p:nvSpPr>
          <p:cNvPr id="16" name="Shape 14"/>
          <p:cNvSpPr/>
          <p:nvPr/>
        </p:nvSpPr>
        <p:spPr>
          <a:xfrm>
            <a:off x="6629400" y="3456432"/>
            <a:ext cx="118872" cy="118872"/>
          </a:xfrm>
          <a:prstGeom prst="ellipse">
            <a:avLst/>
          </a:prstGeom>
          <a:solidFill>
            <a:srgbClr val="0E7C86"/>
          </a:solidFill>
          <a:ln w="12700">
            <a:solidFill>
              <a:srgbClr val="0E7C86"/>
            </a:solidFill>
            <a:prstDash val="solid"/>
          </a:ln>
        </p:spPr>
      </p:sp>
      <p:sp>
        <p:nvSpPr>
          <p:cNvPr id="17" name="Text 15"/>
          <p:cNvSpPr/>
          <p:nvPr/>
        </p:nvSpPr>
        <p:spPr>
          <a:xfrm>
            <a:off x="694944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arriving dial-back is definitive: the path exists.</a:t>
            </a:r>
            <a:endParaRPr lang="en-US" sz="1350" dirty="0"/>
          </a:p>
        </p:txBody>
      </p:sp>
      <p:sp>
        <p:nvSpPr>
          <p:cNvPr id="18" name="Shape 16"/>
          <p:cNvSpPr/>
          <p:nvPr/>
        </p:nvSpPr>
        <p:spPr>
          <a:xfrm>
            <a:off x="6629400" y="3840480"/>
            <a:ext cx="118872" cy="118872"/>
          </a:xfrm>
          <a:prstGeom prst="ellipse">
            <a:avLst/>
          </a:prstGeom>
          <a:solidFill>
            <a:srgbClr val="0E7C86"/>
          </a:solidFill>
          <a:ln w="12700">
            <a:solidFill>
              <a:srgbClr val="0E7C86"/>
            </a:solidFill>
            <a:prstDash val="solid"/>
          </a:ln>
        </p:spPr>
      </p:sp>
      <p:sp>
        <p:nvSpPr>
          <p:cNvPr id="19" name="Text 17"/>
          <p:cNvSpPr/>
          <p:nvPr/>
        </p:nvSpPr>
        <p:spPr>
          <a:xfrm>
            <a:off x="694944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absent one is filtering, or simply loss.</a:t>
            </a:r>
            <a:endParaRPr lang="en-US" sz="1350" dirty="0"/>
          </a:p>
        </p:txBody>
      </p:sp>
      <p:sp>
        <p:nvSpPr>
          <p:cNvPr id="20" name="Shape 18"/>
          <p:cNvSpPr/>
          <p:nvPr/>
        </p:nvSpPr>
        <p:spPr>
          <a:xfrm>
            <a:off x="6629400" y="4224528"/>
            <a:ext cx="118872" cy="118872"/>
          </a:xfrm>
          <a:prstGeom prst="ellipse">
            <a:avLst/>
          </a:prstGeom>
          <a:solidFill>
            <a:srgbClr val="0E7C86"/>
          </a:solidFill>
          <a:ln w="12700">
            <a:solidFill>
              <a:srgbClr val="0E7C86"/>
            </a:solidFill>
            <a:prstDash val="solid"/>
          </a:ln>
        </p:spPr>
      </p:sp>
      <p:sp>
        <p:nvSpPr>
          <p:cNvPr id="21" name="Text 19"/>
          <p:cNvSpPr/>
          <p:nvPr/>
        </p:nvSpPr>
        <p:spPr>
          <a:xfrm>
            <a:off x="694944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Negative verdicts need retries and k witnesses.</a:t>
            </a:r>
            <a:endParaRPr lang="en-US" sz="1350" dirty="0"/>
          </a:p>
        </p:txBody>
      </p:sp>
      <p:sp>
        <p:nvSpPr>
          <p:cNvPr id="22" name="Text 20"/>
          <p:cNvSpPr/>
          <p:nvPr/>
        </p:nvSpPr>
        <p:spPr>
          <a:xfrm>
            <a:off x="685800" y="51206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assume peers are honest. Relaxing that assumption is follow-on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WE MEASURE, AND FROM WHERE</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Testbed and hosting</a:t>
            </a:r>
            <a:endParaRPr lang="en-US" sz="3600" dirty="0"/>
          </a:p>
        </p:txBody>
      </p:sp>
      <p:sp>
        <p:nvSpPr>
          <p:cNvPr id="4" name="Shape 2"/>
          <p:cNvSpPr/>
          <p:nvPr/>
        </p:nvSpPr>
        <p:spPr>
          <a:xfrm>
            <a:off x="685800" y="2103120"/>
            <a:ext cx="5212080" cy="2743200"/>
          </a:xfrm>
          <a:prstGeom prst="roundRect">
            <a:avLst>
              <a:gd name="adj" fmla="val 2000"/>
            </a:avLst>
          </a:prstGeom>
          <a:solidFill>
            <a:srgbClr val="EEF3F4"/>
          </a:solidFill>
          <a:ln w="6350">
            <a:solidFill>
              <a:srgbClr val="EEF3F4"/>
            </a:solidFill>
            <a:prstDash val="solid"/>
          </a:ln>
        </p:spPr>
      </p:sp>
      <p:sp>
        <p:nvSpPr>
          <p:cNvPr id="5" name="Text 3"/>
          <p:cNvSpPr/>
          <p:nvPr/>
        </p:nvSpPr>
        <p:spPr>
          <a:xfrm>
            <a:off x="1051560" y="2377440"/>
            <a:ext cx="4480560" cy="36576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What we measure</a:t>
            </a:r>
            <a:endParaRPr lang="en-US" sz="1900" dirty="0"/>
          </a:p>
        </p:txBody>
      </p:sp>
      <p:sp>
        <p:nvSpPr>
          <p:cNvPr id="6" name="Shape 4"/>
          <p:cNvSpPr/>
          <p:nvPr/>
        </p:nvSpPr>
        <p:spPr>
          <a:xfrm>
            <a:off x="1051560" y="3044952"/>
            <a:ext cx="118872" cy="118872"/>
          </a:xfrm>
          <a:prstGeom prst="ellipse">
            <a:avLst/>
          </a:prstGeom>
          <a:solidFill>
            <a:srgbClr val="0E7C86"/>
          </a:solidFill>
          <a:ln w="12700">
            <a:solidFill>
              <a:srgbClr val="0E7C86"/>
            </a:solidFill>
            <a:prstDash val="solid"/>
          </a:ln>
        </p:spPr>
      </p:sp>
      <p:sp>
        <p:nvSpPr>
          <p:cNvPr id="7" name="Text 5"/>
          <p:cNvSpPr/>
          <p:nvPr/>
        </p:nvSpPr>
        <p:spPr>
          <a:xfrm>
            <a:off x="1371600" y="292608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Our own handsets, on carrier and home paths.</a:t>
            </a:r>
            <a:endParaRPr lang="en-US" sz="1350" dirty="0"/>
          </a:p>
        </p:txBody>
      </p:sp>
      <p:sp>
        <p:nvSpPr>
          <p:cNvPr id="8" name="Shape 6"/>
          <p:cNvSpPr/>
          <p:nvPr/>
        </p:nvSpPr>
        <p:spPr>
          <a:xfrm>
            <a:off x="1051560" y="3520440"/>
            <a:ext cx="118872" cy="118872"/>
          </a:xfrm>
          <a:prstGeom prst="ellipse">
            <a:avLst/>
          </a:prstGeom>
          <a:solidFill>
            <a:srgbClr val="0E7C86"/>
          </a:solidFill>
          <a:ln w="12700">
            <a:solidFill>
              <a:srgbClr val="0E7C86"/>
            </a:solidFill>
            <a:prstDash val="solid"/>
          </a:ln>
        </p:spPr>
      </p:sp>
      <p:sp>
        <p:nvSpPr>
          <p:cNvPr id="9" name="Text 7"/>
          <p:cNvSpPr/>
          <p:nvPr/>
        </p:nvSpPr>
        <p:spPr>
          <a:xfrm>
            <a:off x="1371600" y="340156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 stratum: one carrier, APN and PDN type.</a:t>
            </a:r>
            <a:endParaRPr lang="en-US" sz="1350" dirty="0"/>
          </a:p>
        </p:txBody>
      </p:sp>
      <p:sp>
        <p:nvSpPr>
          <p:cNvPr id="10" name="Shape 8"/>
          <p:cNvSpPr/>
          <p:nvPr/>
        </p:nvSpPr>
        <p:spPr>
          <a:xfrm>
            <a:off x="1051560" y="3995928"/>
            <a:ext cx="118872" cy="118872"/>
          </a:xfrm>
          <a:prstGeom prst="ellipse">
            <a:avLst/>
          </a:prstGeom>
          <a:solidFill>
            <a:srgbClr val="0E7C86"/>
          </a:solidFill>
          <a:ln w="12700">
            <a:solidFill>
              <a:srgbClr val="0E7C86"/>
            </a:solidFill>
            <a:prstDash val="solid"/>
          </a:ln>
        </p:spPr>
      </p:sp>
      <p:sp>
        <p:nvSpPr>
          <p:cNvPr id="11" name="Text 9"/>
          <p:cNvSpPr/>
          <p:nvPr/>
        </p:nvSpPr>
        <p:spPr>
          <a:xfrm>
            <a:off x="1371600" y="38770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Two SIMs and two handset stacks per carrier.</a:t>
            </a:r>
            <a:endParaRPr lang="en-US" sz="1350" dirty="0"/>
          </a:p>
        </p:txBody>
      </p:sp>
      <p:sp>
        <p:nvSpPr>
          <p:cNvPr id="12" name="Shape 10"/>
          <p:cNvSpPr/>
          <p:nvPr/>
        </p:nvSpPr>
        <p:spPr>
          <a:xfrm>
            <a:off x="6263640" y="2103120"/>
            <a:ext cx="5212080" cy="2743200"/>
          </a:xfrm>
          <a:prstGeom prst="roundRect">
            <a:avLst>
              <a:gd name="adj" fmla="val 2000"/>
            </a:avLst>
          </a:prstGeom>
          <a:solidFill>
            <a:srgbClr val="EEF3F4"/>
          </a:solidFill>
          <a:ln w="6350">
            <a:solidFill>
              <a:srgbClr val="EEF3F4"/>
            </a:solidFill>
            <a:prstDash val="solid"/>
          </a:ln>
        </p:spPr>
      </p:sp>
      <p:sp>
        <p:nvSpPr>
          <p:cNvPr id="13" name="Text 11"/>
          <p:cNvSpPr/>
          <p:nvPr/>
        </p:nvSpPr>
        <p:spPr>
          <a:xfrm>
            <a:off x="6629400" y="2377440"/>
            <a:ext cx="4480560" cy="36576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What the institution hosts</a:t>
            </a:r>
            <a:endParaRPr lang="en-US" sz="1900" dirty="0"/>
          </a:p>
        </p:txBody>
      </p:sp>
      <p:sp>
        <p:nvSpPr>
          <p:cNvPr id="14" name="Shape 12"/>
          <p:cNvSpPr/>
          <p:nvPr/>
        </p:nvSpPr>
        <p:spPr>
          <a:xfrm>
            <a:off x="6629400" y="3044952"/>
            <a:ext cx="118872" cy="118872"/>
          </a:xfrm>
          <a:prstGeom prst="ellipse">
            <a:avLst/>
          </a:prstGeom>
          <a:solidFill>
            <a:srgbClr val="C25E28"/>
          </a:solidFill>
          <a:ln w="12700">
            <a:solidFill>
              <a:srgbClr val="C25E28"/>
            </a:solidFill>
            <a:prstDash val="solid"/>
          </a:ln>
        </p:spPr>
      </p:sp>
      <p:sp>
        <p:nvSpPr>
          <p:cNvPr id="15" name="Text 13"/>
          <p:cNvSpPr/>
          <p:nvPr/>
        </p:nvSpPr>
        <p:spPr>
          <a:xfrm>
            <a:off x="6949440" y="292608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Oracle: two addresses, two ports, inbound UDP.</a:t>
            </a:r>
            <a:endParaRPr lang="en-US" sz="1350" dirty="0"/>
          </a:p>
        </p:txBody>
      </p:sp>
      <p:sp>
        <p:nvSpPr>
          <p:cNvPr id="16" name="Shape 14"/>
          <p:cNvSpPr/>
          <p:nvPr/>
        </p:nvSpPr>
        <p:spPr>
          <a:xfrm>
            <a:off x="6629400" y="3520440"/>
            <a:ext cx="118872" cy="118872"/>
          </a:xfrm>
          <a:prstGeom prst="ellipse">
            <a:avLst/>
          </a:prstGeom>
          <a:solidFill>
            <a:srgbClr val="C25E28"/>
          </a:solidFill>
          <a:ln w="12700">
            <a:solidFill>
              <a:srgbClr val="C25E28"/>
            </a:solidFill>
            <a:prstDash val="solid"/>
          </a:ln>
        </p:spPr>
      </p:sp>
      <p:sp>
        <p:nvSpPr>
          <p:cNvPr id="17" name="Text 15"/>
          <p:cNvSpPr/>
          <p:nvPr/>
        </p:nvSpPr>
        <p:spPr>
          <a:xfrm>
            <a:off x="6949440" y="340156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Witnesses: small hosts on separate subnets.</a:t>
            </a:r>
            <a:endParaRPr lang="en-US" sz="1350" dirty="0"/>
          </a:p>
        </p:txBody>
      </p:sp>
      <p:sp>
        <p:nvSpPr>
          <p:cNvPr id="18" name="Shape 16"/>
          <p:cNvSpPr/>
          <p:nvPr/>
        </p:nvSpPr>
        <p:spPr>
          <a:xfrm>
            <a:off x="6629400" y="3995928"/>
            <a:ext cx="118872" cy="118872"/>
          </a:xfrm>
          <a:prstGeom prst="ellipse">
            <a:avLst/>
          </a:prstGeom>
          <a:solidFill>
            <a:srgbClr val="C25E28"/>
          </a:solidFill>
          <a:ln w="12700">
            <a:solidFill>
              <a:srgbClr val="C25E28"/>
            </a:solidFill>
            <a:prstDash val="solid"/>
          </a:ln>
        </p:spPr>
      </p:sp>
      <p:sp>
        <p:nvSpPr>
          <p:cNvPr id="19" name="Text 17"/>
          <p:cNvSpPr/>
          <p:nvPr/>
        </p:nvSpPr>
        <p:spPr>
          <a:xfrm>
            <a:off x="6949440" y="38770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Bench: netfilter inside network namespaces.</a:t>
            </a:r>
            <a:endParaRPr lang="en-US" sz="1350" dirty="0"/>
          </a:p>
        </p:txBody>
      </p:sp>
      <p:sp>
        <p:nvSpPr>
          <p:cNvPr id="20" name="Text 18"/>
          <p:cNvSpPr/>
          <p:nvPr/>
        </p:nvSpPr>
        <p:spPr>
          <a:xfrm>
            <a:off x="685800" y="521208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A campus is a good place to stand outside a NAT and a poor subject to measure.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SEQUENCE</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One semester</a:t>
            </a:r>
            <a:endParaRPr lang="en-US" sz="3600" dirty="0"/>
          </a:p>
        </p:txBody>
      </p:sp>
      <p:sp>
        <p:nvSpPr>
          <p:cNvPr id="4" name="Shape 2"/>
          <p:cNvSpPr/>
          <p:nvPr/>
        </p:nvSpPr>
        <p:spPr>
          <a:xfrm>
            <a:off x="685800" y="2377440"/>
            <a:ext cx="2286000" cy="914400"/>
          </a:xfrm>
          <a:prstGeom prst="roundRect">
            <a:avLst>
              <a:gd name="adj" fmla="val 6000"/>
            </a:avLst>
          </a:prstGeom>
          <a:solidFill>
            <a:srgbClr val="0E7C86"/>
          </a:solidFill>
          <a:ln w="12700">
            <a:solidFill>
              <a:srgbClr val="0E7C86"/>
            </a:solidFill>
            <a:prstDash val="solid"/>
          </a:ln>
        </p:spPr>
      </p:sp>
      <p:sp>
        <p:nvSpPr>
          <p:cNvPr id="5" name="Text 3"/>
          <p:cNvSpPr/>
          <p:nvPr/>
        </p:nvSpPr>
        <p:spPr>
          <a:xfrm>
            <a:off x="685800" y="237744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1–3</a:t>
            </a:r>
            <a:endParaRPr lang="en-US" sz="1600" dirty="0"/>
          </a:p>
        </p:txBody>
      </p:sp>
      <p:sp>
        <p:nvSpPr>
          <p:cNvPr id="6" name="Text 4"/>
          <p:cNvSpPr/>
          <p:nvPr/>
        </p:nvSpPr>
        <p:spPr>
          <a:xfrm>
            <a:off x="3337560" y="2377440"/>
            <a:ext cx="5669280" cy="91440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Onboarding; a STUN client on the transport’s own socket.</a:t>
            </a:r>
            <a:endParaRPr lang="en-US" sz="1600" dirty="0"/>
          </a:p>
        </p:txBody>
      </p:sp>
      <p:sp>
        <p:nvSpPr>
          <p:cNvPr id="7" name="Text 5"/>
          <p:cNvSpPr/>
          <p:nvPr/>
        </p:nvSpPr>
        <p:spPr>
          <a:xfrm>
            <a:off x="9189720" y="2377440"/>
            <a:ext cx="2286000" cy="91440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go/no-go checkpoint</a:t>
            </a:r>
            <a:endParaRPr lang="en-US" sz="1300" dirty="0"/>
          </a:p>
        </p:txBody>
      </p:sp>
      <p:sp>
        <p:nvSpPr>
          <p:cNvPr id="8" name="Shape 6"/>
          <p:cNvSpPr/>
          <p:nvPr/>
        </p:nvSpPr>
        <p:spPr>
          <a:xfrm>
            <a:off x="685800" y="3566160"/>
            <a:ext cx="2286000" cy="914400"/>
          </a:xfrm>
          <a:prstGeom prst="roundRect">
            <a:avLst>
              <a:gd name="adj" fmla="val 6000"/>
            </a:avLst>
          </a:prstGeom>
          <a:solidFill>
            <a:srgbClr val="0E7C86"/>
          </a:solidFill>
          <a:ln w="12700">
            <a:solidFill>
              <a:srgbClr val="0E7C86"/>
            </a:solidFill>
            <a:prstDash val="solid"/>
          </a:ln>
        </p:spPr>
      </p:sp>
      <p:sp>
        <p:nvSpPr>
          <p:cNvPr id="9" name="Text 7"/>
          <p:cNvSpPr/>
          <p:nvPr/>
        </p:nvSpPr>
        <p:spPr>
          <a:xfrm>
            <a:off x="685800" y="356616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4–10</a:t>
            </a:r>
            <a:endParaRPr lang="en-US" sz="1600" dirty="0"/>
          </a:p>
        </p:txBody>
      </p:sp>
      <p:sp>
        <p:nvSpPr>
          <p:cNvPr id="10" name="Text 8"/>
          <p:cNvSpPr/>
          <p:nvPr/>
        </p:nvSpPr>
        <p:spPr>
          <a:xfrm>
            <a:off x="3337560" y="3566160"/>
            <a:ext cx="5669280" cy="91440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The oracle and labeled bench; then the protocol and its classifier.</a:t>
            </a:r>
            <a:endParaRPr lang="en-US" sz="1600" dirty="0"/>
          </a:p>
        </p:txBody>
      </p:sp>
      <p:sp>
        <p:nvSpPr>
          <p:cNvPr id="11" name="Text 9"/>
          <p:cNvSpPr/>
          <p:nvPr/>
        </p:nvSpPr>
        <p:spPr>
          <a:xfrm>
            <a:off x="9189720" y="3566160"/>
            <a:ext cx="2286000" cy="91440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labels known by construction</a:t>
            </a:r>
            <a:endParaRPr lang="en-US" sz="1300" dirty="0"/>
          </a:p>
        </p:txBody>
      </p:sp>
      <p:sp>
        <p:nvSpPr>
          <p:cNvPr id="12" name="Shape 10"/>
          <p:cNvSpPr/>
          <p:nvPr/>
        </p:nvSpPr>
        <p:spPr>
          <a:xfrm>
            <a:off x="685800" y="4754880"/>
            <a:ext cx="2286000" cy="914400"/>
          </a:xfrm>
          <a:prstGeom prst="roundRect">
            <a:avLst>
              <a:gd name="adj" fmla="val 6000"/>
            </a:avLst>
          </a:prstGeom>
          <a:solidFill>
            <a:srgbClr val="C25E28"/>
          </a:solidFill>
          <a:ln w="12700">
            <a:solidFill>
              <a:srgbClr val="C25E28"/>
            </a:solidFill>
            <a:prstDash val="solid"/>
          </a:ln>
        </p:spPr>
      </p:sp>
      <p:sp>
        <p:nvSpPr>
          <p:cNvPr id="13" name="Text 11"/>
          <p:cNvSpPr/>
          <p:nvPr/>
        </p:nvSpPr>
        <p:spPr>
          <a:xfrm>
            <a:off x="685800" y="475488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11–15</a:t>
            </a:r>
            <a:endParaRPr lang="en-US" sz="1600" dirty="0"/>
          </a:p>
        </p:txBody>
      </p:sp>
      <p:sp>
        <p:nvSpPr>
          <p:cNvPr id="14" name="Text 12"/>
          <p:cNvSpPr/>
          <p:nvPr/>
        </p:nvSpPr>
        <p:spPr>
          <a:xfrm>
            <a:off x="3337560" y="4754880"/>
            <a:ext cx="5669280" cy="91440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Measurement across the networks we can reach; write-up.</a:t>
            </a:r>
            <a:endParaRPr lang="en-US" sz="1600" dirty="0"/>
          </a:p>
        </p:txBody>
      </p:sp>
      <p:sp>
        <p:nvSpPr>
          <p:cNvPr id="15" name="Text 13"/>
          <p:cNvSpPr/>
          <p:nvPr/>
        </p:nvSpPr>
        <p:spPr>
          <a:xfrm>
            <a:off x="9189720" y="4754880"/>
            <a:ext cx="2286000" cy="91440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agreement, never accuracy</a:t>
            </a:r>
            <a:endParaRPr lang="en-US" sz="1300" dirty="0"/>
          </a:p>
        </p:txBody>
      </p:sp>
      <p:sp>
        <p:nvSpPr>
          <p:cNvPr id="16" name="Text 14"/>
          <p:cNvSpPr/>
          <p:nvPr/>
        </p:nvSpPr>
        <p:spPr>
          <a:xfrm>
            <a:off x="685800" y="5870448"/>
            <a:ext cx="10789920" cy="292608"/>
          </a:xfrm>
          <a:prstGeom prst="rect">
            <a:avLst/>
          </a:prstGeom>
          <a:noFill/>
          <a:ln/>
        </p:spPr>
        <p:txBody>
          <a:bodyPr wrap="square" lIns="0" tIns="0" rIns="0" bIns="0" rtlCol="0" anchor="ctr"/>
          <a:lstStyle/>
          <a:p>
            <a:pPr indent="0" marL="0">
              <a:buNone/>
            </a:pPr>
            <a:r>
              <a:rPr lang="en-US" sz="1400" i="1" dirty="0">
                <a:solidFill>
                  <a:srgbClr val="0A5A62"/>
                </a:solidFill>
                <a:latin typeface="Calibri" pitchFamily="34" charset="0"/>
                <a:ea typeface="Calibri" pitchFamily="34" charset="-122"/>
                <a:cs typeface="Calibri" pitchFamily="34" charset="-120"/>
              </a:rPr>
              <a:t>Address-dependent mapping is built deliberately; no netfilter flag produces it.</a:t>
            </a:r>
            <a:endParaRPr lang="en-US" sz="1400" dirty="0"/>
          </a:p>
        </p:txBody>
      </p:sp>
      <p:sp>
        <p:nvSpPr>
          <p:cNvPr id="17" name="Text 15"/>
          <p:cNvSpPr/>
          <p:nvPr/>
        </p:nvSpPr>
        <p:spPr>
          <a:xfrm>
            <a:off x="685800" y="6199632"/>
            <a:ext cx="10789920" cy="292608"/>
          </a:xfrm>
          <a:prstGeom prst="rect">
            <a:avLst/>
          </a:prstGeom>
          <a:noFill/>
          <a:ln/>
        </p:spPr>
        <p:txBody>
          <a:bodyPr wrap="square" lIns="0" tIns="0" rIns="0" bIns="0" rtlCol="0" anchor="ctr"/>
          <a:lstStyle/>
          <a:p>
            <a:pPr indent="0" marL="0">
              <a:buNone/>
            </a:pPr>
            <a:r>
              <a:rPr lang="en-US" sz="1400" i="1" dirty="0">
                <a:solidFill>
                  <a:srgbClr val="C25E28"/>
                </a:solidFill>
                <a:latin typeface="Calibri" pitchFamily="34" charset="0"/>
                <a:ea typeface="Calibri" pitchFamily="34" charset="-122"/>
                <a:cs typeface="Calibri" pitchFamily="34" charset="-120"/>
              </a:rPr>
              <a:t>Week one: addresses, firewall rules, SIMs and handsets. They gate week four.</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BEFORE THE WORK BEGINS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Open decisions</a:t>
            </a:r>
            <a:endParaRPr lang="en-US" sz="3600" dirty="0"/>
          </a:p>
        </p:txBody>
      </p:sp>
      <p:sp>
        <p:nvSpPr>
          <p:cNvPr id="4" name="Text 2"/>
          <p:cNvSpPr/>
          <p:nvPr/>
        </p:nvSpPr>
        <p:spPr>
          <a:xfrm>
            <a:off x="68580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Primary claim</a:t>
            </a:r>
            <a:endParaRPr lang="en-US" sz="1900" dirty="0"/>
          </a:p>
        </p:txBody>
      </p:sp>
      <p:sp>
        <p:nvSpPr>
          <p:cNvPr id="5" name="Text 3"/>
          <p:cNvSpPr/>
          <p:nvPr/>
        </p:nvSpPr>
        <p:spPr>
          <a:xfrm>
            <a:off x="68580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algorithm or the measurement, not both.</a:t>
            </a:r>
            <a:endParaRPr lang="en-US" sz="1500" dirty="0"/>
          </a:p>
        </p:txBody>
      </p:sp>
      <p:sp>
        <p:nvSpPr>
          <p:cNvPr id="6" name="Text 4"/>
          <p:cNvSpPr/>
          <p:nvPr/>
        </p:nvSpPr>
        <p:spPr>
          <a:xfrm>
            <a:off x="626364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UDX fork</a:t>
            </a:r>
            <a:endParaRPr lang="en-US" sz="1900" dirty="0"/>
          </a:p>
        </p:txBody>
      </p:sp>
      <p:sp>
        <p:nvSpPr>
          <p:cNvPr id="7" name="Text 5"/>
          <p:cNvSpPr/>
          <p:nvPr/>
        </p:nvSpPr>
        <p:spPr>
          <a:xfrm>
            <a:off x="626364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guard cannot see UDX’s own sends. Patch the fork, or report the residual.</a:t>
            </a:r>
            <a:endParaRPr lang="en-US" sz="1500" dirty="0"/>
          </a:p>
        </p:txBody>
      </p:sp>
      <p:sp>
        <p:nvSpPr>
          <p:cNvPr id="8" name="Text 6"/>
          <p:cNvSpPr/>
          <p:nvPr/>
        </p:nvSpPr>
        <p:spPr>
          <a:xfrm>
            <a:off x="68580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Inbound UDP</a:t>
            </a:r>
            <a:endParaRPr lang="en-US" sz="1900" dirty="0"/>
          </a:p>
        </p:txBody>
      </p:sp>
      <p:sp>
        <p:nvSpPr>
          <p:cNvPr id="9" name="Text 7"/>
          <p:cNvSpPr/>
          <p:nvPr/>
        </p:nvSpPr>
        <p:spPr>
          <a:xfrm>
            <a:off x="68580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May the host receive unsolicited datagrams on two addresses, two ports?</a:t>
            </a:r>
            <a:endParaRPr lang="en-US" sz="1500" dirty="0"/>
          </a:p>
        </p:txBody>
      </p:sp>
      <p:sp>
        <p:nvSpPr>
          <p:cNvPr id="10" name="Text 8"/>
          <p:cNvSpPr/>
          <p:nvPr/>
        </p:nvSpPr>
        <p:spPr>
          <a:xfrm>
            <a:off x="626364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Testbed budget</a:t>
            </a:r>
            <a:endParaRPr lang="en-US" sz="1900" dirty="0"/>
          </a:p>
        </p:txBody>
      </p:sp>
      <p:sp>
        <p:nvSpPr>
          <p:cNvPr id="11" name="Text 9"/>
          <p:cNvSpPr/>
          <p:nvPr/>
        </p:nvSpPr>
        <p:spPr>
          <a:xfrm>
            <a:off x="626364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Each SIM covers one carrier, APN and plan.</a:t>
            </a:r>
            <a:endParaRPr lang="en-US" sz="1500" dirty="0"/>
          </a:p>
        </p:txBody>
      </p:sp>
      <p:sp>
        <p:nvSpPr>
          <p:cNvPr id="12" name="Text 10"/>
          <p:cNvSpPr/>
          <p:nvPr/>
        </p:nvSpPr>
        <p:spPr>
          <a:xfrm>
            <a:off x="685800" y="5577840"/>
            <a:ext cx="10789920" cy="365760"/>
          </a:xfrm>
          <a:prstGeom prst="rect">
            <a:avLst/>
          </a:prstGeom>
          <a:noFill/>
          <a:ln/>
        </p:spPr>
        <p:txBody>
          <a:bodyPr wrap="square" lIns="0" tIns="0" rIns="0" bIns="0" rtlCol="0" anchor="ctr"/>
          <a:lstStyle/>
          <a:p>
            <a:pPr indent="0" marL="0">
              <a:buNone/>
            </a:pPr>
            <a:r>
              <a:rPr lang="en-US" sz="1400" i="1" dirty="0">
                <a:solidFill>
                  <a:srgbClr val="6E7F8B"/>
                </a:solidFill>
                <a:latin typeface="Calibri" pitchFamily="34" charset="0"/>
                <a:ea typeface="Calibri" pitchFamily="34" charset="-122"/>
                <a:cs typeface="Calibri" pitchFamily="34" charset="-120"/>
              </a:rPr>
              <a:t>The written brief carries the detail: measurand, threat model, milestones, exit criteria.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 detection and hole punching</dc:title>
  <dc:subject>PptxGenJS Presentation</dc:subject>
  <dc:creator>Dan Bachar</dc:creator>
  <cp:lastModifiedBy>Dan Bachar</cp:lastModifiedBy>
  <cp:revision>1</cp:revision>
  <dcterms:created xsi:type="dcterms:W3CDTF">2026-08-13T19:07:35Z</dcterms:created>
  <dcterms:modified xsi:type="dcterms:W3CDTF">2026-08-13T19:07:35Z</dcterms:modified>
</cp:coreProperties>
</file>